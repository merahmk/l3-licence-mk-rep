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9"/>
  </p:notesMasterIdLst>
  <p:sldIdLst>
    <p:sldId id="395" r:id="rId2"/>
    <p:sldId id="396" r:id="rId3"/>
    <p:sldId id="450" r:id="rId4"/>
    <p:sldId id="451" r:id="rId5"/>
    <p:sldId id="452" r:id="rId6"/>
    <p:sldId id="453" r:id="rId7"/>
    <p:sldId id="455" r:id="rId8"/>
    <p:sldId id="457" r:id="rId9"/>
    <p:sldId id="459" r:id="rId10"/>
    <p:sldId id="405" r:id="rId11"/>
    <p:sldId id="406" r:id="rId12"/>
    <p:sldId id="461" r:id="rId13"/>
    <p:sldId id="464" r:id="rId14"/>
    <p:sldId id="465" r:id="rId15"/>
    <p:sldId id="467" r:id="rId16"/>
    <p:sldId id="466" r:id="rId17"/>
    <p:sldId id="410" r:id="rId18"/>
    <p:sldId id="468" r:id="rId19"/>
    <p:sldId id="469" r:id="rId20"/>
    <p:sldId id="472" r:id="rId21"/>
    <p:sldId id="471" r:id="rId22"/>
    <p:sldId id="484" r:id="rId23"/>
    <p:sldId id="473" r:id="rId24"/>
    <p:sldId id="411" r:id="rId25"/>
    <p:sldId id="412" r:id="rId26"/>
    <p:sldId id="477" r:id="rId27"/>
    <p:sldId id="478" r:id="rId28"/>
    <p:sldId id="479" r:id="rId29"/>
    <p:sldId id="481" r:id="rId30"/>
    <p:sldId id="480" r:id="rId31"/>
    <p:sldId id="482" r:id="rId32"/>
    <p:sldId id="483" r:id="rId33"/>
    <p:sldId id="485" r:id="rId34"/>
    <p:sldId id="486" r:id="rId35"/>
    <p:sldId id="487" r:id="rId36"/>
    <p:sldId id="488" r:id="rId37"/>
    <p:sldId id="489" r:id="rId38"/>
    <p:sldId id="491" r:id="rId39"/>
    <p:sldId id="493" r:id="rId40"/>
    <p:sldId id="496" r:id="rId41"/>
    <p:sldId id="497" r:id="rId42"/>
    <p:sldId id="498" r:id="rId43"/>
    <p:sldId id="499" r:id="rId44"/>
    <p:sldId id="501" r:id="rId45"/>
    <p:sldId id="502" r:id="rId46"/>
    <p:sldId id="503" r:id="rId47"/>
    <p:sldId id="504" r:id="rId48"/>
  </p:sldIdLst>
  <p:sldSz cx="9144000" cy="6858000" type="screen4x3"/>
  <p:notesSz cx="6858000" cy="9144000"/>
  <p:defaultTextStyle>
    <a:defPPr>
      <a:defRPr lang="en-US"/>
    </a:defPPr>
    <a:lvl1pPr algn="just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just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just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just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just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339933"/>
    <a:srgbClr val="FF0000"/>
    <a:srgbClr val="3366FF"/>
    <a:srgbClr val="66FF66"/>
    <a:srgbClr val="00FF99"/>
    <a:srgbClr val="33CC33"/>
    <a:srgbClr val="00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85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-124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28" d="100"/>
          <a:sy n="28" d="100"/>
        </p:scale>
        <p:origin x="-1266" y="-78"/>
      </p:cViewPr>
      <p:guideLst>
        <p:guide orient="horz" pos="2880"/>
        <p:guide pos="216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0FB183C6-FB79-43ED-9D8C-50675ED0EBF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7609CE-F83F-45C1-841C-B86E8C71DE99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80048AF-19E6-415D-8D09-6F1F20EC3DB1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5041F90-20FD-4C6E-9F6C-4336A69EFA99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BA1FF33-4A88-4511-A6D9-485BB0DD19C1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401BA05-4541-46C4-97CA-1C58F0A2DBA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61B746F-27C8-4FAB-A92C-253D756016F8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F556075-2E77-4768-9D2A-C426DA135D4C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DBC5B2D-C860-4AF9-ABE0-3EF7DFFC8323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513546F-59D7-4CDA-AC57-278A5B3EA00B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08F9721-4642-4001-9945-A4EFEEC4DD6E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42E979A-C05B-4632-93FD-E9A9D99D145C}" type="slidenum">
              <a:rPr lang="fr-FR" altLang="fr-FR"/>
              <a:pPr/>
              <a:t>18</a:t>
            </a:fld>
            <a:endParaRPr lang="fr-FR" altLang="fr-FR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872538" cy="6858000"/>
            <a:chOff x="0" y="0"/>
            <a:chExt cx="5589" cy="4320"/>
          </a:xfrm>
        </p:grpSpPr>
        <p:sp>
          <p:nvSpPr>
            <p:cNvPr id="5" name="Rectangle 3" descr="Stationery"/>
            <p:cNvSpPr>
              <a:spLocks noChangeArrowheads="1"/>
            </p:cNvSpPr>
            <p:nvPr/>
          </p:nvSpPr>
          <p:spPr bwMode="white">
            <a:xfrm>
              <a:off x="336" y="150"/>
              <a:ext cx="5253" cy="4026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6" name="Picture 4" descr="minispi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ltGray">
            <a:xfrm>
              <a:off x="0" y="0"/>
              <a:ext cx="670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62025" y="1925638"/>
            <a:ext cx="7772400" cy="11430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fr-FR" altLang="fr-FR" noProof="0" smtClean="0"/>
              <a:t>Cliquez pour modifier le style du titre du masque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647825" y="3738563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 altLang="fr-FR" noProof="0" smtClean="0"/>
              <a:t>Cliquez pour modifier le style des sous-titres du masque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962025" y="6100763"/>
            <a:ext cx="1905000" cy="4572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mtClean="0">
                <a:solidFill>
                  <a:srgbClr val="A08366"/>
                </a:solidFill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3400425" y="6100763"/>
            <a:ext cx="2895600" cy="4572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mtClean="0">
                <a:solidFill>
                  <a:srgbClr val="A08366"/>
                </a:solidFill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29425" y="6100763"/>
            <a:ext cx="1905000" cy="4572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mtClean="0">
                <a:solidFill>
                  <a:srgbClr val="A08366"/>
                </a:solidFill>
              </a:defRPr>
            </a:lvl1pPr>
          </a:lstStyle>
          <a:p>
            <a:pPr>
              <a:defRPr/>
            </a:pPr>
            <a:fld id="{748C74CC-70C5-433F-8ADD-D48CCC40247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A8ED1-9776-408E-A57C-CE8B8E678F4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3503C-ADE5-4BE9-A190-85F07531A93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289F8-C552-492A-8BFB-22EE18947A2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5A650-28D8-41D9-B7D4-29590615BEA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1701B-4C73-4CF2-A14D-99123B8D01B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9657B-B53E-41B4-BECA-92409B86C7B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613B5-4142-4CBE-BA2D-6B60D49B6D3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2BB30-2B4F-4285-A370-A25D0F4ECF3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F7EF2-1ABB-43D0-B63E-D7D6EBAC39D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19900" y="457200"/>
            <a:ext cx="1943100" cy="54864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90600" y="4572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12218-41D5-4576-B2B2-89AEA1EE341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8C7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872538" cy="6858000"/>
            <a:chOff x="0" y="0"/>
            <a:chExt cx="5589" cy="4320"/>
          </a:xfrm>
        </p:grpSpPr>
        <p:sp>
          <p:nvSpPr>
            <p:cNvPr id="1032" name="Rectangle 3"/>
            <p:cNvSpPr>
              <a:spLocks noChangeArrowheads="1"/>
            </p:cNvSpPr>
            <p:nvPr/>
          </p:nvSpPr>
          <p:spPr bwMode="ltGray">
            <a:xfrm>
              <a:off x="336" y="150"/>
              <a:ext cx="5253" cy="40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1033" name="Picture 4" descr="minispir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ltGray">
            <a:xfrm>
              <a:off x="0" y="0"/>
              <a:ext cx="670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4" name="Line 5"/>
            <p:cNvSpPr>
              <a:spLocks noChangeShapeType="1"/>
            </p:cNvSpPr>
            <p:nvPr/>
          </p:nvSpPr>
          <p:spPr bwMode="ltGray">
            <a:xfrm>
              <a:off x="640" y="1008"/>
              <a:ext cx="488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 du masque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8288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096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096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A1A2467E-17D9-476F-9A28-048510B94E0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Monotype Sorts" pitchFamily="2" charset="2"/>
        <a:buChar char="4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5"/>
          <p:cNvSpPr>
            <a:spLocks noChangeArrowheads="1"/>
          </p:cNvSpPr>
          <p:nvPr/>
        </p:nvSpPr>
        <p:spPr bwMode="auto">
          <a:xfrm>
            <a:off x="1116013" y="3863975"/>
            <a:ext cx="7581900" cy="2074863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075" name="Rectangle 13"/>
          <p:cNvSpPr>
            <a:spLocks noChangeArrowheads="1"/>
          </p:cNvSpPr>
          <p:nvPr/>
        </p:nvSpPr>
        <p:spPr bwMode="auto">
          <a:xfrm>
            <a:off x="1116013" y="1882775"/>
            <a:ext cx="7581900" cy="125412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076" name="Text Box 3"/>
          <p:cNvSpPr txBox="1">
            <a:spLocks noChangeArrowheads="1"/>
          </p:cNvSpPr>
          <p:nvPr/>
        </p:nvSpPr>
        <p:spPr bwMode="auto">
          <a:xfrm>
            <a:off x="1206500" y="1916113"/>
            <a:ext cx="740251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Le dopage permet d’améliorer la </a:t>
            </a:r>
            <a:r>
              <a:rPr lang="fr-FR" altLang="fr-FR" sz="2400">
                <a:solidFill>
                  <a:srgbClr val="FF3300"/>
                </a:solidFill>
              </a:rPr>
              <a:t>conductivité</a:t>
            </a:r>
            <a:r>
              <a:rPr lang="fr-FR" altLang="fr-FR" sz="2000"/>
              <a:t> du matériau en lui apportant </a:t>
            </a:r>
            <a:r>
              <a:rPr lang="fr-FR" altLang="fr-FR" sz="2400">
                <a:solidFill>
                  <a:srgbClr val="FF3300"/>
                </a:solidFill>
              </a:rPr>
              <a:t>artificiellement</a:t>
            </a:r>
            <a:r>
              <a:rPr lang="fr-FR" altLang="fr-FR" sz="2000"/>
              <a:t> et de </a:t>
            </a:r>
            <a:r>
              <a:rPr lang="fr-FR" altLang="fr-FR" sz="2400">
                <a:solidFill>
                  <a:srgbClr val="FF3300"/>
                </a:solidFill>
              </a:rPr>
              <a:t>façon contrôlée</a:t>
            </a:r>
            <a:r>
              <a:rPr lang="fr-FR" altLang="fr-FR" sz="2000"/>
              <a:t> des </a:t>
            </a:r>
            <a:r>
              <a:rPr lang="fr-FR" altLang="fr-FR" sz="2400">
                <a:solidFill>
                  <a:srgbClr val="FF3300"/>
                </a:solidFill>
              </a:rPr>
              <a:t>charges libres</a:t>
            </a:r>
            <a:r>
              <a:rPr lang="fr-FR" altLang="fr-FR" sz="2000"/>
              <a:t>.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1206500" y="3884613"/>
            <a:ext cx="6075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Un semiconducteur non dopé est dit </a:t>
            </a:r>
            <a:r>
              <a:rPr lang="fr-FR" altLang="fr-FR" sz="2400">
                <a:solidFill>
                  <a:srgbClr val="FF3300"/>
                </a:solidFill>
              </a:rPr>
              <a:t>intrinsèque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1206500" y="4357688"/>
            <a:ext cx="5699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Un semiconducteur dopé est dit </a:t>
            </a:r>
            <a:r>
              <a:rPr lang="fr-FR" altLang="fr-FR" sz="2400">
                <a:solidFill>
                  <a:srgbClr val="FF3300"/>
                </a:solidFill>
              </a:rPr>
              <a:t>extrinsèque</a:t>
            </a: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 flipV="1">
            <a:off x="1873250" y="5083175"/>
            <a:ext cx="482600" cy="234950"/>
          </a:xfrm>
          <a:prstGeom prst="line">
            <a:avLst/>
          </a:prstGeom>
          <a:noFill/>
          <a:ln w="28575">
            <a:solidFill>
              <a:srgbClr val="80808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1874838" y="5346700"/>
            <a:ext cx="482600" cy="234950"/>
          </a:xfrm>
          <a:prstGeom prst="line">
            <a:avLst/>
          </a:prstGeom>
          <a:noFill/>
          <a:ln w="28575">
            <a:solidFill>
              <a:srgbClr val="80808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2392363" y="4859338"/>
            <a:ext cx="3003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Semiconducteur dopé N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2409825" y="5383213"/>
            <a:ext cx="2932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Semiconducteur dopé P</a:t>
            </a:r>
          </a:p>
        </p:txBody>
      </p:sp>
      <p:sp>
        <p:nvSpPr>
          <p:cNvPr id="3083" name="Text Box 12"/>
          <p:cNvSpPr txBox="1">
            <a:spLocks noChangeArrowheads="1"/>
          </p:cNvSpPr>
          <p:nvPr/>
        </p:nvSpPr>
        <p:spPr bwMode="auto">
          <a:xfrm>
            <a:off x="1406525" y="717550"/>
            <a:ext cx="38846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Notion de dopage</a:t>
            </a:r>
            <a:endParaRPr lang="fr-FR" alt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9"/>
          <p:cNvSpPr>
            <a:spLocks noChangeArrowheads="1"/>
          </p:cNvSpPr>
          <p:nvPr/>
        </p:nvSpPr>
        <p:spPr bwMode="auto">
          <a:xfrm>
            <a:off x="1116013" y="1916113"/>
            <a:ext cx="7581900" cy="855662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193800" y="1933575"/>
            <a:ext cx="74295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Que se passe t-il si l’on met en contact du </a:t>
            </a:r>
            <a:r>
              <a:rPr lang="fr-FR" altLang="fr-FR" sz="2400">
                <a:solidFill>
                  <a:srgbClr val="FF3300"/>
                </a:solidFill>
              </a:rPr>
              <a:t>Silicium dopé N</a:t>
            </a:r>
            <a:r>
              <a:rPr lang="fr-FR" altLang="fr-FR" sz="2000"/>
              <a:t> et du </a:t>
            </a:r>
            <a:r>
              <a:rPr lang="fr-FR" altLang="fr-FR" sz="2400">
                <a:solidFill>
                  <a:srgbClr val="FF3300"/>
                </a:solidFill>
              </a:rPr>
              <a:t>Silicium dopé P </a:t>
            </a:r>
            <a:r>
              <a:rPr lang="fr-FR" altLang="fr-FR" sz="2000"/>
              <a:t>?</a:t>
            </a:r>
          </a:p>
        </p:txBody>
      </p:sp>
      <p:grpSp>
        <p:nvGrpSpPr>
          <p:cNvPr id="275667" name="Group 211"/>
          <p:cNvGrpSpPr>
            <a:grpSpLocks/>
          </p:cNvGrpSpPr>
          <p:nvPr/>
        </p:nvGrpSpPr>
        <p:grpSpPr bwMode="auto">
          <a:xfrm>
            <a:off x="2541588" y="5797550"/>
            <a:ext cx="3924300" cy="560388"/>
            <a:chOff x="1601" y="3622"/>
            <a:chExt cx="2472" cy="353"/>
          </a:xfrm>
        </p:grpSpPr>
        <p:sp>
          <p:nvSpPr>
            <p:cNvPr id="4163" name="Rectangle 210"/>
            <p:cNvSpPr>
              <a:spLocks noChangeArrowheads="1"/>
            </p:cNvSpPr>
            <p:nvPr/>
          </p:nvSpPr>
          <p:spPr bwMode="auto">
            <a:xfrm>
              <a:off x="1601" y="3622"/>
              <a:ext cx="2472" cy="353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164" name="Text Box 204"/>
            <p:cNvSpPr txBox="1">
              <a:spLocks noChangeArrowheads="1"/>
            </p:cNvSpPr>
            <p:nvPr/>
          </p:nvSpPr>
          <p:spPr bwMode="auto">
            <a:xfrm>
              <a:off x="1660" y="3655"/>
              <a:ext cx="2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000"/>
                <a:t>Création d’une </a:t>
              </a:r>
              <a:r>
                <a:rPr lang="fr-FR" altLang="fr-FR" sz="2400">
                  <a:solidFill>
                    <a:srgbClr val="FF3300"/>
                  </a:solidFill>
                </a:rPr>
                <a:t>jonction PN</a:t>
              </a:r>
            </a:p>
          </p:txBody>
        </p:sp>
      </p:grpSp>
      <p:sp>
        <p:nvSpPr>
          <p:cNvPr id="4101" name="Text Box 207"/>
          <p:cNvSpPr txBox="1">
            <a:spLocks noChangeArrowheads="1"/>
          </p:cNvSpPr>
          <p:nvPr/>
        </p:nvSpPr>
        <p:spPr bwMode="auto">
          <a:xfrm>
            <a:off x="1406525" y="717550"/>
            <a:ext cx="32686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</a:t>
            </a:r>
            <a:endParaRPr lang="fr-FR" altLang="fr-FR"/>
          </a:p>
        </p:txBody>
      </p:sp>
      <p:grpSp>
        <p:nvGrpSpPr>
          <p:cNvPr id="275777" name="Group 321"/>
          <p:cNvGrpSpPr>
            <a:grpSpLocks/>
          </p:cNvGrpSpPr>
          <p:nvPr/>
        </p:nvGrpSpPr>
        <p:grpSpPr bwMode="auto">
          <a:xfrm>
            <a:off x="1166813" y="3614738"/>
            <a:ext cx="2005012" cy="1824037"/>
            <a:chOff x="735" y="2277"/>
            <a:chExt cx="1263" cy="1149"/>
          </a:xfrm>
        </p:grpSpPr>
        <p:sp>
          <p:nvSpPr>
            <p:cNvPr id="4134" name="Rectangle 105"/>
            <p:cNvSpPr>
              <a:spLocks noChangeArrowheads="1"/>
            </p:cNvSpPr>
            <p:nvPr/>
          </p:nvSpPr>
          <p:spPr bwMode="auto">
            <a:xfrm>
              <a:off x="735" y="2709"/>
              <a:ext cx="1263" cy="717"/>
            </a:xfrm>
            <a:prstGeom prst="rect">
              <a:avLst/>
            </a:prstGeom>
            <a:solidFill>
              <a:srgbClr val="66FF66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66FF66"/>
              </a:extrusionClr>
            </a:sp3d>
          </p:spPr>
          <p:txBody>
            <a:bodyPr wrap="none" anchor="ctr">
              <a:flatTx/>
            </a:bodyPr>
            <a:lstStyle/>
            <a:p>
              <a:pPr algn="ctr">
                <a:spcBef>
                  <a:spcPct val="0"/>
                </a:spcBef>
              </a:pPr>
              <a:endParaRPr lang="fr-FR" altLang="fr-FR" sz="2400">
                <a:latin typeface="Tahoma" pitchFamily="34" charset="0"/>
              </a:endParaRPr>
            </a:p>
          </p:txBody>
        </p:sp>
        <p:sp>
          <p:nvSpPr>
            <p:cNvPr id="4135" name="Text Box 137"/>
            <p:cNvSpPr txBox="1">
              <a:spLocks noChangeArrowheads="1"/>
            </p:cNvSpPr>
            <p:nvPr/>
          </p:nvSpPr>
          <p:spPr bwMode="auto">
            <a:xfrm>
              <a:off x="1067" y="2277"/>
              <a:ext cx="8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>
                  <a:solidFill>
                    <a:srgbClr val="FFFFFF"/>
                  </a:solidFill>
                </a:rPr>
                <a:t>Matériau N</a:t>
              </a:r>
            </a:p>
          </p:txBody>
        </p:sp>
        <p:grpSp>
          <p:nvGrpSpPr>
            <p:cNvPr id="4136" name="Group 262"/>
            <p:cNvGrpSpPr>
              <a:grpSpLocks/>
            </p:cNvGrpSpPr>
            <p:nvPr/>
          </p:nvGrpSpPr>
          <p:grpSpPr bwMode="auto">
            <a:xfrm>
              <a:off x="1650" y="2761"/>
              <a:ext cx="294" cy="632"/>
              <a:chOff x="1650" y="2758"/>
              <a:chExt cx="294" cy="632"/>
            </a:xfrm>
          </p:grpSpPr>
          <p:grpSp>
            <p:nvGrpSpPr>
              <p:cNvPr id="4155" name="Group 250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4161" name="Picture 251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62" name="Text Box 252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156" name="Group 253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4159" name="Picture 254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60" name="Text Box 255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4157" name="Oval 259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58" name="Oval 260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137" name="Group 263"/>
            <p:cNvGrpSpPr>
              <a:grpSpLocks/>
            </p:cNvGrpSpPr>
            <p:nvPr/>
          </p:nvGrpSpPr>
          <p:grpSpPr bwMode="auto">
            <a:xfrm>
              <a:off x="1258" y="2761"/>
              <a:ext cx="294" cy="632"/>
              <a:chOff x="1650" y="2758"/>
              <a:chExt cx="294" cy="632"/>
            </a:xfrm>
          </p:grpSpPr>
          <p:grpSp>
            <p:nvGrpSpPr>
              <p:cNvPr id="4147" name="Group 264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4153" name="Picture 265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54" name="Text Box 266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148" name="Group 267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4151" name="Picture 268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52" name="Text Box 269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4149" name="Oval 270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50" name="Oval 271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138" name="Group 272"/>
            <p:cNvGrpSpPr>
              <a:grpSpLocks/>
            </p:cNvGrpSpPr>
            <p:nvPr/>
          </p:nvGrpSpPr>
          <p:grpSpPr bwMode="auto">
            <a:xfrm>
              <a:off x="866" y="2761"/>
              <a:ext cx="294" cy="632"/>
              <a:chOff x="1650" y="2758"/>
              <a:chExt cx="294" cy="632"/>
            </a:xfrm>
          </p:grpSpPr>
          <p:grpSp>
            <p:nvGrpSpPr>
              <p:cNvPr id="4139" name="Group 273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4145" name="Picture 274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46" name="Text Box 275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4140" name="Group 276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4143" name="Picture 277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44" name="Text Box 278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4141" name="Oval 279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42" name="Oval 280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75778" name="Group 322"/>
          <p:cNvGrpSpPr>
            <a:grpSpLocks/>
          </p:cNvGrpSpPr>
          <p:nvPr/>
        </p:nvGrpSpPr>
        <p:grpSpPr bwMode="auto">
          <a:xfrm>
            <a:off x="5935663" y="3614738"/>
            <a:ext cx="2511425" cy="1816100"/>
            <a:chOff x="3739" y="2277"/>
            <a:chExt cx="1582" cy="1144"/>
          </a:xfrm>
        </p:grpSpPr>
        <p:sp>
          <p:nvSpPr>
            <p:cNvPr id="4105" name="Rectangle 140"/>
            <p:cNvSpPr>
              <a:spLocks noChangeArrowheads="1"/>
            </p:cNvSpPr>
            <p:nvPr/>
          </p:nvSpPr>
          <p:spPr bwMode="auto">
            <a:xfrm>
              <a:off x="3739" y="2704"/>
              <a:ext cx="1263" cy="717"/>
            </a:xfrm>
            <a:prstGeom prst="rect">
              <a:avLst/>
            </a:prstGeom>
            <a:solidFill>
              <a:srgbClr val="FF505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5050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106" name="Text Box 141"/>
            <p:cNvSpPr txBox="1">
              <a:spLocks noChangeArrowheads="1"/>
            </p:cNvSpPr>
            <p:nvPr/>
          </p:nvSpPr>
          <p:spPr bwMode="auto">
            <a:xfrm>
              <a:off x="4481" y="2277"/>
              <a:ext cx="8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>
                  <a:solidFill>
                    <a:srgbClr val="FFFFFF"/>
                  </a:solidFill>
                </a:rPr>
                <a:t>Matériau P</a:t>
              </a:r>
            </a:p>
          </p:txBody>
        </p:sp>
        <p:grpSp>
          <p:nvGrpSpPr>
            <p:cNvPr id="4107" name="Group 302"/>
            <p:cNvGrpSpPr>
              <a:grpSpLocks/>
            </p:cNvGrpSpPr>
            <p:nvPr/>
          </p:nvGrpSpPr>
          <p:grpSpPr bwMode="auto">
            <a:xfrm>
              <a:off x="3820" y="2758"/>
              <a:ext cx="311" cy="635"/>
              <a:chOff x="3820" y="2756"/>
              <a:chExt cx="311" cy="635"/>
            </a:xfrm>
          </p:grpSpPr>
          <p:grpSp>
            <p:nvGrpSpPr>
              <p:cNvPr id="4126" name="Group 294"/>
              <p:cNvGrpSpPr>
                <a:grpSpLocks/>
              </p:cNvGrpSpPr>
              <p:nvPr/>
            </p:nvGrpSpPr>
            <p:grpSpPr bwMode="auto">
              <a:xfrm>
                <a:off x="3872" y="2756"/>
                <a:ext cx="259" cy="288"/>
                <a:chOff x="2675" y="1769"/>
                <a:chExt cx="259" cy="288"/>
              </a:xfrm>
            </p:grpSpPr>
            <p:pic>
              <p:nvPicPr>
                <p:cNvPr id="4132" name="Picture 295" descr="bouleb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2675" y="1804"/>
                  <a:ext cx="259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33" name="Text Box 296"/>
                <p:cNvSpPr txBox="1">
                  <a:spLocks noChangeArrowheads="1"/>
                </p:cNvSpPr>
                <p:nvPr/>
              </p:nvSpPr>
              <p:spPr bwMode="auto">
                <a:xfrm>
                  <a:off x="2726" y="1769"/>
                  <a:ext cx="1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4127" name="Group 297"/>
              <p:cNvGrpSpPr>
                <a:grpSpLocks/>
              </p:cNvGrpSpPr>
              <p:nvPr/>
            </p:nvGrpSpPr>
            <p:grpSpPr bwMode="auto">
              <a:xfrm>
                <a:off x="3871" y="3103"/>
                <a:ext cx="259" cy="288"/>
                <a:chOff x="2675" y="1769"/>
                <a:chExt cx="259" cy="288"/>
              </a:xfrm>
            </p:grpSpPr>
            <p:pic>
              <p:nvPicPr>
                <p:cNvPr id="4130" name="Picture 298" descr="bouleb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2675" y="1804"/>
                  <a:ext cx="259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31" name="Text Box 299"/>
                <p:cNvSpPr txBox="1">
                  <a:spLocks noChangeArrowheads="1"/>
                </p:cNvSpPr>
                <p:nvPr/>
              </p:nvSpPr>
              <p:spPr bwMode="auto">
                <a:xfrm>
                  <a:off x="2726" y="1769"/>
                  <a:ext cx="1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-</a:t>
                  </a:r>
                </a:p>
              </p:txBody>
            </p:sp>
          </p:grpSp>
          <p:sp>
            <p:nvSpPr>
              <p:cNvPr id="4128" name="Oval 300"/>
              <p:cNvSpPr>
                <a:spLocks noChangeArrowheads="1"/>
              </p:cNvSpPr>
              <p:nvPr/>
            </p:nvSpPr>
            <p:spPr bwMode="auto">
              <a:xfrm>
                <a:off x="3820" y="3129"/>
                <a:ext cx="71" cy="7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29" name="Oval 301"/>
              <p:cNvSpPr>
                <a:spLocks noChangeArrowheads="1"/>
              </p:cNvSpPr>
              <p:nvPr/>
            </p:nvSpPr>
            <p:spPr bwMode="auto">
              <a:xfrm>
                <a:off x="3836" y="2770"/>
                <a:ext cx="71" cy="7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108" name="Group 303"/>
            <p:cNvGrpSpPr>
              <a:grpSpLocks/>
            </p:cNvGrpSpPr>
            <p:nvPr/>
          </p:nvGrpSpPr>
          <p:grpSpPr bwMode="auto">
            <a:xfrm>
              <a:off x="4221" y="2758"/>
              <a:ext cx="311" cy="635"/>
              <a:chOff x="3820" y="2756"/>
              <a:chExt cx="311" cy="635"/>
            </a:xfrm>
          </p:grpSpPr>
          <p:grpSp>
            <p:nvGrpSpPr>
              <p:cNvPr id="4118" name="Group 304"/>
              <p:cNvGrpSpPr>
                <a:grpSpLocks/>
              </p:cNvGrpSpPr>
              <p:nvPr/>
            </p:nvGrpSpPr>
            <p:grpSpPr bwMode="auto">
              <a:xfrm>
                <a:off x="3872" y="2756"/>
                <a:ext cx="259" cy="288"/>
                <a:chOff x="2675" y="1769"/>
                <a:chExt cx="259" cy="288"/>
              </a:xfrm>
            </p:grpSpPr>
            <p:pic>
              <p:nvPicPr>
                <p:cNvPr id="4124" name="Picture 305" descr="bouleb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2675" y="1804"/>
                  <a:ext cx="259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25" name="Text Box 306"/>
                <p:cNvSpPr txBox="1">
                  <a:spLocks noChangeArrowheads="1"/>
                </p:cNvSpPr>
                <p:nvPr/>
              </p:nvSpPr>
              <p:spPr bwMode="auto">
                <a:xfrm>
                  <a:off x="2726" y="1769"/>
                  <a:ext cx="1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4119" name="Group 307"/>
              <p:cNvGrpSpPr>
                <a:grpSpLocks/>
              </p:cNvGrpSpPr>
              <p:nvPr/>
            </p:nvGrpSpPr>
            <p:grpSpPr bwMode="auto">
              <a:xfrm>
                <a:off x="3871" y="3103"/>
                <a:ext cx="259" cy="288"/>
                <a:chOff x="2675" y="1769"/>
                <a:chExt cx="259" cy="288"/>
              </a:xfrm>
            </p:grpSpPr>
            <p:pic>
              <p:nvPicPr>
                <p:cNvPr id="4122" name="Picture 308" descr="bouleb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2675" y="1804"/>
                  <a:ext cx="259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23" name="Text Box 309"/>
                <p:cNvSpPr txBox="1">
                  <a:spLocks noChangeArrowheads="1"/>
                </p:cNvSpPr>
                <p:nvPr/>
              </p:nvSpPr>
              <p:spPr bwMode="auto">
                <a:xfrm>
                  <a:off x="2726" y="1769"/>
                  <a:ext cx="1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-</a:t>
                  </a:r>
                </a:p>
              </p:txBody>
            </p:sp>
          </p:grpSp>
          <p:sp>
            <p:nvSpPr>
              <p:cNvPr id="4120" name="Oval 310"/>
              <p:cNvSpPr>
                <a:spLocks noChangeArrowheads="1"/>
              </p:cNvSpPr>
              <p:nvPr/>
            </p:nvSpPr>
            <p:spPr bwMode="auto">
              <a:xfrm>
                <a:off x="3820" y="3129"/>
                <a:ext cx="71" cy="7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21" name="Oval 311"/>
              <p:cNvSpPr>
                <a:spLocks noChangeArrowheads="1"/>
              </p:cNvSpPr>
              <p:nvPr/>
            </p:nvSpPr>
            <p:spPr bwMode="auto">
              <a:xfrm>
                <a:off x="3836" y="2770"/>
                <a:ext cx="71" cy="7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109" name="Group 312"/>
            <p:cNvGrpSpPr>
              <a:grpSpLocks/>
            </p:cNvGrpSpPr>
            <p:nvPr/>
          </p:nvGrpSpPr>
          <p:grpSpPr bwMode="auto">
            <a:xfrm>
              <a:off x="4622" y="2758"/>
              <a:ext cx="311" cy="635"/>
              <a:chOff x="3820" y="2756"/>
              <a:chExt cx="311" cy="635"/>
            </a:xfrm>
          </p:grpSpPr>
          <p:grpSp>
            <p:nvGrpSpPr>
              <p:cNvPr id="4110" name="Group 313"/>
              <p:cNvGrpSpPr>
                <a:grpSpLocks/>
              </p:cNvGrpSpPr>
              <p:nvPr/>
            </p:nvGrpSpPr>
            <p:grpSpPr bwMode="auto">
              <a:xfrm>
                <a:off x="3872" y="2756"/>
                <a:ext cx="259" cy="288"/>
                <a:chOff x="2675" y="1769"/>
                <a:chExt cx="259" cy="288"/>
              </a:xfrm>
            </p:grpSpPr>
            <p:pic>
              <p:nvPicPr>
                <p:cNvPr id="4116" name="Picture 314" descr="bouleb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2675" y="1804"/>
                  <a:ext cx="259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17" name="Text Box 315"/>
                <p:cNvSpPr txBox="1">
                  <a:spLocks noChangeArrowheads="1"/>
                </p:cNvSpPr>
                <p:nvPr/>
              </p:nvSpPr>
              <p:spPr bwMode="auto">
                <a:xfrm>
                  <a:off x="2726" y="1769"/>
                  <a:ext cx="1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4111" name="Group 316"/>
              <p:cNvGrpSpPr>
                <a:grpSpLocks/>
              </p:cNvGrpSpPr>
              <p:nvPr/>
            </p:nvGrpSpPr>
            <p:grpSpPr bwMode="auto">
              <a:xfrm>
                <a:off x="3871" y="3103"/>
                <a:ext cx="259" cy="288"/>
                <a:chOff x="2675" y="1769"/>
                <a:chExt cx="259" cy="288"/>
              </a:xfrm>
            </p:grpSpPr>
            <p:pic>
              <p:nvPicPr>
                <p:cNvPr id="4114" name="Picture 317" descr="bouleb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2675" y="1804"/>
                  <a:ext cx="259" cy="2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15" name="Text Box 318"/>
                <p:cNvSpPr txBox="1">
                  <a:spLocks noChangeArrowheads="1"/>
                </p:cNvSpPr>
                <p:nvPr/>
              </p:nvSpPr>
              <p:spPr bwMode="auto">
                <a:xfrm>
                  <a:off x="2726" y="1769"/>
                  <a:ext cx="1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-</a:t>
                  </a:r>
                </a:p>
              </p:txBody>
            </p:sp>
          </p:grpSp>
          <p:sp>
            <p:nvSpPr>
              <p:cNvPr id="4112" name="Oval 319"/>
              <p:cNvSpPr>
                <a:spLocks noChangeArrowheads="1"/>
              </p:cNvSpPr>
              <p:nvPr/>
            </p:nvSpPr>
            <p:spPr bwMode="auto">
              <a:xfrm>
                <a:off x="3820" y="3129"/>
                <a:ext cx="71" cy="7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113" name="Oval 320"/>
              <p:cNvSpPr>
                <a:spLocks noChangeArrowheads="1"/>
              </p:cNvSpPr>
              <p:nvPr/>
            </p:nvSpPr>
            <p:spPr bwMode="auto">
              <a:xfrm>
                <a:off x="3836" y="2770"/>
                <a:ext cx="71" cy="70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275659" name="Oval 203"/>
          <p:cNvSpPr>
            <a:spLocks noChangeArrowheads="1"/>
          </p:cNvSpPr>
          <p:nvPr/>
        </p:nvSpPr>
        <p:spPr bwMode="auto">
          <a:xfrm rot="1189654">
            <a:off x="3986213" y="3303588"/>
            <a:ext cx="1311275" cy="236378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7037E-6 L 0.16198 -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57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-0.14011 -0.0006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757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5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5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65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68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5123" name="Freeform 2"/>
          <p:cNvSpPr>
            <a:spLocks/>
          </p:cNvSpPr>
          <p:nvPr/>
        </p:nvSpPr>
        <p:spPr bwMode="auto">
          <a:xfrm>
            <a:off x="1139825" y="3316288"/>
            <a:ext cx="1435100" cy="2193925"/>
          </a:xfrm>
          <a:custGeom>
            <a:avLst/>
            <a:gdLst>
              <a:gd name="T0" fmla="*/ 306779 w 1932"/>
              <a:gd name="T1" fmla="*/ 0 h 2019"/>
              <a:gd name="T2" fmla="*/ 1435100 w 1932"/>
              <a:gd name="T3" fmla="*/ 0 h 2019"/>
              <a:gd name="T4" fmla="*/ 1435100 w 1932"/>
              <a:gd name="T5" fmla="*/ 2193925 h 2019"/>
              <a:gd name="T6" fmla="*/ 0 w 1932"/>
              <a:gd name="T7" fmla="*/ 2193925 h 2019"/>
              <a:gd name="T8" fmla="*/ 109935 w 1932"/>
              <a:gd name="T9" fmla="*/ 1939651 h 2019"/>
              <a:gd name="T10" fmla="*/ 259982 w 1932"/>
              <a:gd name="T11" fmla="*/ 1812515 h 2019"/>
              <a:gd name="T12" fmla="*/ 340948 w 1932"/>
              <a:gd name="T13" fmla="*/ 1635392 h 2019"/>
              <a:gd name="T14" fmla="*/ 317921 w 1932"/>
              <a:gd name="T15" fmla="*/ 1321354 h 2019"/>
              <a:gd name="T16" fmla="*/ 259982 w 1932"/>
              <a:gd name="T17" fmla="*/ 1144231 h 2019"/>
              <a:gd name="T18" fmla="*/ 196843 w 1932"/>
              <a:gd name="T19" fmla="*/ 948636 h 2019"/>
              <a:gd name="T20" fmla="*/ 207986 w 1932"/>
              <a:gd name="T21" fmla="*/ 669370 h 2019"/>
              <a:gd name="T22" fmla="*/ 248840 w 1932"/>
              <a:gd name="T23" fmla="*/ 457475 h 2019"/>
              <a:gd name="T24" fmla="*/ 311978 w 1932"/>
              <a:gd name="T25" fmla="*/ 372717 h 2019"/>
              <a:gd name="T26" fmla="*/ 346890 w 1932"/>
              <a:gd name="T27" fmla="*/ 287959 h 2019"/>
              <a:gd name="T28" fmla="*/ 375860 w 1932"/>
              <a:gd name="T29" fmla="*/ 119530 h 2019"/>
              <a:gd name="T30" fmla="*/ 30677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65571" name="Rectangle 3"/>
          <p:cNvSpPr>
            <a:spLocks noChangeArrowheads="1"/>
          </p:cNvSpPr>
          <p:nvPr/>
        </p:nvSpPr>
        <p:spPr bwMode="auto">
          <a:xfrm>
            <a:off x="2566988" y="3317875"/>
            <a:ext cx="661987" cy="2193925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65572" name="Rectangle 4"/>
          <p:cNvSpPr>
            <a:spLocks noChangeArrowheads="1"/>
          </p:cNvSpPr>
          <p:nvPr/>
        </p:nvSpPr>
        <p:spPr bwMode="auto">
          <a:xfrm>
            <a:off x="3232150" y="3314700"/>
            <a:ext cx="730250" cy="219551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5126" name="Freeform 5"/>
          <p:cNvSpPr>
            <a:spLocks/>
          </p:cNvSpPr>
          <p:nvPr/>
        </p:nvSpPr>
        <p:spPr bwMode="auto">
          <a:xfrm flipH="1">
            <a:off x="3949700" y="3314700"/>
            <a:ext cx="1519238" cy="2195513"/>
          </a:xfrm>
          <a:custGeom>
            <a:avLst/>
            <a:gdLst>
              <a:gd name="T0" fmla="*/ 324765 w 1932"/>
              <a:gd name="T1" fmla="*/ 0 h 2019"/>
              <a:gd name="T2" fmla="*/ 1519238 w 1932"/>
              <a:gd name="T3" fmla="*/ 0 h 2019"/>
              <a:gd name="T4" fmla="*/ 1519238 w 1932"/>
              <a:gd name="T5" fmla="*/ 2195513 h 2019"/>
              <a:gd name="T6" fmla="*/ 0 w 1932"/>
              <a:gd name="T7" fmla="*/ 2195513 h 2019"/>
              <a:gd name="T8" fmla="*/ 116381 w 1932"/>
              <a:gd name="T9" fmla="*/ 1941055 h 2019"/>
              <a:gd name="T10" fmla="*/ 275224 w 1932"/>
              <a:gd name="T11" fmla="*/ 1813826 h 2019"/>
              <a:gd name="T12" fmla="*/ 360937 w 1932"/>
              <a:gd name="T13" fmla="*/ 1636576 h 2019"/>
              <a:gd name="T14" fmla="*/ 336560 w 1932"/>
              <a:gd name="T15" fmla="*/ 1322310 h 2019"/>
              <a:gd name="T16" fmla="*/ 275224 w 1932"/>
              <a:gd name="T17" fmla="*/ 1145060 h 2019"/>
              <a:gd name="T18" fmla="*/ 208384 w 1932"/>
              <a:gd name="T19" fmla="*/ 949323 h 2019"/>
              <a:gd name="T20" fmla="*/ 220179 w 1932"/>
              <a:gd name="T21" fmla="*/ 669854 h 2019"/>
              <a:gd name="T22" fmla="*/ 263429 w 1932"/>
              <a:gd name="T23" fmla="*/ 457806 h 2019"/>
              <a:gd name="T24" fmla="*/ 330269 w 1932"/>
              <a:gd name="T25" fmla="*/ 372987 h 2019"/>
              <a:gd name="T26" fmla="*/ 367228 w 1932"/>
              <a:gd name="T27" fmla="*/ 288168 h 2019"/>
              <a:gd name="T28" fmla="*/ 397896 w 1932"/>
              <a:gd name="T29" fmla="*/ 119617 h 2019"/>
              <a:gd name="T30" fmla="*/ 324765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365739" name="Group 171"/>
          <p:cNvGrpSpPr>
            <a:grpSpLocks/>
          </p:cNvGrpSpPr>
          <p:nvPr/>
        </p:nvGrpSpPr>
        <p:grpSpPr bwMode="auto">
          <a:xfrm>
            <a:off x="1116013" y="5918200"/>
            <a:ext cx="5726112" cy="498475"/>
            <a:chOff x="693" y="3528"/>
            <a:chExt cx="3607" cy="314"/>
          </a:xfrm>
        </p:grpSpPr>
        <p:sp>
          <p:nvSpPr>
            <p:cNvPr id="5202" name="Rectangle 9"/>
            <p:cNvSpPr>
              <a:spLocks noChangeArrowheads="1"/>
            </p:cNvSpPr>
            <p:nvPr/>
          </p:nvSpPr>
          <p:spPr bwMode="auto">
            <a:xfrm>
              <a:off x="693" y="3528"/>
              <a:ext cx="3497" cy="314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5203" name="Text Box 10"/>
            <p:cNvSpPr txBox="1">
              <a:spLocks noChangeArrowheads="1"/>
            </p:cNvSpPr>
            <p:nvPr/>
          </p:nvSpPr>
          <p:spPr bwMode="auto">
            <a:xfrm>
              <a:off x="742" y="3539"/>
              <a:ext cx="35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Création d’une </a:t>
              </a:r>
              <a:r>
                <a:rPr lang="fr-FR" altLang="fr-FR" sz="2400">
                  <a:solidFill>
                    <a:srgbClr val="FF3300"/>
                  </a:solidFill>
                </a:rPr>
                <a:t>Zone de Charge d’Espace</a:t>
              </a:r>
            </a:p>
          </p:txBody>
        </p:sp>
      </p:grpSp>
      <p:grpSp>
        <p:nvGrpSpPr>
          <p:cNvPr id="5129" name="Group 11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5200" name="Picture 12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1" name="Text Box 13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5130" name="Group 14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5198" name="Picture 15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99" name="Text Box 16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5131" name="Group 17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5196" name="Picture 18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97" name="Text Box 19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5132" name="Group 20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5194" name="Picture 2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95" name="Text Box 2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sp>
        <p:nvSpPr>
          <p:cNvPr id="365597" name="Oval 29"/>
          <p:cNvSpPr>
            <a:spLocks noChangeArrowheads="1"/>
          </p:cNvSpPr>
          <p:nvPr/>
        </p:nvSpPr>
        <p:spPr bwMode="auto">
          <a:xfrm>
            <a:off x="3346450" y="399256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5598" name="Oval 30"/>
          <p:cNvSpPr>
            <a:spLocks noChangeArrowheads="1"/>
          </p:cNvSpPr>
          <p:nvPr/>
        </p:nvSpPr>
        <p:spPr bwMode="auto">
          <a:xfrm>
            <a:off x="3346450" y="45656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5600" name="Oval 32"/>
          <p:cNvSpPr>
            <a:spLocks noChangeArrowheads="1"/>
          </p:cNvSpPr>
          <p:nvPr/>
        </p:nvSpPr>
        <p:spPr bwMode="auto">
          <a:xfrm>
            <a:off x="3346450" y="34242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5136" name="Group 33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5192" name="Picture 34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93" name="Text Box 35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5137" name="Group 36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5190" name="Picture 3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91" name="Text Box 38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5138" name="Group 39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5188" name="Picture 40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89" name="Text Box 41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5139" name="Group 42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5186" name="Picture 4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87" name="Text Box 4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sp>
        <p:nvSpPr>
          <p:cNvPr id="365619" name="Oval 51"/>
          <p:cNvSpPr>
            <a:spLocks noChangeArrowheads="1"/>
          </p:cNvSpPr>
          <p:nvPr/>
        </p:nvSpPr>
        <p:spPr bwMode="auto">
          <a:xfrm>
            <a:off x="2990850" y="34448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5620" name="Oval 52"/>
          <p:cNvSpPr>
            <a:spLocks noChangeArrowheads="1"/>
          </p:cNvSpPr>
          <p:nvPr/>
        </p:nvSpPr>
        <p:spPr bwMode="auto">
          <a:xfrm>
            <a:off x="2990850" y="39798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5621" name="Oval 53"/>
          <p:cNvSpPr>
            <a:spLocks noChangeArrowheads="1"/>
          </p:cNvSpPr>
          <p:nvPr/>
        </p:nvSpPr>
        <p:spPr bwMode="auto">
          <a:xfrm>
            <a:off x="2990850" y="51054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5143" name="Group 56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5184" name="Picture 5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85" name="Text Box 58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5144" name="Group 59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5182" name="Picture 60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83" name="Text Box 61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5145" name="Group 62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5180" name="Picture 6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81" name="Text Box 6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5146" name="Group 65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5178" name="Picture 66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79" name="Text Box 67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sp>
        <p:nvSpPr>
          <p:cNvPr id="5147" name="Oval 74"/>
          <p:cNvSpPr>
            <a:spLocks noChangeArrowheads="1"/>
          </p:cNvSpPr>
          <p:nvPr/>
        </p:nvSpPr>
        <p:spPr bwMode="auto">
          <a:xfrm>
            <a:off x="2381250" y="34448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48" name="Oval 75"/>
          <p:cNvSpPr>
            <a:spLocks noChangeArrowheads="1"/>
          </p:cNvSpPr>
          <p:nvPr/>
        </p:nvSpPr>
        <p:spPr bwMode="auto">
          <a:xfrm>
            <a:off x="2381250" y="39798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49" name="Oval 76"/>
          <p:cNvSpPr>
            <a:spLocks noChangeArrowheads="1"/>
          </p:cNvSpPr>
          <p:nvPr/>
        </p:nvSpPr>
        <p:spPr bwMode="auto">
          <a:xfrm>
            <a:off x="2381250" y="51054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50" name="Oval 79"/>
          <p:cNvSpPr>
            <a:spLocks noChangeArrowheads="1"/>
          </p:cNvSpPr>
          <p:nvPr/>
        </p:nvSpPr>
        <p:spPr bwMode="auto">
          <a:xfrm>
            <a:off x="2381250" y="451485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5151" name="Group 81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5176" name="Picture 82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77" name="Text Box 83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5152" name="Group 84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5174" name="Picture 85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75" name="Text Box 86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5153" name="Group 87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5172" name="Picture 88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73" name="Text Box 89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5154" name="Group 90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5170" name="Picture 9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71" name="Text Box 9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sp>
        <p:nvSpPr>
          <p:cNvPr id="5155" name="Oval 100"/>
          <p:cNvSpPr>
            <a:spLocks noChangeArrowheads="1"/>
          </p:cNvSpPr>
          <p:nvPr/>
        </p:nvSpPr>
        <p:spPr bwMode="auto">
          <a:xfrm>
            <a:off x="4022725" y="399256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56" name="Oval 101"/>
          <p:cNvSpPr>
            <a:spLocks noChangeArrowheads="1"/>
          </p:cNvSpPr>
          <p:nvPr/>
        </p:nvSpPr>
        <p:spPr bwMode="auto">
          <a:xfrm>
            <a:off x="4022725" y="45656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57" name="Oval 102"/>
          <p:cNvSpPr>
            <a:spLocks noChangeArrowheads="1"/>
          </p:cNvSpPr>
          <p:nvPr/>
        </p:nvSpPr>
        <p:spPr bwMode="auto">
          <a:xfrm>
            <a:off x="4022725" y="5100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158" name="Oval 104"/>
          <p:cNvSpPr>
            <a:spLocks noChangeArrowheads="1"/>
          </p:cNvSpPr>
          <p:nvPr/>
        </p:nvSpPr>
        <p:spPr bwMode="auto">
          <a:xfrm>
            <a:off x="4022725" y="34242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65723" name="Group 155"/>
          <p:cNvGrpSpPr>
            <a:grpSpLocks/>
          </p:cNvGrpSpPr>
          <p:nvPr/>
        </p:nvGrpSpPr>
        <p:grpSpPr bwMode="auto">
          <a:xfrm>
            <a:off x="6081713" y="3571875"/>
            <a:ext cx="2616200" cy="1474788"/>
            <a:chOff x="3884" y="1885"/>
            <a:chExt cx="1648" cy="929"/>
          </a:xfrm>
        </p:grpSpPr>
        <p:sp>
          <p:nvSpPr>
            <p:cNvPr id="5168" name="Rectangle 156"/>
            <p:cNvSpPr>
              <a:spLocks noChangeArrowheads="1"/>
            </p:cNvSpPr>
            <p:nvPr/>
          </p:nvSpPr>
          <p:spPr bwMode="auto">
            <a:xfrm>
              <a:off x="3892" y="1885"/>
              <a:ext cx="1640" cy="929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5169" name="Text Box 157"/>
            <p:cNvSpPr txBox="1">
              <a:spLocks noChangeArrowheads="1"/>
            </p:cNvSpPr>
            <p:nvPr/>
          </p:nvSpPr>
          <p:spPr bwMode="auto">
            <a:xfrm>
              <a:off x="3884" y="1977"/>
              <a:ext cx="1621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/>
                <a:t>Diffusion simultanée :</a:t>
              </a:r>
            </a:p>
            <a:p>
              <a:pPr>
                <a:spcBef>
                  <a:spcPct val="0"/>
                </a:spcBef>
              </a:pPr>
              <a:endParaRPr lang="fr-FR" altLang="fr-FR"/>
            </a:p>
            <a:p>
              <a:pPr>
                <a:spcBef>
                  <a:spcPct val="0"/>
                </a:spcBef>
                <a:buFontTx/>
                <a:buChar char="•"/>
              </a:pPr>
              <a:r>
                <a:rPr lang="fr-FR" altLang="fr-FR">
                  <a:solidFill>
                    <a:srgbClr val="008000"/>
                  </a:solidFill>
                </a:rPr>
                <a:t>des e- de N vers P</a:t>
              </a:r>
              <a:endParaRPr lang="fr-FR" altLang="fr-FR">
                <a:solidFill>
                  <a:srgbClr val="FF3300"/>
                </a:solidFill>
              </a:endParaRPr>
            </a:p>
          </p:txBody>
        </p:sp>
      </p:grpSp>
      <p:sp>
        <p:nvSpPr>
          <p:cNvPr id="365726" name="Text Box 158"/>
          <p:cNvSpPr txBox="1">
            <a:spLocks noChangeArrowheads="1"/>
          </p:cNvSpPr>
          <p:nvPr/>
        </p:nvSpPr>
        <p:spPr bwMode="auto">
          <a:xfrm>
            <a:off x="6056313" y="4643438"/>
            <a:ext cx="26082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fr-FR" altLang="fr-FR">
                <a:solidFill>
                  <a:srgbClr val="FF3300"/>
                </a:solidFill>
              </a:rPr>
              <a:t>des trous de P vers N</a:t>
            </a:r>
          </a:p>
        </p:txBody>
      </p:sp>
      <p:sp>
        <p:nvSpPr>
          <p:cNvPr id="365727" name="Oval 159"/>
          <p:cNvSpPr>
            <a:spLocks noChangeArrowheads="1"/>
          </p:cNvSpPr>
          <p:nvPr/>
        </p:nvSpPr>
        <p:spPr bwMode="auto">
          <a:xfrm>
            <a:off x="2990850" y="451802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5729" name="Oval 161"/>
          <p:cNvSpPr>
            <a:spLocks noChangeArrowheads="1"/>
          </p:cNvSpPr>
          <p:nvPr/>
        </p:nvSpPr>
        <p:spPr bwMode="auto">
          <a:xfrm>
            <a:off x="3346450" y="5100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5163" name="Group 172"/>
          <p:cNvGrpSpPr>
            <a:grpSpLocks/>
          </p:cNvGrpSpPr>
          <p:nvPr/>
        </p:nvGrpSpPr>
        <p:grpSpPr bwMode="auto">
          <a:xfrm>
            <a:off x="1123950" y="1798638"/>
            <a:ext cx="1358900" cy="882650"/>
            <a:chOff x="718" y="1053"/>
            <a:chExt cx="856" cy="556"/>
          </a:xfrm>
        </p:grpSpPr>
        <p:sp>
          <p:nvSpPr>
            <p:cNvPr id="5166" name="AutoShape 164"/>
            <p:cNvSpPr>
              <a:spLocks noChangeArrowheads="1"/>
            </p:cNvSpPr>
            <p:nvPr/>
          </p:nvSpPr>
          <p:spPr bwMode="auto">
            <a:xfrm rot="-1385031">
              <a:off x="718" y="1053"/>
              <a:ext cx="856" cy="556"/>
            </a:xfrm>
            <a:prstGeom prst="irregularSeal1">
              <a:avLst/>
            </a:prstGeom>
            <a:solidFill>
              <a:srgbClr val="3366FF">
                <a:alpha val="70195"/>
              </a:srgb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5167" name="Text Box 165"/>
            <p:cNvSpPr txBox="1">
              <a:spLocks noChangeArrowheads="1"/>
            </p:cNvSpPr>
            <p:nvPr/>
          </p:nvSpPr>
          <p:spPr bwMode="auto">
            <a:xfrm rot="-1385031">
              <a:off x="889" y="1235"/>
              <a:ext cx="514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 sz="1400" b="1">
                  <a:solidFill>
                    <a:srgbClr val="FFFF66"/>
                  </a:solidFill>
                </a:rPr>
                <a:t>QUIZZ</a:t>
              </a:r>
            </a:p>
          </p:txBody>
        </p:sp>
      </p:grpSp>
      <p:sp>
        <p:nvSpPr>
          <p:cNvPr id="5164" name="Text Box 170"/>
          <p:cNvSpPr txBox="1">
            <a:spLocks noChangeArrowheads="1"/>
          </p:cNvSpPr>
          <p:nvPr/>
        </p:nvSpPr>
        <p:spPr bwMode="auto">
          <a:xfrm>
            <a:off x="2643188" y="2022475"/>
            <a:ext cx="5880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Que se passe t'il au niveau de la jonction ?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365742" name="AutoShape 174"/>
          <p:cNvSpPr>
            <a:spLocks/>
          </p:cNvSpPr>
          <p:nvPr/>
        </p:nvSpPr>
        <p:spPr bwMode="auto">
          <a:xfrm rot="-5400000">
            <a:off x="3097213" y="5035550"/>
            <a:ext cx="311150" cy="1346200"/>
          </a:xfrm>
          <a:prstGeom prst="leftBrace">
            <a:avLst>
              <a:gd name="adj1" fmla="val 3605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24 C 0.00382 -0.00533 0.00712 -0.01042 0.01216 -0.01274 C 0.01719 -0.01505 0.0257 -0.01621 0.03056 -0.01436 C 0.03542 -0.0125 0.03889 -0.00371 0.04115 -0.00093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3656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-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65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65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656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65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23 C 0.00347 -0.00047 0.01146 -0.00348 0.01823 -0.00186 C 0.025 -0.00023 0.03681 0.00764 0.04167 0.00995 " pathEditMode="relative" rAng="0" ptsTypes="aaa">
                                      <p:cBhvr>
                                        <p:cTn id="23" dur="1000" fill="hold"/>
                                        <p:tgtEl>
                                          <p:spTgt spid="365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65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65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65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65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365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65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8.88889E-6 C -0.0033 -0.00648 -0.0066 -0.01273 -0.01007 -0.0155 C -0.01354 -0.01828 -0.01719 -0.01712 -0.02066 -0.01712 C -0.02413 -0.01712 -0.0276 -0.01782 -0.03055 -0.0155 C -0.03351 -0.01319 -0.0375 -0.00578 -0.03889 -0.0037 " pathEditMode="relative" ptsTypes="aaaaA">
                                      <p:cBhvr>
                                        <p:cTn id="41" dur="1000" fill="hold"/>
                                        <p:tgtEl>
                                          <p:spTgt spid="3655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65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65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65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65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65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65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85185E-6 C -0.00329 -0.00116 -0.01354 -0.00671 -0.01996 -0.00741 C -0.02638 -0.0081 -0.03576 -0.0044 -0.03888 -0.00371 " pathEditMode="relative" rAng="0" ptsTypes="aaa">
                                      <p:cBhvr>
                                        <p:cTn id="55" dur="1000" fill="hold"/>
                                        <p:tgtEl>
                                          <p:spTgt spid="3657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" y="-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65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65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65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6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6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65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FFCC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FA1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6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6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97" grpId="0" animBg="1"/>
      <p:bldP spid="365597" grpId="1" animBg="1"/>
      <p:bldP spid="365598" grpId="0" animBg="1"/>
      <p:bldP spid="365600" grpId="0" animBg="1"/>
      <p:bldP spid="365619" grpId="0" animBg="1"/>
      <p:bldP spid="365619" grpId="1" animBg="1"/>
      <p:bldP spid="365620" grpId="0" animBg="1"/>
      <p:bldP spid="365621" grpId="0" animBg="1"/>
      <p:bldP spid="365726" grpId="0"/>
      <p:bldP spid="365727" grpId="0" animBg="1"/>
      <p:bldP spid="365727" grpId="1" animBg="1"/>
      <p:bldP spid="365729" grpId="0" animBg="1"/>
      <p:bldP spid="365729" grpId="1" animBg="1"/>
      <p:bldP spid="3657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6147" name="Freeform 3"/>
          <p:cNvSpPr>
            <a:spLocks/>
          </p:cNvSpPr>
          <p:nvPr/>
        </p:nvSpPr>
        <p:spPr bwMode="auto">
          <a:xfrm>
            <a:off x="1139825" y="3316288"/>
            <a:ext cx="1435100" cy="2193925"/>
          </a:xfrm>
          <a:custGeom>
            <a:avLst/>
            <a:gdLst>
              <a:gd name="T0" fmla="*/ 306779 w 1932"/>
              <a:gd name="T1" fmla="*/ 0 h 2019"/>
              <a:gd name="T2" fmla="*/ 1435100 w 1932"/>
              <a:gd name="T3" fmla="*/ 0 h 2019"/>
              <a:gd name="T4" fmla="*/ 1435100 w 1932"/>
              <a:gd name="T5" fmla="*/ 2193925 h 2019"/>
              <a:gd name="T6" fmla="*/ 0 w 1932"/>
              <a:gd name="T7" fmla="*/ 2193925 h 2019"/>
              <a:gd name="T8" fmla="*/ 109935 w 1932"/>
              <a:gd name="T9" fmla="*/ 1939651 h 2019"/>
              <a:gd name="T10" fmla="*/ 259982 w 1932"/>
              <a:gd name="T11" fmla="*/ 1812515 h 2019"/>
              <a:gd name="T12" fmla="*/ 340948 w 1932"/>
              <a:gd name="T13" fmla="*/ 1635392 h 2019"/>
              <a:gd name="T14" fmla="*/ 317921 w 1932"/>
              <a:gd name="T15" fmla="*/ 1321354 h 2019"/>
              <a:gd name="T16" fmla="*/ 259982 w 1932"/>
              <a:gd name="T17" fmla="*/ 1144231 h 2019"/>
              <a:gd name="T18" fmla="*/ 196843 w 1932"/>
              <a:gd name="T19" fmla="*/ 948636 h 2019"/>
              <a:gd name="T20" fmla="*/ 207986 w 1932"/>
              <a:gd name="T21" fmla="*/ 669370 h 2019"/>
              <a:gd name="T22" fmla="*/ 248840 w 1932"/>
              <a:gd name="T23" fmla="*/ 457475 h 2019"/>
              <a:gd name="T24" fmla="*/ 311978 w 1932"/>
              <a:gd name="T25" fmla="*/ 372717 h 2019"/>
              <a:gd name="T26" fmla="*/ 346890 w 1932"/>
              <a:gd name="T27" fmla="*/ 287959 h 2019"/>
              <a:gd name="T28" fmla="*/ 375860 w 1932"/>
              <a:gd name="T29" fmla="*/ 119530 h 2019"/>
              <a:gd name="T30" fmla="*/ 30677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566988" y="3317875"/>
            <a:ext cx="661987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232150" y="3314700"/>
            <a:ext cx="730250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6150" name="Freeform 6"/>
          <p:cNvSpPr>
            <a:spLocks/>
          </p:cNvSpPr>
          <p:nvPr/>
        </p:nvSpPr>
        <p:spPr bwMode="auto">
          <a:xfrm flipH="1">
            <a:off x="3949700" y="3314700"/>
            <a:ext cx="1519238" cy="2195513"/>
          </a:xfrm>
          <a:custGeom>
            <a:avLst/>
            <a:gdLst>
              <a:gd name="T0" fmla="*/ 324765 w 1932"/>
              <a:gd name="T1" fmla="*/ 0 h 2019"/>
              <a:gd name="T2" fmla="*/ 1519238 w 1932"/>
              <a:gd name="T3" fmla="*/ 0 h 2019"/>
              <a:gd name="T4" fmla="*/ 1519238 w 1932"/>
              <a:gd name="T5" fmla="*/ 2195513 h 2019"/>
              <a:gd name="T6" fmla="*/ 0 w 1932"/>
              <a:gd name="T7" fmla="*/ 2195513 h 2019"/>
              <a:gd name="T8" fmla="*/ 116381 w 1932"/>
              <a:gd name="T9" fmla="*/ 1941055 h 2019"/>
              <a:gd name="T10" fmla="*/ 275224 w 1932"/>
              <a:gd name="T11" fmla="*/ 1813826 h 2019"/>
              <a:gd name="T12" fmla="*/ 360937 w 1932"/>
              <a:gd name="T13" fmla="*/ 1636576 h 2019"/>
              <a:gd name="T14" fmla="*/ 336560 w 1932"/>
              <a:gd name="T15" fmla="*/ 1322310 h 2019"/>
              <a:gd name="T16" fmla="*/ 275224 w 1932"/>
              <a:gd name="T17" fmla="*/ 1145060 h 2019"/>
              <a:gd name="T18" fmla="*/ 208384 w 1932"/>
              <a:gd name="T19" fmla="*/ 949323 h 2019"/>
              <a:gd name="T20" fmla="*/ 220179 w 1932"/>
              <a:gd name="T21" fmla="*/ 669854 h 2019"/>
              <a:gd name="T22" fmla="*/ 263429 w 1932"/>
              <a:gd name="T23" fmla="*/ 457806 h 2019"/>
              <a:gd name="T24" fmla="*/ 330269 w 1932"/>
              <a:gd name="T25" fmla="*/ 372987 h 2019"/>
              <a:gd name="T26" fmla="*/ 367228 w 1932"/>
              <a:gd name="T27" fmla="*/ 288168 h 2019"/>
              <a:gd name="T28" fmla="*/ 397896 w 1932"/>
              <a:gd name="T29" fmla="*/ 119617 h 2019"/>
              <a:gd name="T30" fmla="*/ 324765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367626" name="Group 10"/>
          <p:cNvGrpSpPr>
            <a:grpSpLocks/>
          </p:cNvGrpSpPr>
          <p:nvPr/>
        </p:nvGrpSpPr>
        <p:grpSpPr bwMode="auto">
          <a:xfrm>
            <a:off x="1116013" y="5918200"/>
            <a:ext cx="5726112" cy="498475"/>
            <a:chOff x="693" y="3528"/>
            <a:chExt cx="3607" cy="314"/>
          </a:xfrm>
        </p:grpSpPr>
        <p:sp>
          <p:nvSpPr>
            <p:cNvPr id="6228" name="Rectangle 11"/>
            <p:cNvSpPr>
              <a:spLocks noChangeArrowheads="1"/>
            </p:cNvSpPr>
            <p:nvPr/>
          </p:nvSpPr>
          <p:spPr bwMode="auto">
            <a:xfrm>
              <a:off x="693" y="3528"/>
              <a:ext cx="3497" cy="314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6229" name="Text Box 12"/>
            <p:cNvSpPr txBox="1">
              <a:spLocks noChangeArrowheads="1"/>
            </p:cNvSpPr>
            <p:nvPr/>
          </p:nvSpPr>
          <p:spPr bwMode="auto">
            <a:xfrm>
              <a:off x="742" y="3539"/>
              <a:ext cx="35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La </a:t>
              </a:r>
              <a:r>
                <a:rPr lang="fr-FR" altLang="fr-FR" sz="2400">
                  <a:solidFill>
                    <a:srgbClr val="FF3300"/>
                  </a:solidFill>
                </a:rPr>
                <a:t>taille </a:t>
              </a:r>
              <a:r>
                <a:rPr lang="fr-FR" altLang="fr-FR" sz="2000"/>
                <a:t>de la ZCE devient</a:t>
              </a:r>
              <a:r>
                <a:rPr lang="fr-FR" altLang="fr-FR" sz="2400">
                  <a:solidFill>
                    <a:srgbClr val="FF3300"/>
                  </a:solidFill>
                </a:rPr>
                <a:t> stable</a:t>
              </a:r>
            </a:p>
          </p:txBody>
        </p:sp>
      </p:grpSp>
      <p:grpSp>
        <p:nvGrpSpPr>
          <p:cNvPr id="6153" name="Group 13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6226" name="Picture 1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27" name="Text Box 1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54" name="Group 16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6224" name="Picture 1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25" name="Text Box 1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55" name="Group 19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6222" name="Picture 2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23" name="Text Box 2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56" name="Group 22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6220" name="Picture 23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21" name="Text Box 24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57" name="Group 28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6218" name="Picture 2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19" name="Text Box 30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58" name="Group 31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6216" name="Picture 32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17" name="Text Box 33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59" name="Group 34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6214" name="Picture 3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15" name="Text Box 36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60" name="Group 37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6212" name="Picture 38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13" name="Text Box 39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61" name="Group 43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6210" name="Picture 44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11" name="Text Box 45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62" name="Group 46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6208" name="Picture 4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9" name="Text Box 48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63" name="Group 49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6206" name="Picture 50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7" name="Text Box 51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6164" name="Group 52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6204" name="Picture 5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5" name="Text Box 5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sp>
        <p:nvSpPr>
          <p:cNvPr id="367671" name="Oval 55"/>
          <p:cNvSpPr>
            <a:spLocks noChangeArrowheads="1"/>
          </p:cNvSpPr>
          <p:nvPr/>
        </p:nvSpPr>
        <p:spPr bwMode="auto">
          <a:xfrm>
            <a:off x="2381250" y="34448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166" name="Oval 56"/>
          <p:cNvSpPr>
            <a:spLocks noChangeArrowheads="1"/>
          </p:cNvSpPr>
          <p:nvPr/>
        </p:nvSpPr>
        <p:spPr bwMode="auto">
          <a:xfrm>
            <a:off x="2381250" y="39798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167" name="Oval 57"/>
          <p:cNvSpPr>
            <a:spLocks noChangeArrowheads="1"/>
          </p:cNvSpPr>
          <p:nvPr/>
        </p:nvSpPr>
        <p:spPr bwMode="auto">
          <a:xfrm>
            <a:off x="2381250" y="51054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7674" name="Oval 58"/>
          <p:cNvSpPr>
            <a:spLocks noChangeArrowheads="1"/>
          </p:cNvSpPr>
          <p:nvPr/>
        </p:nvSpPr>
        <p:spPr bwMode="auto">
          <a:xfrm>
            <a:off x="2381250" y="451485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6169" name="Group 59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6202" name="Picture 6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3" name="Text Box 6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70" name="Group 62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6200" name="Picture 63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1" name="Text Box 64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71" name="Group 65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6198" name="Picture 66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99" name="Text Box 67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6172" name="Group 68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6196" name="Picture 69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97" name="Text Box 70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sp>
        <p:nvSpPr>
          <p:cNvPr id="367687" name="Oval 71"/>
          <p:cNvSpPr>
            <a:spLocks noChangeArrowheads="1"/>
          </p:cNvSpPr>
          <p:nvPr/>
        </p:nvSpPr>
        <p:spPr bwMode="auto">
          <a:xfrm>
            <a:off x="4022725" y="399256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174" name="Oval 72"/>
          <p:cNvSpPr>
            <a:spLocks noChangeArrowheads="1"/>
          </p:cNvSpPr>
          <p:nvPr/>
        </p:nvSpPr>
        <p:spPr bwMode="auto">
          <a:xfrm>
            <a:off x="4022725" y="45656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7689" name="Oval 73"/>
          <p:cNvSpPr>
            <a:spLocks noChangeArrowheads="1"/>
          </p:cNvSpPr>
          <p:nvPr/>
        </p:nvSpPr>
        <p:spPr bwMode="auto">
          <a:xfrm>
            <a:off x="4022725" y="5100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6176" name="Oval 74"/>
          <p:cNvSpPr>
            <a:spLocks noChangeArrowheads="1"/>
          </p:cNvSpPr>
          <p:nvPr/>
        </p:nvSpPr>
        <p:spPr bwMode="auto">
          <a:xfrm>
            <a:off x="4022725" y="34242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67715" name="Group 99"/>
          <p:cNvGrpSpPr>
            <a:grpSpLocks/>
          </p:cNvGrpSpPr>
          <p:nvPr/>
        </p:nvGrpSpPr>
        <p:grpSpPr bwMode="auto">
          <a:xfrm>
            <a:off x="6081713" y="3571875"/>
            <a:ext cx="2616200" cy="1474788"/>
            <a:chOff x="3831" y="2250"/>
            <a:chExt cx="1648" cy="929"/>
          </a:xfrm>
        </p:grpSpPr>
        <p:sp>
          <p:nvSpPr>
            <p:cNvPr id="6194" name="Rectangle 76"/>
            <p:cNvSpPr>
              <a:spLocks noChangeArrowheads="1"/>
            </p:cNvSpPr>
            <p:nvPr/>
          </p:nvSpPr>
          <p:spPr bwMode="auto">
            <a:xfrm>
              <a:off x="3839" y="2250"/>
              <a:ext cx="1640" cy="929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6195" name="Text Box 77"/>
            <p:cNvSpPr txBox="1">
              <a:spLocks noChangeArrowheads="1"/>
            </p:cNvSpPr>
            <p:nvPr/>
          </p:nvSpPr>
          <p:spPr bwMode="auto">
            <a:xfrm>
              <a:off x="3831" y="2342"/>
              <a:ext cx="1621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Création d'un champ E et d'une barrière de  potentiel définie par la relation E=-dV/dx</a:t>
              </a:r>
            </a:p>
          </p:txBody>
        </p:sp>
      </p:grpSp>
      <p:grpSp>
        <p:nvGrpSpPr>
          <p:cNvPr id="6178" name="Group 81"/>
          <p:cNvGrpSpPr>
            <a:grpSpLocks/>
          </p:cNvGrpSpPr>
          <p:nvPr/>
        </p:nvGrpSpPr>
        <p:grpSpPr bwMode="auto">
          <a:xfrm>
            <a:off x="1123950" y="1798638"/>
            <a:ext cx="1358900" cy="882650"/>
            <a:chOff x="718" y="1053"/>
            <a:chExt cx="856" cy="556"/>
          </a:xfrm>
        </p:grpSpPr>
        <p:sp>
          <p:nvSpPr>
            <p:cNvPr id="6192" name="AutoShape 82"/>
            <p:cNvSpPr>
              <a:spLocks noChangeArrowheads="1"/>
            </p:cNvSpPr>
            <p:nvPr/>
          </p:nvSpPr>
          <p:spPr bwMode="auto">
            <a:xfrm rot="-1385031">
              <a:off x="718" y="1053"/>
              <a:ext cx="856" cy="556"/>
            </a:xfrm>
            <a:prstGeom prst="irregularSeal1">
              <a:avLst/>
            </a:prstGeom>
            <a:solidFill>
              <a:srgbClr val="3366FF">
                <a:alpha val="70195"/>
              </a:srgb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6193" name="Text Box 83"/>
            <p:cNvSpPr txBox="1">
              <a:spLocks noChangeArrowheads="1"/>
            </p:cNvSpPr>
            <p:nvPr/>
          </p:nvSpPr>
          <p:spPr bwMode="auto">
            <a:xfrm rot="-1385031">
              <a:off x="831" y="1235"/>
              <a:ext cx="631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 sz="1400" b="1">
                  <a:solidFill>
                    <a:srgbClr val="FFFF66"/>
                  </a:solidFill>
                </a:rPr>
                <a:t>QUIZZ 2</a:t>
              </a:r>
            </a:p>
          </p:txBody>
        </p:sp>
      </p:grpSp>
      <p:sp>
        <p:nvSpPr>
          <p:cNvPr id="6179" name="Text Box 84"/>
          <p:cNvSpPr txBox="1">
            <a:spLocks noChangeArrowheads="1"/>
          </p:cNvSpPr>
          <p:nvPr/>
        </p:nvSpPr>
        <p:spPr bwMode="auto">
          <a:xfrm>
            <a:off x="2643188" y="2022475"/>
            <a:ext cx="5880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La ZCE grandit elle sur toute la jonction ?</a:t>
            </a:r>
            <a:endParaRPr lang="fr-FR" altLang="fr-FR" sz="2400">
              <a:solidFill>
                <a:srgbClr val="FF3300"/>
              </a:solidFill>
            </a:endParaRPr>
          </a:p>
        </p:txBody>
      </p:sp>
      <p:grpSp>
        <p:nvGrpSpPr>
          <p:cNvPr id="367716" name="Group 100"/>
          <p:cNvGrpSpPr>
            <a:grpSpLocks/>
          </p:cNvGrpSpPr>
          <p:nvPr/>
        </p:nvGrpSpPr>
        <p:grpSpPr bwMode="auto">
          <a:xfrm>
            <a:off x="2967038" y="4476750"/>
            <a:ext cx="530225" cy="525463"/>
            <a:chOff x="1869" y="2820"/>
            <a:chExt cx="334" cy="331"/>
          </a:xfrm>
        </p:grpSpPr>
        <p:sp>
          <p:nvSpPr>
            <p:cNvPr id="6190" name="AutoShape 88"/>
            <p:cNvSpPr>
              <a:spLocks noChangeArrowheads="1"/>
            </p:cNvSpPr>
            <p:nvPr/>
          </p:nvSpPr>
          <p:spPr bwMode="auto">
            <a:xfrm>
              <a:off x="1869" y="2820"/>
              <a:ext cx="334" cy="113"/>
            </a:xfrm>
            <a:prstGeom prst="rightArrow">
              <a:avLst>
                <a:gd name="adj1" fmla="val 30574"/>
                <a:gd name="adj2" fmla="val 62563"/>
              </a:avLst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91" name="Text Box 89"/>
            <p:cNvSpPr txBox="1">
              <a:spLocks noChangeArrowheads="1"/>
            </p:cNvSpPr>
            <p:nvPr/>
          </p:nvSpPr>
          <p:spPr bwMode="auto">
            <a:xfrm>
              <a:off x="1917" y="2863"/>
              <a:ext cx="2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rgbClr val="0000FF"/>
                  </a:solidFill>
                </a:rPr>
                <a:t>E</a:t>
              </a:r>
            </a:p>
          </p:txBody>
        </p:sp>
      </p:grpSp>
      <p:grpSp>
        <p:nvGrpSpPr>
          <p:cNvPr id="367717" name="Group 101"/>
          <p:cNvGrpSpPr>
            <a:grpSpLocks/>
          </p:cNvGrpSpPr>
          <p:nvPr/>
        </p:nvGrpSpPr>
        <p:grpSpPr bwMode="auto">
          <a:xfrm>
            <a:off x="2967038" y="5038725"/>
            <a:ext cx="530225" cy="557213"/>
            <a:chOff x="1869" y="3174"/>
            <a:chExt cx="334" cy="351"/>
          </a:xfrm>
        </p:grpSpPr>
        <p:sp>
          <p:nvSpPr>
            <p:cNvPr id="6188" name="AutoShape 91"/>
            <p:cNvSpPr>
              <a:spLocks noChangeArrowheads="1"/>
            </p:cNvSpPr>
            <p:nvPr/>
          </p:nvSpPr>
          <p:spPr bwMode="auto">
            <a:xfrm flipH="1">
              <a:off x="1869" y="3174"/>
              <a:ext cx="334" cy="113"/>
            </a:xfrm>
            <a:prstGeom prst="rightArrow">
              <a:avLst>
                <a:gd name="adj1" fmla="val 30574"/>
                <a:gd name="adj2" fmla="val 62563"/>
              </a:avLst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89" name="Text Box 92"/>
            <p:cNvSpPr txBox="1">
              <a:spLocks noChangeArrowheads="1"/>
            </p:cNvSpPr>
            <p:nvPr/>
          </p:nvSpPr>
          <p:spPr bwMode="auto">
            <a:xfrm flipH="1">
              <a:off x="1915" y="3237"/>
              <a:ext cx="24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rgbClr val="0000FF"/>
                  </a:solidFill>
                </a:rPr>
                <a:t>V</a:t>
              </a:r>
            </a:p>
          </p:txBody>
        </p:sp>
      </p:grpSp>
      <p:grpSp>
        <p:nvGrpSpPr>
          <p:cNvPr id="367713" name="Group 97"/>
          <p:cNvGrpSpPr>
            <a:grpSpLocks/>
          </p:cNvGrpSpPr>
          <p:nvPr/>
        </p:nvGrpSpPr>
        <p:grpSpPr bwMode="auto">
          <a:xfrm>
            <a:off x="1363663" y="4291013"/>
            <a:ext cx="795337" cy="366712"/>
            <a:chOff x="859" y="2697"/>
            <a:chExt cx="501" cy="231"/>
          </a:xfrm>
        </p:grpSpPr>
        <p:sp>
          <p:nvSpPr>
            <p:cNvPr id="6186" name="Line 93"/>
            <p:cNvSpPr>
              <a:spLocks noChangeShapeType="1"/>
            </p:cNvSpPr>
            <p:nvPr/>
          </p:nvSpPr>
          <p:spPr bwMode="auto">
            <a:xfrm flipH="1">
              <a:off x="930" y="2715"/>
              <a:ext cx="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87" name="Text Box 94"/>
            <p:cNvSpPr txBox="1">
              <a:spLocks noChangeArrowheads="1"/>
            </p:cNvSpPr>
            <p:nvPr/>
          </p:nvSpPr>
          <p:spPr bwMode="auto">
            <a:xfrm>
              <a:off x="859" y="2697"/>
              <a:ext cx="50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/>
                <a:t>F=-qE</a:t>
              </a:r>
            </a:p>
          </p:txBody>
        </p:sp>
      </p:grpSp>
      <p:grpSp>
        <p:nvGrpSpPr>
          <p:cNvPr id="367714" name="Group 98"/>
          <p:cNvGrpSpPr>
            <a:grpSpLocks/>
          </p:cNvGrpSpPr>
          <p:nvPr/>
        </p:nvGrpSpPr>
        <p:grpSpPr bwMode="auto">
          <a:xfrm>
            <a:off x="4402138" y="4291013"/>
            <a:ext cx="700087" cy="366712"/>
            <a:chOff x="2773" y="2436"/>
            <a:chExt cx="441" cy="231"/>
          </a:xfrm>
        </p:grpSpPr>
        <p:sp>
          <p:nvSpPr>
            <p:cNvPr id="6184" name="Text Box 95"/>
            <p:cNvSpPr txBox="1">
              <a:spLocks noChangeArrowheads="1"/>
            </p:cNvSpPr>
            <p:nvPr/>
          </p:nvSpPr>
          <p:spPr bwMode="auto">
            <a:xfrm>
              <a:off x="2773" y="2436"/>
              <a:ext cx="4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/>
                <a:t>F=qE</a:t>
              </a:r>
            </a:p>
          </p:txBody>
        </p:sp>
        <p:sp>
          <p:nvSpPr>
            <p:cNvPr id="6185" name="Line 96"/>
            <p:cNvSpPr>
              <a:spLocks noChangeShapeType="1"/>
            </p:cNvSpPr>
            <p:nvPr/>
          </p:nvSpPr>
          <p:spPr bwMode="auto">
            <a:xfrm>
              <a:off x="2814" y="2439"/>
              <a:ext cx="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6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6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23 C 0.0026 -0.0037 0.01389 -0.00648 0.01997 -0.00903 C 0.02604 -0.01158 0.03073 -0.01389 0.03611 -0.01505 C 0.04149 -0.0162 0.0474 -0.01574 0.05226 -0.01574 C 0.05712 -0.01574 0.06059 -0.0169 0.0651 -0.01505 C 0.06962 -0.0132 0.07517 -0.00995 0.07899 -0.00533 C 0.08281 -0.0007 0.08663 0.00602 0.08785 0.01319 C 0.08906 0.02037 0.08854 0.03241 0.08663 0.03819 C 0.08472 0.04398 0.08142 0.04514 0.07622 0.04792 C 0.07101 0.05069 0.06302 0.0544 0.05556 0.05532 C 0.04809 0.05625 0.03715 0.05532 0.03108 0.05393 C 0.025 0.05255 0.02274 0.04954 0.01944 0.04653 C 0.01615 0.04352 0.01337 0.03981 0.01111 0.03611 C 0.00885 0.03241 0.00764 0.02847 0.00608 0.0243 C 0.00451 0.02014 0.00278 0.01528 0.00174 0.01157 C 0.00069 0.00787 -0.00365 0.00324 -0.00052 -0.00023 Z " pathEditMode="relative" ptsTypes="aaaaaaaaaaaaaaaa">
                                      <p:cBhvr>
                                        <p:cTn id="22" dur="2000" fill="hold"/>
                                        <p:tgtEl>
                                          <p:spTgt spid="3676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7 -3.7037E-7 C 0.00017 0.00254 0.00174 -0.00047 0.00556 -0.00232 C 0.00937 -0.00417 0.01736 -0.00857 0.02344 -0.01111 C 0.02951 -0.01366 0.03681 -0.01667 0.04167 -0.01783 C 0.04653 -0.01898 0.04792 -0.01783 0.05278 -0.01783 C 0.05764 -0.01783 0.0658 -0.01806 0.07118 -0.01783 C 0.07656 -0.01759 0.08003 -0.01644 0.08507 -0.01644 C 0.0901 -0.01644 0.09687 -0.0169 0.10122 -0.01852 C 0.10556 -0.02014 0.10903 -0.02199 0.11163 -0.02593 C 0.11424 -0.02986 0.1158 -0.03727 0.11667 -0.04167 C 0.11753 -0.04607 0.11753 -0.04815 0.11667 -0.05278 C 0.1158 -0.05741 0.11319 -0.06551 0.11163 -0.06898 C 0.11007 -0.07246 0.11024 -0.07107 0.10729 -0.07338 C 0.10434 -0.0757 0.09774 -0.08102 0.09392 -0.0831 C 0.0901 -0.08519 0.08941 -0.08519 0.08455 -0.08611 C 0.07969 -0.08704 0.07049 -0.08843 0.06441 -0.08889 C 0.05833 -0.08935 0.05312 -0.08935 0.04774 -0.0882 C 0.04236 -0.08704 0.03663 -0.08542 0.03229 -0.08241 C 0.02795 -0.0794 0.02552 -0.07547 0.02222 -0.07037 C 0.01892 -0.06528 0.01528 -0.05741 0.01285 -0.05116 C 0.01042 -0.04491 0.00868 -0.0382 0.00729 -0.03264 C 0.0059 -0.02709 0.00503 -0.02292 0.00399 -0.01783 C 0.00295 -0.01273 -0.00017 -0.00255 2.77778E-7 -3.7037E-7 Z " pathEditMode="relative" ptsTypes="aaaaaaaaaaaaaaaaaaaaaaa">
                                      <p:cBhvr>
                                        <p:cTn id="24" dur="2000" fill="hold"/>
                                        <p:tgtEl>
                                          <p:spTgt spid="3676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7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 -0.00648 C -0.01216 -0.01065 -0.02015 -0.01458 -0.02778 -0.01921 C -0.03542 -0.02384 -0.04358 -0.0287 -0.05001 -0.03472 C -0.05643 -0.04074 -0.0606 -0.05093 -0.06667 -0.05555 C -0.07275 -0.06018 -0.07865 -0.06157 -0.08681 -0.06296 C -0.09497 -0.06435 -0.10903 -0.06643 -0.11615 -0.06435 C -0.12327 -0.06227 -0.12709 -0.05555 -0.13004 -0.05023 C -0.13299 -0.04491 -0.13508 -0.03796 -0.13403 -0.03171 C -0.13299 -0.02546 -0.12831 -0.01643 -0.12397 -0.0125 C -0.11963 -0.00856 -0.11355 -0.00833 -0.10782 -0.00741 C -0.10209 -0.00648 -0.09619 -0.00648 -0.08959 -0.00741 C -0.08299 -0.00833 -0.07518 -0.01157 -0.06789 -0.0125 C -0.0606 -0.01343 -0.05261 -0.01319 -0.04619 -0.01319 C -0.03976 -0.01319 -0.03438 -0.01366 -0.029 -0.0125 C -0.02362 -0.01134 -0.01876 -0.00856 -0.0139 -0.00648 C -0.00903 -0.0044 -0.00278 -0.00116 -5.83333E-6 1.11111E-6 " pathEditMode="relative" ptsTypes="aaaaaaaaaaaaaaaA">
                                      <p:cBhvr>
                                        <p:cTn id="31" dur="2000" fill="hold"/>
                                        <p:tgtEl>
                                          <p:spTgt spid="3676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51 0.01111 C -0.00851 0.02268 -0.01737 0.03426 -0.0257 0.04074 C -0.03403 0.04722 -0.04167 0.04907 -0.04949 0.05046 C -0.0573 0.05185 -0.06563 0.05092 -0.07292 0.04884 C -0.08022 0.04676 -0.08803 0.04259 -0.09289 0.03773 C -0.09775 0.03287 -0.1007 0.02592 -0.10226 0.01921 C -0.10383 0.0125 -0.10365 0.00393 -0.10226 -0.00232 C -0.10088 -0.00857 -0.0974 -0.01435 -0.09393 -0.01783 C -0.09046 -0.0213 -0.08699 -0.02269 -0.08126 -0.02361 C -0.07553 -0.02454 -0.06598 -0.02431 -0.05956 -0.02292 C -0.05313 -0.02153 -0.04914 -0.01736 -0.04289 -0.01482 C -0.03664 -0.01227 -0.02935 -0.00995 -0.02223 -0.00741 C -0.01511 -0.00486 -0.004 -0.00139 -5.83333E-6 -1.11111E-6 " pathEditMode="relative" ptsTypes="aaaaaaaaaaaaA">
                                      <p:cBhvr>
                                        <p:cTn id="33" dur="2000" fill="hold"/>
                                        <p:tgtEl>
                                          <p:spTgt spid="3676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71" grpId="0" animBg="1"/>
      <p:bldP spid="367674" grpId="0" animBg="1"/>
      <p:bldP spid="367687" grpId="0" animBg="1"/>
      <p:bldP spid="36768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1139825" y="3316288"/>
            <a:ext cx="1435100" cy="2193925"/>
          </a:xfrm>
          <a:custGeom>
            <a:avLst/>
            <a:gdLst>
              <a:gd name="T0" fmla="*/ 306779 w 1932"/>
              <a:gd name="T1" fmla="*/ 0 h 2019"/>
              <a:gd name="T2" fmla="*/ 1435100 w 1932"/>
              <a:gd name="T3" fmla="*/ 0 h 2019"/>
              <a:gd name="T4" fmla="*/ 1435100 w 1932"/>
              <a:gd name="T5" fmla="*/ 2193925 h 2019"/>
              <a:gd name="T6" fmla="*/ 0 w 1932"/>
              <a:gd name="T7" fmla="*/ 2193925 h 2019"/>
              <a:gd name="T8" fmla="*/ 109935 w 1932"/>
              <a:gd name="T9" fmla="*/ 1939651 h 2019"/>
              <a:gd name="T10" fmla="*/ 259982 w 1932"/>
              <a:gd name="T11" fmla="*/ 1812515 h 2019"/>
              <a:gd name="T12" fmla="*/ 340948 w 1932"/>
              <a:gd name="T13" fmla="*/ 1635392 h 2019"/>
              <a:gd name="T14" fmla="*/ 317921 w 1932"/>
              <a:gd name="T15" fmla="*/ 1321354 h 2019"/>
              <a:gd name="T16" fmla="*/ 259982 w 1932"/>
              <a:gd name="T17" fmla="*/ 1144231 h 2019"/>
              <a:gd name="T18" fmla="*/ 196843 w 1932"/>
              <a:gd name="T19" fmla="*/ 948636 h 2019"/>
              <a:gd name="T20" fmla="*/ 207986 w 1932"/>
              <a:gd name="T21" fmla="*/ 669370 h 2019"/>
              <a:gd name="T22" fmla="*/ 248840 w 1932"/>
              <a:gd name="T23" fmla="*/ 457475 h 2019"/>
              <a:gd name="T24" fmla="*/ 311978 w 1932"/>
              <a:gd name="T25" fmla="*/ 372717 h 2019"/>
              <a:gd name="T26" fmla="*/ 346890 w 1932"/>
              <a:gd name="T27" fmla="*/ 287959 h 2019"/>
              <a:gd name="T28" fmla="*/ 375860 w 1932"/>
              <a:gd name="T29" fmla="*/ 119530 h 2019"/>
              <a:gd name="T30" fmla="*/ 30677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566988" y="3317875"/>
            <a:ext cx="661987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3232150" y="3314700"/>
            <a:ext cx="730250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7174" name="Freeform 6"/>
          <p:cNvSpPr>
            <a:spLocks/>
          </p:cNvSpPr>
          <p:nvPr/>
        </p:nvSpPr>
        <p:spPr bwMode="auto">
          <a:xfrm flipH="1">
            <a:off x="3949700" y="3314700"/>
            <a:ext cx="1519238" cy="2195513"/>
          </a:xfrm>
          <a:custGeom>
            <a:avLst/>
            <a:gdLst>
              <a:gd name="T0" fmla="*/ 324765 w 1932"/>
              <a:gd name="T1" fmla="*/ 0 h 2019"/>
              <a:gd name="T2" fmla="*/ 1519238 w 1932"/>
              <a:gd name="T3" fmla="*/ 0 h 2019"/>
              <a:gd name="T4" fmla="*/ 1519238 w 1932"/>
              <a:gd name="T5" fmla="*/ 2195513 h 2019"/>
              <a:gd name="T6" fmla="*/ 0 w 1932"/>
              <a:gd name="T7" fmla="*/ 2195513 h 2019"/>
              <a:gd name="T8" fmla="*/ 116381 w 1932"/>
              <a:gd name="T9" fmla="*/ 1941055 h 2019"/>
              <a:gd name="T10" fmla="*/ 275224 w 1932"/>
              <a:gd name="T11" fmla="*/ 1813826 h 2019"/>
              <a:gd name="T12" fmla="*/ 360937 w 1932"/>
              <a:gd name="T13" fmla="*/ 1636576 h 2019"/>
              <a:gd name="T14" fmla="*/ 336560 w 1932"/>
              <a:gd name="T15" fmla="*/ 1322310 h 2019"/>
              <a:gd name="T16" fmla="*/ 275224 w 1932"/>
              <a:gd name="T17" fmla="*/ 1145060 h 2019"/>
              <a:gd name="T18" fmla="*/ 208384 w 1932"/>
              <a:gd name="T19" fmla="*/ 949323 h 2019"/>
              <a:gd name="T20" fmla="*/ 220179 w 1932"/>
              <a:gd name="T21" fmla="*/ 669854 h 2019"/>
              <a:gd name="T22" fmla="*/ 263429 w 1932"/>
              <a:gd name="T23" fmla="*/ 457806 h 2019"/>
              <a:gd name="T24" fmla="*/ 330269 w 1932"/>
              <a:gd name="T25" fmla="*/ 372987 h 2019"/>
              <a:gd name="T26" fmla="*/ 367228 w 1932"/>
              <a:gd name="T27" fmla="*/ 288168 h 2019"/>
              <a:gd name="T28" fmla="*/ 397896 w 1932"/>
              <a:gd name="T29" fmla="*/ 119617 h 2019"/>
              <a:gd name="T30" fmla="*/ 324765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7175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7176" name="Group 13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7251" name="Picture 1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52" name="Text Box 1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77" name="Group 16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7249" name="Picture 1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50" name="Text Box 1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78" name="Group 19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7247" name="Picture 2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48" name="Text Box 2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79" name="Group 22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7245" name="Picture 23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46" name="Text Box 24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80" name="Group 25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7243" name="Picture 26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44" name="Text Box 27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1" name="Group 28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7241" name="Picture 2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42" name="Text Box 30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2" name="Group 31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7239" name="Picture 32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40" name="Text Box 33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3" name="Group 34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7237" name="Picture 3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38" name="Text Box 36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4" name="Group 37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7235" name="Picture 38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36" name="Text Box 39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5" name="Group 40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7233" name="Picture 4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34" name="Text Box 42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6" name="Group 43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7231" name="Picture 44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32" name="Text Box 45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7187" name="Group 46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7229" name="Picture 4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30" name="Text Box 48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sp>
        <p:nvSpPr>
          <p:cNvPr id="7188" name="Oval 49"/>
          <p:cNvSpPr>
            <a:spLocks noChangeArrowheads="1"/>
          </p:cNvSpPr>
          <p:nvPr/>
        </p:nvSpPr>
        <p:spPr bwMode="auto">
          <a:xfrm>
            <a:off x="2381250" y="34448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89" name="Oval 50"/>
          <p:cNvSpPr>
            <a:spLocks noChangeArrowheads="1"/>
          </p:cNvSpPr>
          <p:nvPr/>
        </p:nvSpPr>
        <p:spPr bwMode="auto">
          <a:xfrm>
            <a:off x="2381250" y="39798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90" name="Oval 51"/>
          <p:cNvSpPr>
            <a:spLocks noChangeArrowheads="1"/>
          </p:cNvSpPr>
          <p:nvPr/>
        </p:nvSpPr>
        <p:spPr bwMode="auto">
          <a:xfrm>
            <a:off x="2381250" y="51054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91" name="Oval 52"/>
          <p:cNvSpPr>
            <a:spLocks noChangeArrowheads="1"/>
          </p:cNvSpPr>
          <p:nvPr/>
        </p:nvSpPr>
        <p:spPr bwMode="auto">
          <a:xfrm>
            <a:off x="2381250" y="451485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7192" name="Group 53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7227" name="Picture 5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28" name="Text Box 5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93" name="Group 56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7225" name="Picture 5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26" name="Text Box 5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94" name="Group 59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7223" name="Picture 6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24" name="Text Box 6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7195" name="Group 62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7221" name="Picture 63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22" name="Text Box 64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sp>
        <p:nvSpPr>
          <p:cNvPr id="7196" name="Oval 65"/>
          <p:cNvSpPr>
            <a:spLocks noChangeArrowheads="1"/>
          </p:cNvSpPr>
          <p:nvPr/>
        </p:nvSpPr>
        <p:spPr bwMode="auto">
          <a:xfrm>
            <a:off x="4022725" y="399256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97" name="Oval 66"/>
          <p:cNvSpPr>
            <a:spLocks noChangeArrowheads="1"/>
          </p:cNvSpPr>
          <p:nvPr/>
        </p:nvSpPr>
        <p:spPr bwMode="auto">
          <a:xfrm>
            <a:off x="4022725" y="45656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98" name="Oval 67"/>
          <p:cNvSpPr>
            <a:spLocks noChangeArrowheads="1"/>
          </p:cNvSpPr>
          <p:nvPr/>
        </p:nvSpPr>
        <p:spPr bwMode="auto">
          <a:xfrm>
            <a:off x="4022725" y="5100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199" name="Oval 68"/>
          <p:cNvSpPr>
            <a:spLocks noChangeArrowheads="1"/>
          </p:cNvSpPr>
          <p:nvPr/>
        </p:nvSpPr>
        <p:spPr bwMode="auto">
          <a:xfrm>
            <a:off x="4022725" y="34242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7200" name="Text Box 75"/>
          <p:cNvSpPr txBox="1">
            <a:spLocks noChangeArrowheads="1"/>
          </p:cNvSpPr>
          <p:nvPr/>
        </p:nvSpPr>
        <p:spPr bwMode="auto">
          <a:xfrm>
            <a:off x="1116013" y="2022475"/>
            <a:ext cx="74914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On polarise la jonction en direct et on fait varier la tension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369755" name="Text Box 91"/>
          <p:cNvSpPr txBox="1">
            <a:spLocks noChangeArrowheads="1"/>
          </p:cNvSpPr>
          <p:nvPr/>
        </p:nvSpPr>
        <p:spPr bwMode="auto">
          <a:xfrm>
            <a:off x="2460625" y="6280150"/>
            <a:ext cx="1462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0 V – 0.5 V</a:t>
            </a:r>
          </a:p>
        </p:txBody>
      </p:sp>
      <p:grpSp>
        <p:nvGrpSpPr>
          <p:cNvPr id="369768" name="Group 104"/>
          <p:cNvGrpSpPr>
            <a:grpSpLocks/>
          </p:cNvGrpSpPr>
          <p:nvPr/>
        </p:nvGrpSpPr>
        <p:grpSpPr bwMode="auto">
          <a:xfrm>
            <a:off x="1019175" y="4581525"/>
            <a:ext cx="4951413" cy="2033588"/>
            <a:chOff x="642" y="2886"/>
            <a:chExt cx="3119" cy="1281"/>
          </a:xfrm>
        </p:grpSpPr>
        <p:sp>
          <p:nvSpPr>
            <p:cNvPr id="7215" name="Freeform 88"/>
            <p:cNvSpPr>
              <a:spLocks/>
            </p:cNvSpPr>
            <p:nvPr/>
          </p:nvSpPr>
          <p:spPr bwMode="auto">
            <a:xfrm>
              <a:off x="642" y="2886"/>
              <a:ext cx="942" cy="1079"/>
            </a:xfrm>
            <a:custGeom>
              <a:avLst/>
              <a:gdLst>
                <a:gd name="T0" fmla="*/ 260 w 942"/>
                <a:gd name="T1" fmla="*/ 0 h 1079"/>
                <a:gd name="T2" fmla="*/ 0 w 942"/>
                <a:gd name="T3" fmla="*/ 0 h 1079"/>
                <a:gd name="T4" fmla="*/ 0 w 942"/>
                <a:gd name="T5" fmla="*/ 1076 h 1079"/>
                <a:gd name="T6" fmla="*/ 942 w 942"/>
                <a:gd name="T7" fmla="*/ 1079 h 10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2" h="1079">
                  <a:moveTo>
                    <a:pt x="260" y="0"/>
                  </a:moveTo>
                  <a:lnTo>
                    <a:pt x="0" y="0"/>
                  </a:lnTo>
                  <a:lnTo>
                    <a:pt x="0" y="1076"/>
                  </a:lnTo>
                  <a:lnTo>
                    <a:pt x="942" y="1079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16" name="Freeform 89"/>
            <p:cNvSpPr>
              <a:spLocks/>
            </p:cNvSpPr>
            <p:nvPr/>
          </p:nvSpPr>
          <p:spPr bwMode="auto">
            <a:xfrm>
              <a:off x="2482" y="2892"/>
              <a:ext cx="1279" cy="1070"/>
            </a:xfrm>
            <a:custGeom>
              <a:avLst/>
              <a:gdLst>
                <a:gd name="T0" fmla="*/ 839 w 1279"/>
                <a:gd name="T1" fmla="*/ 1 h 1070"/>
                <a:gd name="T2" fmla="*/ 1279 w 1279"/>
                <a:gd name="T3" fmla="*/ 0 h 1070"/>
                <a:gd name="T4" fmla="*/ 1279 w 1279"/>
                <a:gd name="T5" fmla="*/ 1070 h 1070"/>
                <a:gd name="T6" fmla="*/ 0 w 1279"/>
                <a:gd name="T7" fmla="*/ 1068 h 10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9" h="1070">
                  <a:moveTo>
                    <a:pt x="839" y="1"/>
                  </a:moveTo>
                  <a:lnTo>
                    <a:pt x="1279" y="0"/>
                  </a:lnTo>
                  <a:lnTo>
                    <a:pt x="1279" y="1070"/>
                  </a:lnTo>
                  <a:lnTo>
                    <a:pt x="0" y="1068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17" name="Text Box 90"/>
            <p:cNvSpPr txBox="1">
              <a:spLocks noChangeArrowheads="1"/>
            </p:cNvSpPr>
            <p:nvPr/>
          </p:nvSpPr>
          <p:spPr bwMode="auto">
            <a:xfrm>
              <a:off x="2826" y="3763"/>
              <a:ext cx="935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fr-FR" altLang="fr-FR"/>
                <a:t>Polarisation </a:t>
              </a:r>
            </a:p>
            <a:p>
              <a:pPr algn="r">
                <a:spcBef>
                  <a:spcPct val="0"/>
                </a:spcBef>
              </a:pPr>
              <a:r>
                <a:rPr lang="fr-FR" altLang="fr-FR"/>
                <a:t>directe</a:t>
              </a:r>
            </a:p>
          </p:txBody>
        </p:sp>
        <p:sp>
          <p:nvSpPr>
            <p:cNvPr id="7218" name="Rectangle 92"/>
            <p:cNvSpPr>
              <a:spLocks noChangeArrowheads="1"/>
            </p:cNvSpPr>
            <p:nvPr/>
          </p:nvSpPr>
          <p:spPr bwMode="auto">
            <a:xfrm>
              <a:off x="2391" y="3661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800" b="1"/>
                <a:t>+</a:t>
              </a:r>
            </a:p>
          </p:txBody>
        </p:sp>
        <p:sp>
          <p:nvSpPr>
            <p:cNvPr id="7219" name="Rectangle 93"/>
            <p:cNvSpPr>
              <a:spLocks noChangeArrowheads="1"/>
            </p:cNvSpPr>
            <p:nvPr/>
          </p:nvSpPr>
          <p:spPr bwMode="auto">
            <a:xfrm>
              <a:off x="1445" y="3661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800" b="1"/>
                <a:t>-</a:t>
              </a:r>
            </a:p>
          </p:txBody>
        </p:sp>
        <p:pic>
          <p:nvPicPr>
            <p:cNvPr id="7220" name="Picture 96" descr="vpol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554" y="35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69778" name="Group 114"/>
          <p:cNvGrpSpPr>
            <a:grpSpLocks/>
          </p:cNvGrpSpPr>
          <p:nvPr/>
        </p:nvGrpSpPr>
        <p:grpSpPr bwMode="auto">
          <a:xfrm>
            <a:off x="6081713" y="2968625"/>
            <a:ext cx="2624137" cy="1257300"/>
            <a:chOff x="3881" y="1870"/>
            <a:chExt cx="1653" cy="792"/>
          </a:xfrm>
        </p:grpSpPr>
        <p:sp>
          <p:nvSpPr>
            <p:cNvPr id="7213" name="Rectangle 101"/>
            <p:cNvSpPr>
              <a:spLocks noChangeArrowheads="1"/>
            </p:cNvSpPr>
            <p:nvPr/>
          </p:nvSpPr>
          <p:spPr bwMode="auto">
            <a:xfrm>
              <a:off x="3894" y="1870"/>
              <a:ext cx="1640" cy="79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7214" name="Text Box 102"/>
            <p:cNvSpPr txBox="1">
              <a:spLocks noChangeArrowheads="1"/>
            </p:cNvSpPr>
            <p:nvPr/>
          </p:nvSpPr>
          <p:spPr bwMode="auto">
            <a:xfrm>
              <a:off x="3881" y="1962"/>
              <a:ext cx="1621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Pour une </a:t>
              </a:r>
              <a:r>
                <a:rPr lang="fr-FR" altLang="fr-FR" sz="2000">
                  <a:solidFill>
                    <a:srgbClr val="FF3300"/>
                  </a:solidFill>
                </a:rPr>
                <a:t>tension faible</a:t>
              </a:r>
              <a:r>
                <a:rPr lang="fr-FR" altLang="fr-FR"/>
                <a:t> (&lt; 0.5 V), </a:t>
              </a:r>
              <a:r>
                <a:rPr lang="fr-FR" altLang="fr-FR" sz="2000">
                  <a:solidFill>
                    <a:srgbClr val="FF3300"/>
                  </a:solidFill>
                </a:rPr>
                <a:t>rien ne se passe</a:t>
              </a:r>
            </a:p>
          </p:txBody>
        </p:sp>
      </p:grpSp>
      <p:sp>
        <p:nvSpPr>
          <p:cNvPr id="369769" name="Line 105"/>
          <p:cNvSpPr>
            <a:spLocks noChangeShapeType="1"/>
          </p:cNvSpPr>
          <p:nvPr/>
        </p:nvSpPr>
        <p:spPr bwMode="auto">
          <a:xfrm flipH="1" flipV="1">
            <a:off x="2862263" y="5862638"/>
            <a:ext cx="52387" cy="650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9770" name="Line 106"/>
          <p:cNvSpPr>
            <a:spLocks noChangeShapeType="1"/>
          </p:cNvSpPr>
          <p:nvPr/>
        </p:nvSpPr>
        <p:spPr bwMode="auto">
          <a:xfrm flipH="1" flipV="1">
            <a:off x="2894013" y="5840413"/>
            <a:ext cx="46037" cy="7143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9771" name="Line 107"/>
          <p:cNvSpPr>
            <a:spLocks noChangeShapeType="1"/>
          </p:cNvSpPr>
          <p:nvPr/>
        </p:nvSpPr>
        <p:spPr bwMode="auto">
          <a:xfrm flipH="1" flipV="1">
            <a:off x="2924175" y="5815013"/>
            <a:ext cx="41275" cy="7461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9772" name="Line 108"/>
          <p:cNvSpPr>
            <a:spLocks noChangeShapeType="1"/>
          </p:cNvSpPr>
          <p:nvPr/>
        </p:nvSpPr>
        <p:spPr bwMode="auto">
          <a:xfrm flipH="1" flipV="1">
            <a:off x="2951163" y="5795963"/>
            <a:ext cx="41275" cy="777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9773" name="Line 109"/>
          <p:cNvSpPr>
            <a:spLocks noChangeShapeType="1"/>
          </p:cNvSpPr>
          <p:nvPr/>
        </p:nvSpPr>
        <p:spPr bwMode="auto">
          <a:xfrm flipH="1" flipV="1">
            <a:off x="2981325" y="5781675"/>
            <a:ext cx="38100" cy="793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9774" name="Line 110"/>
          <p:cNvSpPr>
            <a:spLocks noChangeShapeType="1"/>
          </p:cNvSpPr>
          <p:nvPr/>
        </p:nvSpPr>
        <p:spPr bwMode="auto">
          <a:xfrm flipH="1" flipV="1">
            <a:off x="3014663" y="5768975"/>
            <a:ext cx="33337" cy="809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grpSp>
        <p:nvGrpSpPr>
          <p:cNvPr id="369779" name="Group 115"/>
          <p:cNvGrpSpPr>
            <a:grpSpLocks/>
          </p:cNvGrpSpPr>
          <p:nvPr/>
        </p:nvGrpSpPr>
        <p:grpSpPr bwMode="auto">
          <a:xfrm>
            <a:off x="6081713" y="4791075"/>
            <a:ext cx="2624137" cy="1257300"/>
            <a:chOff x="3881" y="3018"/>
            <a:chExt cx="1653" cy="792"/>
          </a:xfrm>
        </p:grpSpPr>
        <p:sp>
          <p:nvSpPr>
            <p:cNvPr id="7211" name="Rectangle 113"/>
            <p:cNvSpPr>
              <a:spLocks noChangeArrowheads="1"/>
            </p:cNvSpPr>
            <p:nvPr/>
          </p:nvSpPr>
          <p:spPr bwMode="auto">
            <a:xfrm>
              <a:off x="3894" y="3018"/>
              <a:ext cx="1640" cy="79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7212" name="Text Box 112"/>
            <p:cNvSpPr txBox="1">
              <a:spLocks noChangeArrowheads="1"/>
            </p:cNvSpPr>
            <p:nvPr/>
          </p:nvSpPr>
          <p:spPr bwMode="auto">
            <a:xfrm>
              <a:off x="3881" y="3052"/>
              <a:ext cx="1397" cy="7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Pour </a:t>
              </a:r>
              <a:r>
                <a:rPr lang="fr-FR" altLang="fr-FR" sz="2000">
                  <a:solidFill>
                    <a:srgbClr val="FF3300"/>
                  </a:solidFill>
                </a:rPr>
                <a:t>Vpol &gt; 0.6v</a:t>
              </a:r>
              <a:r>
                <a:rPr lang="fr-FR" altLang="fr-FR"/>
                <a:t>, il y a </a:t>
              </a:r>
              <a:r>
                <a:rPr lang="fr-FR" altLang="fr-FR" sz="2000">
                  <a:solidFill>
                    <a:srgbClr val="FF3300"/>
                  </a:solidFill>
                </a:rPr>
                <a:t>conduction</a:t>
              </a:r>
            </a:p>
            <a:p>
              <a:r>
                <a:rPr lang="fr-FR" altLang="fr-FR"/>
                <a:t>Pourquoi 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6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6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6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6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755" grpId="0"/>
      <p:bldP spid="369769" grpId="0" animBg="1"/>
      <p:bldP spid="369770" grpId="0" animBg="1"/>
      <p:bldP spid="369771" grpId="0" animBg="1"/>
      <p:bldP spid="369772" grpId="0" animBg="1"/>
      <p:bldP spid="369773" grpId="0" animBg="1"/>
      <p:bldP spid="36977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8195" name="Freeform 3"/>
          <p:cNvSpPr>
            <a:spLocks/>
          </p:cNvSpPr>
          <p:nvPr/>
        </p:nvSpPr>
        <p:spPr bwMode="auto">
          <a:xfrm>
            <a:off x="1139825" y="3316288"/>
            <a:ext cx="1435100" cy="2193925"/>
          </a:xfrm>
          <a:custGeom>
            <a:avLst/>
            <a:gdLst>
              <a:gd name="T0" fmla="*/ 306779 w 1932"/>
              <a:gd name="T1" fmla="*/ 0 h 2019"/>
              <a:gd name="T2" fmla="*/ 1435100 w 1932"/>
              <a:gd name="T3" fmla="*/ 0 h 2019"/>
              <a:gd name="T4" fmla="*/ 1435100 w 1932"/>
              <a:gd name="T5" fmla="*/ 2193925 h 2019"/>
              <a:gd name="T6" fmla="*/ 0 w 1932"/>
              <a:gd name="T7" fmla="*/ 2193925 h 2019"/>
              <a:gd name="T8" fmla="*/ 109935 w 1932"/>
              <a:gd name="T9" fmla="*/ 1939651 h 2019"/>
              <a:gd name="T10" fmla="*/ 259982 w 1932"/>
              <a:gd name="T11" fmla="*/ 1812515 h 2019"/>
              <a:gd name="T12" fmla="*/ 340948 w 1932"/>
              <a:gd name="T13" fmla="*/ 1635392 h 2019"/>
              <a:gd name="T14" fmla="*/ 317921 w 1932"/>
              <a:gd name="T15" fmla="*/ 1321354 h 2019"/>
              <a:gd name="T16" fmla="*/ 259982 w 1932"/>
              <a:gd name="T17" fmla="*/ 1144231 h 2019"/>
              <a:gd name="T18" fmla="*/ 196843 w 1932"/>
              <a:gd name="T19" fmla="*/ 948636 h 2019"/>
              <a:gd name="T20" fmla="*/ 207986 w 1932"/>
              <a:gd name="T21" fmla="*/ 669370 h 2019"/>
              <a:gd name="T22" fmla="*/ 248840 w 1932"/>
              <a:gd name="T23" fmla="*/ 457475 h 2019"/>
              <a:gd name="T24" fmla="*/ 311978 w 1932"/>
              <a:gd name="T25" fmla="*/ 372717 h 2019"/>
              <a:gd name="T26" fmla="*/ 346890 w 1932"/>
              <a:gd name="T27" fmla="*/ 287959 h 2019"/>
              <a:gd name="T28" fmla="*/ 375860 w 1932"/>
              <a:gd name="T29" fmla="*/ 119530 h 2019"/>
              <a:gd name="T30" fmla="*/ 30677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1802" name="Rectangle 90"/>
          <p:cNvSpPr>
            <a:spLocks noChangeArrowheads="1"/>
          </p:cNvSpPr>
          <p:nvPr/>
        </p:nvSpPr>
        <p:spPr bwMode="auto">
          <a:xfrm>
            <a:off x="2566988" y="3317875"/>
            <a:ext cx="412750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2978150" y="3317875"/>
            <a:ext cx="250825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1803" name="Rectangle 91"/>
          <p:cNvSpPr>
            <a:spLocks noChangeArrowheads="1"/>
          </p:cNvSpPr>
          <p:nvPr/>
        </p:nvSpPr>
        <p:spPr bwMode="auto">
          <a:xfrm>
            <a:off x="3227388" y="3317875"/>
            <a:ext cx="477837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1717" name="Rectangle 5"/>
          <p:cNvSpPr>
            <a:spLocks noChangeArrowheads="1"/>
          </p:cNvSpPr>
          <p:nvPr/>
        </p:nvSpPr>
        <p:spPr bwMode="auto">
          <a:xfrm>
            <a:off x="3484563" y="3314700"/>
            <a:ext cx="477837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8200" name="Freeform 6"/>
          <p:cNvSpPr>
            <a:spLocks/>
          </p:cNvSpPr>
          <p:nvPr/>
        </p:nvSpPr>
        <p:spPr bwMode="auto">
          <a:xfrm flipH="1">
            <a:off x="3949700" y="3314700"/>
            <a:ext cx="1519238" cy="2195513"/>
          </a:xfrm>
          <a:custGeom>
            <a:avLst/>
            <a:gdLst>
              <a:gd name="T0" fmla="*/ 324765 w 1932"/>
              <a:gd name="T1" fmla="*/ 0 h 2019"/>
              <a:gd name="T2" fmla="*/ 1519238 w 1932"/>
              <a:gd name="T3" fmla="*/ 0 h 2019"/>
              <a:gd name="T4" fmla="*/ 1519238 w 1932"/>
              <a:gd name="T5" fmla="*/ 2195513 h 2019"/>
              <a:gd name="T6" fmla="*/ 0 w 1932"/>
              <a:gd name="T7" fmla="*/ 2195513 h 2019"/>
              <a:gd name="T8" fmla="*/ 116381 w 1932"/>
              <a:gd name="T9" fmla="*/ 1941055 h 2019"/>
              <a:gd name="T10" fmla="*/ 275224 w 1932"/>
              <a:gd name="T11" fmla="*/ 1813826 h 2019"/>
              <a:gd name="T12" fmla="*/ 360937 w 1932"/>
              <a:gd name="T13" fmla="*/ 1636576 h 2019"/>
              <a:gd name="T14" fmla="*/ 336560 w 1932"/>
              <a:gd name="T15" fmla="*/ 1322310 h 2019"/>
              <a:gd name="T16" fmla="*/ 275224 w 1932"/>
              <a:gd name="T17" fmla="*/ 1145060 h 2019"/>
              <a:gd name="T18" fmla="*/ 208384 w 1932"/>
              <a:gd name="T19" fmla="*/ 949323 h 2019"/>
              <a:gd name="T20" fmla="*/ 220179 w 1932"/>
              <a:gd name="T21" fmla="*/ 669854 h 2019"/>
              <a:gd name="T22" fmla="*/ 263429 w 1932"/>
              <a:gd name="T23" fmla="*/ 457806 h 2019"/>
              <a:gd name="T24" fmla="*/ 330269 w 1932"/>
              <a:gd name="T25" fmla="*/ 372987 h 2019"/>
              <a:gd name="T26" fmla="*/ 367228 w 1932"/>
              <a:gd name="T27" fmla="*/ 288168 h 2019"/>
              <a:gd name="T28" fmla="*/ 397896 w 1932"/>
              <a:gd name="T29" fmla="*/ 119617 h 2019"/>
              <a:gd name="T30" fmla="*/ 324765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8202" name="Group 10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8283" name="Picture 1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84" name="Text Box 1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03" name="Group 13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8281" name="Picture 1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82" name="Text Box 1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04" name="Group 16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8279" name="Picture 1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80" name="Text Box 1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05" name="Group 19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8277" name="Picture 2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78" name="Text Box 2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06" name="Group 22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8275" name="Picture 2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76" name="Text Box 2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07" name="Group 25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8273" name="Picture 26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74" name="Text Box 27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08" name="Group 28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8271" name="Picture 2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72" name="Text Box 30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09" name="Group 31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8269" name="Picture 32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70" name="Text Box 33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10" name="Group 34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8267" name="Picture 3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68" name="Text Box 36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11" name="Group 37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8265" name="Picture 38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66" name="Text Box 39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12" name="Group 40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8263" name="Picture 4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64" name="Text Box 42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13" name="Group 43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8261" name="Picture 44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62" name="Text Box 45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8214" name="Group 93"/>
          <p:cNvGrpSpPr>
            <a:grpSpLocks/>
          </p:cNvGrpSpPr>
          <p:nvPr/>
        </p:nvGrpSpPr>
        <p:grpSpPr bwMode="auto">
          <a:xfrm>
            <a:off x="2381250" y="3444875"/>
            <a:ext cx="74613" cy="1735138"/>
            <a:chOff x="1500" y="2170"/>
            <a:chExt cx="47" cy="1093"/>
          </a:xfrm>
        </p:grpSpPr>
        <p:sp>
          <p:nvSpPr>
            <p:cNvPr id="8257" name="Oval 46"/>
            <p:cNvSpPr>
              <a:spLocks noChangeArrowheads="1"/>
            </p:cNvSpPr>
            <p:nvPr/>
          </p:nvSpPr>
          <p:spPr bwMode="auto">
            <a:xfrm>
              <a:off x="1500" y="217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58" name="Oval 47"/>
            <p:cNvSpPr>
              <a:spLocks noChangeArrowheads="1"/>
            </p:cNvSpPr>
            <p:nvPr/>
          </p:nvSpPr>
          <p:spPr bwMode="auto">
            <a:xfrm>
              <a:off x="1500" y="250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59" name="Oval 48"/>
            <p:cNvSpPr>
              <a:spLocks noChangeArrowheads="1"/>
            </p:cNvSpPr>
            <p:nvPr/>
          </p:nvSpPr>
          <p:spPr bwMode="auto">
            <a:xfrm>
              <a:off x="1500" y="3216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60" name="Oval 49"/>
            <p:cNvSpPr>
              <a:spLocks noChangeArrowheads="1"/>
            </p:cNvSpPr>
            <p:nvPr/>
          </p:nvSpPr>
          <p:spPr bwMode="auto">
            <a:xfrm>
              <a:off x="1500" y="284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8215" name="Group 50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8255" name="Picture 5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56" name="Text Box 5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16" name="Group 53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8253" name="Picture 5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54" name="Text Box 5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17" name="Group 56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8251" name="Picture 5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52" name="Text Box 5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18" name="Group 59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8249" name="Picture 6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50" name="Text Box 6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8219" name="Group 99"/>
          <p:cNvGrpSpPr>
            <a:grpSpLocks/>
          </p:cNvGrpSpPr>
          <p:nvPr/>
        </p:nvGrpSpPr>
        <p:grpSpPr bwMode="auto">
          <a:xfrm>
            <a:off x="4022725" y="3424238"/>
            <a:ext cx="112713" cy="1787525"/>
            <a:chOff x="2534" y="2157"/>
            <a:chExt cx="71" cy="1126"/>
          </a:xfrm>
        </p:grpSpPr>
        <p:sp>
          <p:nvSpPr>
            <p:cNvPr id="8245" name="Oval 62"/>
            <p:cNvSpPr>
              <a:spLocks noChangeArrowheads="1"/>
            </p:cNvSpPr>
            <p:nvPr/>
          </p:nvSpPr>
          <p:spPr bwMode="auto">
            <a:xfrm>
              <a:off x="2534" y="2515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46" name="Oval 63"/>
            <p:cNvSpPr>
              <a:spLocks noChangeArrowheads="1"/>
            </p:cNvSpPr>
            <p:nvPr/>
          </p:nvSpPr>
          <p:spPr bwMode="auto">
            <a:xfrm>
              <a:off x="2534" y="2876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47" name="Oval 64"/>
            <p:cNvSpPr>
              <a:spLocks noChangeArrowheads="1"/>
            </p:cNvSpPr>
            <p:nvPr/>
          </p:nvSpPr>
          <p:spPr bwMode="auto">
            <a:xfrm>
              <a:off x="2534" y="321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48" name="Oval 65"/>
            <p:cNvSpPr>
              <a:spLocks noChangeArrowheads="1"/>
            </p:cNvSpPr>
            <p:nvPr/>
          </p:nvSpPr>
          <p:spPr bwMode="auto">
            <a:xfrm>
              <a:off x="2534" y="2157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220" name="Text Box 66"/>
          <p:cNvSpPr txBox="1">
            <a:spLocks noChangeArrowheads="1"/>
          </p:cNvSpPr>
          <p:nvPr/>
        </p:nvSpPr>
        <p:spPr bwMode="auto">
          <a:xfrm>
            <a:off x="1116013" y="1992313"/>
            <a:ext cx="7491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Pour une tension de polarisation </a:t>
            </a:r>
            <a:r>
              <a:rPr lang="fr-FR" altLang="fr-FR" sz="2400">
                <a:solidFill>
                  <a:srgbClr val="FF3300"/>
                </a:solidFill>
              </a:rPr>
              <a:t>inférieure</a:t>
            </a:r>
            <a:r>
              <a:rPr lang="fr-FR" altLang="fr-FR" sz="2000"/>
              <a:t> à 0.6 V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8221" name="Text Box 67"/>
          <p:cNvSpPr txBox="1">
            <a:spLocks noChangeArrowheads="1"/>
          </p:cNvSpPr>
          <p:nvPr/>
        </p:nvSpPr>
        <p:spPr bwMode="auto">
          <a:xfrm>
            <a:off x="2460625" y="6280150"/>
            <a:ext cx="1462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0 V – 0.5 V</a:t>
            </a:r>
          </a:p>
        </p:txBody>
      </p:sp>
      <p:grpSp>
        <p:nvGrpSpPr>
          <p:cNvPr id="8222" name="Group 68"/>
          <p:cNvGrpSpPr>
            <a:grpSpLocks/>
          </p:cNvGrpSpPr>
          <p:nvPr/>
        </p:nvGrpSpPr>
        <p:grpSpPr bwMode="auto">
          <a:xfrm>
            <a:off x="1019175" y="4581525"/>
            <a:ext cx="4951413" cy="2033588"/>
            <a:chOff x="642" y="2886"/>
            <a:chExt cx="3119" cy="1281"/>
          </a:xfrm>
        </p:grpSpPr>
        <p:sp>
          <p:nvSpPr>
            <p:cNvPr id="8239" name="Freeform 69"/>
            <p:cNvSpPr>
              <a:spLocks/>
            </p:cNvSpPr>
            <p:nvPr/>
          </p:nvSpPr>
          <p:spPr bwMode="auto">
            <a:xfrm>
              <a:off x="642" y="2886"/>
              <a:ext cx="942" cy="1079"/>
            </a:xfrm>
            <a:custGeom>
              <a:avLst/>
              <a:gdLst>
                <a:gd name="T0" fmla="*/ 260 w 942"/>
                <a:gd name="T1" fmla="*/ 0 h 1079"/>
                <a:gd name="T2" fmla="*/ 0 w 942"/>
                <a:gd name="T3" fmla="*/ 0 h 1079"/>
                <a:gd name="T4" fmla="*/ 0 w 942"/>
                <a:gd name="T5" fmla="*/ 1076 h 1079"/>
                <a:gd name="T6" fmla="*/ 942 w 942"/>
                <a:gd name="T7" fmla="*/ 1079 h 10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2" h="1079">
                  <a:moveTo>
                    <a:pt x="260" y="0"/>
                  </a:moveTo>
                  <a:lnTo>
                    <a:pt x="0" y="0"/>
                  </a:lnTo>
                  <a:lnTo>
                    <a:pt x="0" y="1076"/>
                  </a:lnTo>
                  <a:lnTo>
                    <a:pt x="942" y="1079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40" name="Freeform 70"/>
            <p:cNvSpPr>
              <a:spLocks/>
            </p:cNvSpPr>
            <p:nvPr/>
          </p:nvSpPr>
          <p:spPr bwMode="auto">
            <a:xfrm>
              <a:off x="2482" y="2892"/>
              <a:ext cx="1279" cy="1070"/>
            </a:xfrm>
            <a:custGeom>
              <a:avLst/>
              <a:gdLst>
                <a:gd name="T0" fmla="*/ 839 w 1279"/>
                <a:gd name="T1" fmla="*/ 1 h 1070"/>
                <a:gd name="T2" fmla="*/ 1279 w 1279"/>
                <a:gd name="T3" fmla="*/ 0 h 1070"/>
                <a:gd name="T4" fmla="*/ 1279 w 1279"/>
                <a:gd name="T5" fmla="*/ 1070 h 1070"/>
                <a:gd name="T6" fmla="*/ 0 w 1279"/>
                <a:gd name="T7" fmla="*/ 1068 h 10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9" h="1070">
                  <a:moveTo>
                    <a:pt x="839" y="1"/>
                  </a:moveTo>
                  <a:lnTo>
                    <a:pt x="1279" y="0"/>
                  </a:lnTo>
                  <a:lnTo>
                    <a:pt x="1279" y="1070"/>
                  </a:lnTo>
                  <a:lnTo>
                    <a:pt x="0" y="1068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41" name="Text Box 71"/>
            <p:cNvSpPr txBox="1">
              <a:spLocks noChangeArrowheads="1"/>
            </p:cNvSpPr>
            <p:nvPr/>
          </p:nvSpPr>
          <p:spPr bwMode="auto">
            <a:xfrm>
              <a:off x="2826" y="3763"/>
              <a:ext cx="935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fr-FR" altLang="fr-FR"/>
                <a:t>Polarisation </a:t>
              </a:r>
            </a:p>
            <a:p>
              <a:pPr algn="r">
                <a:spcBef>
                  <a:spcPct val="0"/>
                </a:spcBef>
              </a:pPr>
              <a:r>
                <a:rPr lang="fr-FR" altLang="fr-FR"/>
                <a:t>directe</a:t>
              </a:r>
            </a:p>
          </p:txBody>
        </p:sp>
        <p:sp>
          <p:nvSpPr>
            <p:cNvPr id="8242" name="Rectangle 72"/>
            <p:cNvSpPr>
              <a:spLocks noChangeArrowheads="1"/>
            </p:cNvSpPr>
            <p:nvPr/>
          </p:nvSpPr>
          <p:spPr bwMode="auto">
            <a:xfrm>
              <a:off x="2391" y="3661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800" b="1"/>
                <a:t>+</a:t>
              </a:r>
            </a:p>
          </p:txBody>
        </p:sp>
        <p:sp>
          <p:nvSpPr>
            <p:cNvPr id="8243" name="Rectangle 73"/>
            <p:cNvSpPr>
              <a:spLocks noChangeArrowheads="1"/>
            </p:cNvSpPr>
            <p:nvPr/>
          </p:nvSpPr>
          <p:spPr bwMode="auto">
            <a:xfrm>
              <a:off x="1445" y="3661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800" b="1"/>
                <a:t>-</a:t>
              </a:r>
            </a:p>
          </p:txBody>
        </p:sp>
        <p:pic>
          <p:nvPicPr>
            <p:cNvPr id="8244" name="Picture 74" descr="vpol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554" y="35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71801" name="Group 89"/>
          <p:cNvGrpSpPr>
            <a:grpSpLocks/>
          </p:cNvGrpSpPr>
          <p:nvPr/>
        </p:nvGrpSpPr>
        <p:grpSpPr bwMode="auto">
          <a:xfrm>
            <a:off x="6081713" y="2968625"/>
            <a:ext cx="2624137" cy="2543175"/>
            <a:chOff x="3831" y="1870"/>
            <a:chExt cx="1653" cy="1602"/>
          </a:xfrm>
        </p:grpSpPr>
        <p:sp>
          <p:nvSpPr>
            <p:cNvPr id="8237" name="Rectangle 76"/>
            <p:cNvSpPr>
              <a:spLocks noChangeArrowheads="1"/>
            </p:cNvSpPr>
            <p:nvPr/>
          </p:nvSpPr>
          <p:spPr bwMode="auto">
            <a:xfrm>
              <a:off x="3844" y="1870"/>
              <a:ext cx="1640" cy="160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8238" name="Text Box 77"/>
            <p:cNvSpPr txBox="1">
              <a:spLocks noChangeArrowheads="1"/>
            </p:cNvSpPr>
            <p:nvPr/>
          </p:nvSpPr>
          <p:spPr bwMode="auto">
            <a:xfrm>
              <a:off x="3831" y="1962"/>
              <a:ext cx="1621" cy="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La </a:t>
              </a:r>
              <a:r>
                <a:rPr lang="fr-FR" altLang="fr-FR" sz="2000">
                  <a:solidFill>
                    <a:srgbClr val="FF3300"/>
                  </a:solidFill>
                </a:rPr>
                <a:t>barrière de potentiel</a:t>
              </a:r>
              <a:r>
                <a:rPr lang="fr-FR" altLang="fr-FR"/>
                <a:t> ( V + ddp ) diminue sous l’action de la polarisation directe.</a:t>
              </a:r>
            </a:p>
          </p:txBody>
        </p:sp>
      </p:grpSp>
      <p:sp>
        <p:nvSpPr>
          <p:cNvPr id="371799" name="AutoShape 87"/>
          <p:cNvSpPr>
            <a:spLocks noChangeArrowheads="1"/>
          </p:cNvSpPr>
          <p:nvPr/>
        </p:nvSpPr>
        <p:spPr bwMode="auto">
          <a:xfrm flipH="1">
            <a:off x="2849563" y="4303713"/>
            <a:ext cx="754062" cy="273050"/>
          </a:xfrm>
          <a:prstGeom prst="rightArrow">
            <a:avLst>
              <a:gd name="adj1" fmla="val 30574"/>
              <a:gd name="adj2" fmla="val 58454"/>
            </a:avLst>
          </a:prstGeom>
          <a:solidFill>
            <a:srgbClr val="3366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1800" name="Text Box 88"/>
          <p:cNvSpPr txBox="1">
            <a:spLocks noChangeArrowheads="1"/>
          </p:cNvSpPr>
          <p:nvPr/>
        </p:nvSpPr>
        <p:spPr bwMode="auto">
          <a:xfrm>
            <a:off x="2822575" y="4778375"/>
            <a:ext cx="11620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rgbClr val="3366FF"/>
                </a:solidFill>
              </a:rPr>
              <a:t>V+ddp</a:t>
            </a:r>
          </a:p>
        </p:txBody>
      </p:sp>
      <p:sp>
        <p:nvSpPr>
          <p:cNvPr id="371804" name="Text Box 92"/>
          <p:cNvSpPr txBox="1">
            <a:spLocks noChangeArrowheads="1"/>
          </p:cNvSpPr>
          <p:nvPr/>
        </p:nvSpPr>
        <p:spPr bwMode="auto">
          <a:xfrm>
            <a:off x="6119813" y="4648200"/>
            <a:ext cx="2557462" cy="1158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2000">
                <a:solidFill>
                  <a:srgbClr val="FF3300"/>
                </a:solidFill>
              </a:rPr>
              <a:t>A V = 0.6 Volts, elle  s’annule</a:t>
            </a:r>
          </a:p>
          <a:p>
            <a:endParaRPr lang="fr-FR" altLang="fr-FR" sz="2000"/>
          </a:p>
        </p:txBody>
      </p:sp>
      <p:grpSp>
        <p:nvGrpSpPr>
          <p:cNvPr id="371806" name="Group 94"/>
          <p:cNvGrpSpPr>
            <a:grpSpLocks/>
          </p:cNvGrpSpPr>
          <p:nvPr/>
        </p:nvGrpSpPr>
        <p:grpSpPr bwMode="auto">
          <a:xfrm>
            <a:off x="3022600" y="3444875"/>
            <a:ext cx="74613" cy="1735138"/>
            <a:chOff x="1500" y="2170"/>
            <a:chExt cx="47" cy="1093"/>
          </a:xfrm>
        </p:grpSpPr>
        <p:sp>
          <p:nvSpPr>
            <p:cNvPr id="8233" name="Oval 95"/>
            <p:cNvSpPr>
              <a:spLocks noChangeArrowheads="1"/>
            </p:cNvSpPr>
            <p:nvPr/>
          </p:nvSpPr>
          <p:spPr bwMode="auto">
            <a:xfrm>
              <a:off x="1500" y="217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34" name="Oval 96"/>
            <p:cNvSpPr>
              <a:spLocks noChangeArrowheads="1"/>
            </p:cNvSpPr>
            <p:nvPr/>
          </p:nvSpPr>
          <p:spPr bwMode="auto">
            <a:xfrm>
              <a:off x="1500" y="250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35" name="Oval 97"/>
            <p:cNvSpPr>
              <a:spLocks noChangeArrowheads="1"/>
            </p:cNvSpPr>
            <p:nvPr/>
          </p:nvSpPr>
          <p:spPr bwMode="auto">
            <a:xfrm>
              <a:off x="1500" y="3216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36" name="Oval 98"/>
            <p:cNvSpPr>
              <a:spLocks noChangeArrowheads="1"/>
            </p:cNvSpPr>
            <p:nvPr/>
          </p:nvSpPr>
          <p:spPr bwMode="auto">
            <a:xfrm>
              <a:off x="1500" y="284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71812" name="Group 100"/>
          <p:cNvGrpSpPr>
            <a:grpSpLocks/>
          </p:cNvGrpSpPr>
          <p:nvPr/>
        </p:nvGrpSpPr>
        <p:grpSpPr bwMode="auto">
          <a:xfrm>
            <a:off x="3311525" y="3424238"/>
            <a:ext cx="112713" cy="1787525"/>
            <a:chOff x="2534" y="2157"/>
            <a:chExt cx="71" cy="1126"/>
          </a:xfrm>
        </p:grpSpPr>
        <p:sp>
          <p:nvSpPr>
            <p:cNvPr id="8229" name="Oval 101"/>
            <p:cNvSpPr>
              <a:spLocks noChangeArrowheads="1"/>
            </p:cNvSpPr>
            <p:nvPr/>
          </p:nvSpPr>
          <p:spPr bwMode="auto">
            <a:xfrm>
              <a:off x="2534" y="2515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30" name="Oval 102"/>
            <p:cNvSpPr>
              <a:spLocks noChangeArrowheads="1"/>
            </p:cNvSpPr>
            <p:nvPr/>
          </p:nvSpPr>
          <p:spPr bwMode="auto">
            <a:xfrm>
              <a:off x="2534" y="2876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31" name="Oval 103"/>
            <p:cNvSpPr>
              <a:spLocks noChangeArrowheads="1"/>
            </p:cNvSpPr>
            <p:nvPr/>
          </p:nvSpPr>
          <p:spPr bwMode="auto">
            <a:xfrm>
              <a:off x="2534" y="321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32" name="Oval 104"/>
            <p:cNvSpPr>
              <a:spLocks noChangeArrowheads="1"/>
            </p:cNvSpPr>
            <p:nvPr/>
          </p:nvSpPr>
          <p:spPr bwMode="auto">
            <a:xfrm>
              <a:off x="2534" y="2157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7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37179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0" fill="hold"/>
                                        <p:tgtEl>
                                          <p:spTgt spid="371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19" dur="3000" fill="hold"/>
                                        <p:tgtEl>
                                          <p:spTgt spid="371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371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30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30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7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371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371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371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371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371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7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7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99" grpId="0" animBg="1"/>
      <p:bldP spid="371799" grpId="1" animBg="1"/>
      <p:bldP spid="371799" grpId="2" animBg="1"/>
      <p:bldP spid="371800" grpId="0"/>
      <p:bldP spid="371800" grpId="1"/>
      <p:bldP spid="37180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9219" name="Freeform 3"/>
          <p:cNvSpPr>
            <a:spLocks/>
          </p:cNvSpPr>
          <p:nvPr/>
        </p:nvSpPr>
        <p:spPr bwMode="auto">
          <a:xfrm>
            <a:off x="1139825" y="3316288"/>
            <a:ext cx="2085975" cy="2200275"/>
          </a:xfrm>
          <a:custGeom>
            <a:avLst/>
            <a:gdLst>
              <a:gd name="T0" fmla="*/ 306388 w 1314"/>
              <a:gd name="T1" fmla="*/ 0 h 1386"/>
              <a:gd name="T2" fmla="*/ 2085975 w 1314"/>
              <a:gd name="T3" fmla="*/ 6350 h 1386"/>
              <a:gd name="T4" fmla="*/ 2085975 w 1314"/>
              <a:gd name="T5" fmla="*/ 2200275 h 1386"/>
              <a:gd name="T6" fmla="*/ 0 w 1314"/>
              <a:gd name="T7" fmla="*/ 2193925 h 1386"/>
              <a:gd name="T8" fmla="*/ 109538 w 1314"/>
              <a:gd name="T9" fmla="*/ 1939925 h 1386"/>
              <a:gd name="T10" fmla="*/ 260350 w 1314"/>
              <a:gd name="T11" fmla="*/ 1812925 h 1386"/>
              <a:gd name="T12" fmla="*/ 341313 w 1314"/>
              <a:gd name="T13" fmla="*/ 1635125 h 1386"/>
              <a:gd name="T14" fmla="*/ 317500 w 1314"/>
              <a:gd name="T15" fmla="*/ 1320800 h 1386"/>
              <a:gd name="T16" fmla="*/ 260350 w 1314"/>
              <a:gd name="T17" fmla="*/ 1144588 h 1386"/>
              <a:gd name="T18" fmla="*/ 196850 w 1314"/>
              <a:gd name="T19" fmla="*/ 949325 h 1386"/>
              <a:gd name="T20" fmla="*/ 207963 w 1314"/>
              <a:gd name="T21" fmla="*/ 669925 h 1386"/>
              <a:gd name="T22" fmla="*/ 249238 w 1314"/>
              <a:gd name="T23" fmla="*/ 457200 h 1386"/>
              <a:gd name="T24" fmla="*/ 312738 w 1314"/>
              <a:gd name="T25" fmla="*/ 373063 h 1386"/>
              <a:gd name="T26" fmla="*/ 347663 w 1314"/>
              <a:gd name="T27" fmla="*/ 287338 h 1386"/>
              <a:gd name="T28" fmla="*/ 376238 w 1314"/>
              <a:gd name="T29" fmla="*/ 119063 h 1386"/>
              <a:gd name="T30" fmla="*/ 306388 w 1314"/>
              <a:gd name="T31" fmla="*/ 0 h 138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314" h="1386">
                <a:moveTo>
                  <a:pt x="193" y="0"/>
                </a:moveTo>
                <a:lnTo>
                  <a:pt x="1314" y="4"/>
                </a:lnTo>
                <a:lnTo>
                  <a:pt x="1314" y="1386"/>
                </a:lnTo>
                <a:lnTo>
                  <a:pt x="0" y="1382"/>
                </a:lnTo>
                <a:cubicBezTo>
                  <a:pt x="22" y="1309"/>
                  <a:pt x="36" y="1284"/>
                  <a:pt x="69" y="1222"/>
                </a:cubicBezTo>
                <a:cubicBezTo>
                  <a:pt x="71" y="1218"/>
                  <a:pt x="158" y="1142"/>
                  <a:pt x="164" y="1142"/>
                </a:cubicBezTo>
                <a:cubicBezTo>
                  <a:pt x="176" y="1123"/>
                  <a:pt x="203" y="1039"/>
                  <a:pt x="215" y="1030"/>
                </a:cubicBezTo>
                <a:cubicBezTo>
                  <a:pt x="226" y="931"/>
                  <a:pt x="222" y="927"/>
                  <a:pt x="200" y="832"/>
                </a:cubicBezTo>
                <a:cubicBezTo>
                  <a:pt x="196" y="815"/>
                  <a:pt x="169" y="737"/>
                  <a:pt x="164" y="721"/>
                </a:cubicBezTo>
                <a:cubicBezTo>
                  <a:pt x="133" y="661"/>
                  <a:pt x="144" y="667"/>
                  <a:pt x="124" y="598"/>
                </a:cubicBezTo>
                <a:cubicBezTo>
                  <a:pt x="117" y="572"/>
                  <a:pt x="131" y="466"/>
                  <a:pt x="131" y="422"/>
                </a:cubicBezTo>
                <a:cubicBezTo>
                  <a:pt x="151" y="359"/>
                  <a:pt x="134" y="348"/>
                  <a:pt x="157" y="288"/>
                </a:cubicBezTo>
                <a:cubicBezTo>
                  <a:pt x="161" y="277"/>
                  <a:pt x="197" y="235"/>
                  <a:pt x="197" y="235"/>
                </a:cubicBezTo>
                <a:cubicBezTo>
                  <a:pt x="199" y="224"/>
                  <a:pt x="215" y="192"/>
                  <a:pt x="219" y="181"/>
                </a:cubicBezTo>
                <a:cubicBezTo>
                  <a:pt x="223" y="168"/>
                  <a:pt x="241" y="105"/>
                  <a:pt x="237" y="75"/>
                </a:cubicBezTo>
                <a:lnTo>
                  <a:pt x="19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9220" name="Freeform 6"/>
          <p:cNvSpPr>
            <a:spLocks/>
          </p:cNvSpPr>
          <p:nvPr/>
        </p:nvSpPr>
        <p:spPr bwMode="auto">
          <a:xfrm>
            <a:off x="3216275" y="3314700"/>
            <a:ext cx="2254250" cy="2197100"/>
          </a:xfrm>
          <a:custGeom>
            <a:avLst/>
            <a:gdLst>
              <a:gd name="T0" fmla="*/ 1928813 w 1420"/>
              <a:gd name="T1" fmla="*/ 0 h 1384"/>
              <a:gd name="T2" fmla="*/ 0 w 1420"/>
              <a:gd name="T3" fmla="*/ 3175 h 1384"/>
              <a:gd name="T4" fmla="*/ 9525 w 1420"/>
              <a:gd name="T5" fmla="*/ 2197100 h 1384"/>
              <a:gd name="T6" fmla="*/ 2254250 w 1420"/>
              <a:gd name="T7" fmla="*/ 2195513 h 1384"/>
              <a:gd name="T8" fmla="*/ 2138363 w 1420"/>
              <a:gd name="T9" fmla="*/ 1941513 h 1384"/>
              <a:gd name="T10" fmla="*/ 1979613 w 1420"/>
              <a:gd name="T11" fmla="*/ 1814513 h 1384"/>
              <a:gd name="T12" fmla="*/ 1893888 w 1420"/>
              <a:gd name="T13" fmla="*/ 1636713 h 1384"/>
              <a:gd name="T14" fmla="*/ 1917700 w 1420"/>
              <a:gd name="T15" fmla="*/ 1322388 h 1384"/>
              <a:gd name="T16" fmla="*/ 1979613 w 1420"/>
              <a:gd name="T17" fmla="*/ 1144588 h 1384"/>
              <a:gd name="T18" fmla="*/ 2046288 w 1420"/>
              <a:gd name="T19" fmla="*/ 949325 h 1384"/>
              <a:gd name="T20" fmla="*/ 2033588 w 1420"/>
              <a:gd name="T21" fmla="*/ 669925 h 1384"/>
              <a:gd name="T22" fmla="*/ 1990725 w 1420"/>
              <a:gd name="T23" fmla="*/ 457200 h 1384"/>
              <a:gd name="T24" fmla="*/ 1924050 w 1420"/>
              <a:gd name="T25" fmla="*/ 373063 h 1384"/>
              <a:gd name="T26" fmla="*/ 1887538 w 1420"/>
              <a:gd name="T27" fmla="*/ 288925 h 1384"/>
              <a:gd name="T28" fmla="*/ 1855788 w 1420"/>
              <a:gd name="T29" fmla="*/ 119063 h 1384"/>
              <a:gd name="T30" fmla="*/ 1928813 w 1420"/>
              <a:gd name="T31" fmla="*/ 0 h 138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420" h="1384">
                <a:moveTo>
                  <a:pt x="1215" y="0"/>
                </a:moveTo>
                <a:lnTo>
                  <a:pt x="0" y="2"/>
                </a:lnTo>
                <a:lnTo>
                  <a:pt x="6" y="1384"/>
                </a:lnTo>
                <a:lnTo>
                  <a:pt x="1420" y="1383"/>
                </a:lnTo>
                <a:cubicBezTo>
                  <a:pt x="1397" y="1310"/>
                  <a:pt x="1382" y="1285"/>
                  <a:pt x="1347" y="1223"/>
                </a:cubicBezTo>
                <a:cubicBezTo>
                  <a:pt x="1345" y="1219"/>
                  <a:pt x="1253" y="1143"/>
                  <a:pt x="1247" y="1143"/>
                </a:cubicBezTo>
                <a:cubicBezTo>
                  <a:pt x="1233" y="1124"/>
                  <a:pt x="1206" y="1040"/>
                  <a:pt x="1193" y="1031"/>
                </a:cubicBezTo>
                <a:cubicBezTo>
                  <a:pt x="1181" y="932"/>
                  <a:pt x="1185" y="928"/>
                  <a:pt x="1208" y="833"/>
                </a:cubicBezTo>
                <a:cubicBezTo>
                  <a:pt x="1212" y="815"/>
                  <a:pt x="1241" y="738"/>
                  <a:pt x="1247" y="721"/>
                </a:cubicBezTo>
                <a:cubicBezTo>
                  <a:pt x="1279" y="661"/>
                  <a:pt x="1267" y="667"/>
                  <a:pt x="1289" y="598"/>
                </a:cubicBezTo>
                <a:cubicBezTo>
                  <a:pt x="1297" y="572"/>
                  <a:pt x="1281" y="466"/>
                  <a:pt x="1281" y="422"/>
                </a:cubicBezTo>
                <a:cubicBezTo>
                  <a:pt x="1260" y="360"/>
                  <a:pt x="1278" y="348"/>
                  <a:pt x="1254" y="288"/>
                </a:cubicBezTo>
                <a:cubicBezTo>
                  <a:pt x="1250" y="277"/>
                  <a:pt x="1212" y="235"/>
                  <a:pt x="1212" y="235"/>
                </a:cubicBezTo>
                <a:cubicBezTo>
                  <a:pt x="1209" y="224"/>
                  <a:pt x="1192" y="192"/>
                  <a:pt x="1189" y="182"/>
                </a:cubicBezTo>
                <a:cubicBezTo>
                  <a:pt x="1184" y="168"/>
                  <a:pt x="1165" y="105"/>
                  <a:pt x="1169" y="75"/>
                </a:cubicBezTo>
                <a:lnTo>
                  <a:pt x="1215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9221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9222" name="Group 10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9287" name="Picture 1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88" name="Text Box 1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23" name="Group 13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9285" name="Picture 1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86" name="Text Box 1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24" name="Group 16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9283" name="Picture 1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84" name="Text Box 1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25" name="Group 19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9281" name="Picture 2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82" name="Text Box 2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26" name="Group 22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9279" name="Picture 2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80" name="Text Box 2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27" name="Group 25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9277" name="Picture 26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78" name="Text Box 27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28" name="Group 28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9275" name="Picture 2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76" name="Text Box 30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29" name="Group 31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9273" name="Picture 32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74" name="Text Box 33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30" name="Group 34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9271" name="Picture 3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72" name="Text Box 36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31" name="Group 37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9269" name="Picture 38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70" name="Text Box 39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32" name="Group 40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9267" name="Picture 4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68" name="Text Box 42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33" name="Group 43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9265" name="Picture 44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66" name="Text Box 45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9234" name="Group 50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9263" name="Picture 5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64" name="Text Box 5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35" name="Group 53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9261" name="Picture 5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62" name="Text Box 5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36" name="Group 56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9259" name="Picture 5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60" name="Text Box 5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9237" name="Group 59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9257" name="Picture 6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58" name="Text Box 6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sp>
        <p:nvSpPr>
          <p:cNvPr id="9238" name="Text Box 66"/>
          <p:cNvSpPr txBox="1">
            <a:spLocks noChangeArrowheads="1"/>
          </p:cNvSpPr>
          <p:nvPr/>
        </p:nvSpPr>
        <p:spPr bwMode="auto">
          <a:xfrm>
            <a:off x="1116013" y="1992313"/>
            <a:ext cx="74914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Pour une tension de polarisation </a:t>
            </a:r>
            <a:r>
              <a:rPr lang="fr-FR" altLang="fr-FR" sz="2400">
                <a:solidFill>
                  <a:srgbClr val="FF3300"/>
                </a:solidFill>
              </a:rPr>
              <a:t>supérieure</a:t>
            </a:r>
            <a:r>
              <a:rPr lang="fr-FR" altLang="fr-FR" sz="2000"/>
              <a:t> à 0.6 V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375875" name="Text Box 67"/>
          <p:cNvSpPr txBox="1">
            <a:spLocks noChangeArrowheads="1"/>
          </p:cNvSpPr>
          <p:nvPr/>
        </p:nvSpPr>
        <p:spPr bwMode="auto">
          <a:xfrm>
            <a:off x="2460625" y="6280150"/>
            <a:ext cx="11795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&gt; = 0.6 V</a:t>
            </a:r>
          </a:p>
        </p:txBody>
      </p:sp>
      <p:sp>
        <p:nvSpPr>
          <p:cNvPr id="9240" name="Freeform 69"/>
          <p:cNvSpPr>
            <a:spLocks/>
          </p:cNvSpPr>
          <p:nvPr/>
        </p:nvSpPr>
        <p:spPr bwMode="auto">
          <a:xfrm>
            <a:off x="1019175" y="4581525"/>
            <a:ext cx="1495425" cy="1712913"/>
          </a:xfrm>
          <a:custGeom>
            <a:avLst/>
            <a:gdLst>
              <a:gd name="T0" fmla="*/ 412750 w 942"/>
              <a:gd name="T1" fmla="*/ 0 h 1079"/>
              <a:gd name="T2" fmla="*/ 0 w 942"/>
              <a:gd name="T3" fmla="*/ 0 h 1079"/>
              <a:gd name="T4" fmla="*/ 0 w 942"/>
              <a:gd name="T5" fmla="*/ 1708150 h 1079"/>
              <a:gd name="T6" fmla="*/ 1495425 w 942"/>
              <a:gd name="T7" fmla="*/ 1712913 h 10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42" h="1079">
                <a:moveTo>
                  <a:pt x="260" y="0"/>
                </a:moveTo>
                <a:lnTo>
                  <a:pt x="0" y="0"/>
                </a:lnTo>
                <a:lnTo>
                  <a:pt x="0" y="1076"/>
                </a:lnTo>
                <a:lnTo>
                  <a:pt x="942" y="1079"/>
                </a:lnTo>
              </a:path>
            </a:pathLst>
          </a:custGeom>
          <a:noFill/>
          <a:ln w="571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9241" name="Freeform 70"/>
          <p:cNvSpPr>
            <a:spLocks/>
          </p:cNvSpPr>
          <p:nvPr/>
        </p:nvSpPr>
        <p:spPr bwMode="auto">
          <a:xfrm>
            <a:off x="3940175" y="4591050"/>
            <a:ext cx="2030413" cy="1698625"/>
          </a:xfrm>
          <a:custGeom>
            <a:avLst/>
            <a:gdLst>
              <a:gd name="T0" fmla="*/ 1331913 w 1279"/>
              <a:gd name="T1" fmla="*/ 1588 h 1070"/>
              <a:gd name="T2" fmla="*/ 2030413 w 1279"/>
              <a:gd name="T3" fmla="*/ 0 h 1070"/>
              <a:gd name="T4" fmla="*/ 2030413 w 1279"/>
              <a:gd name="T5" fmla="*/ 1698625 h 1070"/>
              <a:gd name="T6" fmla="*/ 0 w 1279"/>
              <a:gd name="T7" fmla="*/ 1695450 h 10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9" h="1070">
                <a:moveTo>
                  <a:pt x="839" y="1"/>
                </a:moveTo>
                <a:lnTo>
                  <a:pt x="1279" y="0"/>
                </a:lnTo>
                <a:lnTo>
                  <a:pt x="1279" y="1070"/>
                </a:lnTo>
                <a:lnTo>
                  <a:pt x="0" y="1068"/>
                </a:lnTo>
              </a:path>
            </a:pathLst>
          </a:custGeom>
          <a:noFill/>
          <a:ln w="571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9242" name="Text Box 71"/>
          <p:cNvSpPr txBox="1">
            <a:spLocks noChangeArrowheads="1"/>
          </p:cNvSpPr>
          <p:nvPr/>
        </p:nvSpPr>
        <p:spPr bwMode="auto">
          <a:xfrm>
            <a:off x="4486275" y="5973763"/>
            <a:ext cx="1484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/>
              <a:t>Polarisation </a:t>
            </a:r>
          </a:p>
          <a:p>
            <a:pPr algn="r">
              <a:spcBef>
                <a:spcPct val="0"/>
              </a:spcBef>
            </a:pPr>
            <a:r>
              <a:rPr lang="fr-FR" altLang="fr-FR"/>
              <a:t>directe</a:t>
            </a:r>
          </a:p>
        </p:txBody>
      </p:sp>
      <p:sp>
        <p:nvSpPr>
          <p:cNvPr id="9243" name="Rectangle 72"/>
          <p:cNvSpPr>
            <a:spLocks noChangeArrowheads="1"/>
          </p:cNvSpPr>
          <p:nvPr/>
        </p:nvSpPr>
        <p:spPr bwMode="auto">
          <a:xfrm>
            <a:off x="3795713" y="5811838"/>
            <a:ext cx="401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800" b="1"/>
              <a:t>+</a:t>
            </a:r>
          </a:p>
        </p:txBody>
      </p:sp>
      <p:sp>
        <p:nvSpPr>
          <p:cNvPr id="9244" name="Rectangle 73"/>
          <p:cNvSpPr>
            <a:spLocks noChangeArrowheads="1"/>
          </p:cNvSpPr>
          <p:nvPr/>
        </p:nvSpPr>
        <p:spPr bwMode="auto">
          <a:xfrm>
            <a:off x="2293938" y="5811838"/>
            <a:ext cx="401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800" b="1"/>
              <a:t>-</a:t>
            </a:r>
          </a:p>
        </p:txBody>
      </p:sp>
      <p:grpSp>
        <p:nvGrpSpPr>
          <p:cNvPr id="375894" name="Group 86"/>
          <p:cNvGrpSpPr>
            <a:grpSpLocks/>
          </p:cNvGrpSpPr>
          <p:nvPr/>
        </p:nvGrpSpPr>
        <p:grpSpPr bwMode="auto">
          <a:xfrm>
            <a:off x="6081713" y="2968625"/>
            <a:ext cx="2624137" cy="1908175"/>
            <a:chOff x="3831" y="1870"/>
            <a:chExt cx="1653" cy="1202"/>
          </a:xfrm>
        </p:grpSpPr>
        <p:sp>
          <p:nvSpPr>
            <p:cNvPr id="9255" name="Rectangle 76"/>
            <p:cNvSpPr>
              <a:spLocks noChangeArrowheads="1"/>
            </p:cNvSpPr>
            <p:nvPr/>
          </p:nvSpPr>
          <p:spPr bwMode="auto">
            <a:xfrm>
              <a:off x="3844" y="1870"/>
              <a:ext cx="1640" cy="120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9256" name="Text Box 77"/>
            <p:cNvSpPr txBox="1">
              <a:spLocks noChangeArrowheads="1"/>
            </p:cNvSpPr>
            <p:nvPr/>
          </p:nvSpPr>
          <p:spPr bwMode="auto">
            <a:xfrm>
              <a:off x="3831" y="1962"/>
              <a:ext cx="1621" cy="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La </a:t>
              </a:r>
              <a:r>
                <a:rPr lang="fr-FR" altLang="fr-FR" sz="2000">
                  <a:solidFill>
                    <a:srgbClr val="FF3300"/>
                  </a:solidFill>
                </a:rPr>
                <a:t>barrière de potentiel</a:t>
              </a:r>
              <a:r>
                <a:rPr lang="fr-FR" altLang="fr-FR"/>
                <a:t> est vaincue, il y a redémarrage de la diffusion et donc de la </a:t>
              </a:r>
              <a:r>
                <a:rPr lang="fr-FR" altLang="fr-FR" sz="2000">
                  <a:solidFill>
                    <a:srgbClr val="FF3300"/>
                  </a:solidFill>
                </a:rPr>
                <a:t>conduction</a:t>
              </a:r>
            </a:p>
          </p:txBody>
        </p:sp>
      </p:grpSp>
      <p:sp>
        <p:nvSpPr>
          <p:cNvPr id="375855" name="Oval 47"/>
          <p:cNvSpPr>
            <a:spLocks noChangeArrowheads="1"/>
          </p:cNvSpPr>
          <p:nvPr/>
        </p:nvSpPr>
        <p:spPr bwMode="auto">
          <a:xfrm>
            <a:off x="2381250" y="39798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9247" name="Picture 74" descr="vpol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66975" y="5692775"/>
            <a:ext cx="151447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5854" name="Oval 46"/>
          <p:cNvSpPr>
            <a:spLocks noChangeArrowheads="1"/>
          </p:cNvSpPr>
          <p:nvPr/>
        </p:nvSpPr>
        <p:spPr bwMode="auto">
          <a:xfrm>
            <a:off x="2381250" y="34448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5856" name="Oval 48"/>
          <p:cNvSpPr>
            <a:spLocks noChangeArrowheads="1"/>
          </p:cNvSpPr>
          <p:nvPr/>
        </p:nvSpPr>
        <p:spPr bwMode="auto">
          <a:xfrm>
            <a:off x="2381250" y="51054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5857" name="Oval 49"/>
          <p:cNvSpPr>
            <a:spLocks noChangeArrowheads="1"/>
          </p:cNvSpPr>
          <p:nvPr/>
        </p:nvSpPr>
        <p:spPr bwMode="auto">
          <a:xfrm>
            <a:off x="2381250" y="451485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5870" name="Oval 62"/>
          <p:cNvSpPr>
            <a:spLocks noChangeArrowheads="1"/>
          </p:cNvSpPr>
          <p:nvPr/>
        </p:nvSpPr>
        <p:spPr bwMode="auto">
          <a:xfrm>
            <a:off x="4022725" y="399256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5871" name="Oval 63"/>
          <p:cNvSpPr>
            <a:spLocks noChangeArrowheads="1"/>
          </p:cNvSpPr>
          <p:nvPr/>
        </p:nvSpPr>
        <p:spPr bwMode="auto">
          <a:xfrm>
            <a:off x="4022725" y="45656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5872" name="Oval 64"/>
          <p:cNvSpPr>
            <a:spLocks noChangeArrowheads="1"/>
          </p:cNvSpPr>
          <p:nvPr/>
        </p:nvSpPr>
        <p:spPr bwMode="auto">
          <a:xfrm>
            <a:off x="4022725" y="5100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5873" name="Oval 65"/>
          <p:cNvSpPr>
            <a:spLocks noChangeArrowheads="1"/>
          </p:cNvSpPr>
          <p:nvPr/>
        </p:nvSpPr>
        <p:spPr bwMode="auto">
          <a:xfrm>
            <a:off x="4022725" y="34242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7.53187E-7 C 0.02309 -0.00023 0.04635 -0.00023 0.06267 0.0044 C 0.07899 0.00904 0.08663 0.02039 0.09826 0.02711 C 0.1099 0.03383 0.11771 0.03847 0.13212 0.04519 C 0.14653 0.05191 0.16458 0.06234 0.18472 0.0679 C 0.20486 0.07346 0.23108 0.07601 0.2526 0.07902 C 0.27413 0.08204 0.29444 0.08528 0.31354 0.08598 C 0.33264 0.08667 0.35521 0.08412 0.36771 0.08366 C 0.38021 0.0832 0.3842 0.07717 0.38819 0.08366 C 0.39219 0.09015 0.39115 0.08366 0.39149 0.12213 C 0.39184 0.1606 0.39028 0.27949 0.38976 0.31448 C 0.38924 0.34948 0.39097 0.32908 0.38819 0.33256 C 0.38542 0.33603 0.40972 0.33441 0.37292 0.33488 C 0.33611 0.33534 0.22986 0.33534 0.16771 0.33488 C 0.10556 0.33441 0.05174 0.33256 2.77778E-7 0.33256 C -0.05174 0.33256 -0.11667 0.33557 -0.14236 0.33488 C -0.16806 0.33418 -0.15226 0.36778 -0.15417 0.32792 C -0.15608 0.28806 -0.15469 0.13603 -0.15417 0.09501 C -0.15365 0.054 -0.15816 0.08273 -0.15087 0.08134 C -0.14358 0.07995 -0.12101 0.08598 -0.11024 0.08598 C -0.09948 0.08598 -0.09913 0.08876 -0.08646 0.08134 C -0.07378 0.07393 -0.04635 0.05284 -0.03385 0.04079 C -0.02135 0.02873 -0.01667 0.01877 -0.01181 0.00904 " pathEditMode="relative" ptsTypes="aaaaaaaaaaaaaaaaaaaaaaA">
                                      <p:cBhvr>
                                        <p:cTn id="6" dur="3000" fill="hold"/>
                                        <p:tgtEl>
                                          <p:spTgt spid="3758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7037E-6 C 0.00069 -0.00162 0.00138 -0.00301 -0.00886 0.00301 C -0.0191 0.00903 -0.04445 0.02454 -0.06112 0.03565 C -0.07778 0.04676 -0.09358 0.0588 -0.10886 0.06968 C -0.12414 0.08056 -0.13907 0.09167 -0.15226 0.1007 C -0.16546 0.10972 -0.17014 0.1169 -0.18785 0.12454 C -0.20556 0.13218 -0.24306 0.1419 -0.25886 0.14676 C -0.27466 0.15162 -0.27605 0.15278 -0.28334 0.15417 C -0.29063 0.15556 -0.29653 0.15533 -0.30226 0.15556 C -0.30799 0.15579 -0.31372 0.15533 -0.31789 0.15556 C -0.32205 0.15579 -0.32535 0.15556 -0.32778 0.15695 C -0.33021 0.15833 -0.33195 0.16065 -0.3323 0.16435 C -0.33264 0.16806 -0.33021 0.14051 -0.33004 0.17917 C -0.32987 0.21783 -0.3323 0.35903 -0.33108 0.39699 C -0.32987 0.43495 -0.32605 0.40602 -0.32223 0.40741 C -0.31841 0.4088 -0.39358 0.40648 -0.30782 0.40602 C -0.22205 0.40556 0.10763 0.40463 0.19218 0.4044 C 0.27673 0.40417 0.19757 0.4044 0.2 0.4044 C 0.20243 0.4044 0.20486 0.40533 0.20659 0.4044 C 0.20833 0.40347 0.21076 0.40324 0.21111 0.39861 C 0.21145 0.39398 0.20868 0.40023 0.20885 0.37639 C 0.20902 0.35255 0.21128 0.28889 0.21215 0.25486 C 0.21302 0.22083 0.21406 0.18704 0.21441 0.17176 C 0.21475 0.15648 0.21562 0.16551 0.21441 0.16296 C 0.21319 0.16042 0.21111 0.15787 0.20659 0.15695 C 0.20208 0.15602 0.19757 0.15671 0.18767 0.15695 C 0.17777 0.15718 0.15816 0.1581 0.1467 0.15857 C 0.13524 0.15903 0.12812 0.16296 0.11892 0.15995 C 0.10972 0.15695 0.10173 0.15463 0.09114 0.14074 C 0.08055 0.12685 0.06684 0.0956 0.05555 0.07708 C 0.04427 0.05857 0.03125 0.0419 0.02326 0.02963 C 0.01527 0.01736 0.01145 0.01019 0.00781 0.00301 " pathEditMode="relative" ptsTypes="aaaaaaaaaaaaaaaaaaaaaaaaaaaaaaaA">
                                      <p:cBhvr>
                                        <p:cTn id="8" dur="3000" fill="hold"/>
                                        <p:tgtEl>
                                          <p:spTgt spid="3758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22222E-6 -2.96296E-6 C 0.00521 0.00093 -0.00278 -0.00509 0.00885 -2.96296E-6 C 0.02083 0.00509 0.04913 0.02014 0.07118 0.03125 C 0.0934 0.04236 0.12326 0.05417 0.14236 0.06667 C 0.16146 0.07917 0.17153 0.09491 0.18576 0.10671 C 0.19982 0.11852 0.21441 0.13009 0.22673 0.13773 C 0.23941 0.14537 0.25052 0.14838 0.26111 0.15255 C 0.27205 0.15671 0.28055 0.16158 0.29132 0.16296 C 0.30173 0.16435 0.30937 0.16181 0.32465 0.16158 C 0.33975 0.16134 0.37222 0.16158 0.3835 0.16158 C 0.39444 0.16158 0.38975 0.15972 0.39114 0.16158 C 0.39253 0.16343 0.39219 0.13449 0.39219 0.17338 C 0.39219 0.21227 0.39166 0.35671 0.39114 0.3956 C 0.39062 0.43449 0.39462 0.40556 0.38889 0.40741 C 0.38333 0.40926 0.39375 0.40741 0.35659 0.40741 C 0.31944 0.40741 0.24826 0.40741 0.1658 0.40741 C 0.08298 0.40741 -0.08663 0.40764 -0.13872 0.40741 C -0.19097 0.40718 -0.14584 0.40857 -0.14757 0.40602 C -0.14931 0.40347 -0.14931 0.43056 -0.14983 0.39121 C -0.15035 0.35185 -0.15087 0.20857 -0.15087 0.17037 C -0.15087 0.13218 -0.15087 0.16366 -0.14983 0.16158 C -0.14879 0.15949 -0.15191 0.15787 -0.14427 0.15718 C -0.13663 0.15648 -0.11354 0.15834 -0.10434 0.15718 C -0.09531 0.15602 -0.09653 0.16134 -0.08872 0.14977 C -0.08108 0.1382 -0.06528 0.10648 -0.05868 0.0875 C -0.05209 0.06852 -0.05209 0.04931 -0.04879 0.03565 C -0.04549 0.02199 -0.04341 0.01296 -0.03872 0.00602 C -0.03403 -0.00092 -0.0283 -0.00463 -0.02101 -0.00579 C -0.01372 -0.00694 -0.00486 -0.00092 2.22222E-6 -2.96296E-6 Z " pathEditMode="relative" ptsTypes="aaaaaaaaaaaaaaaaaaaaaaaaaaaaa">
                                      <p:cBhvr>
                                        <p:cTn id="10" dur="3000" fill="hold"/>
                                        <p:tgtEl>
                                          <p:spTgt spid="3758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11111E-6 -4.07407E-6 C -0.01962 0.01644 -0.03924 0.0331 -0.05886 0.04144 C -0.07848 0.04977 -0.09931 0.04838 -0.11789 0.05023 C -0.13646 0.05209 -0.15278 0.05116 -0.16997 0.05324 C -0.18716 0.05533 -0.20608 0.06065 -0.22118 0.06227 C -0.23629 0.06389 -0.25052 0.0625 -0.26112 0.06366 C -0.27171 0.06482 -0.27796 0.06829 -0.28455 0.06968 C -0.29115 0.07107 -0.29653 0.07199 -0.30122 0.07246 C -0.30591 0.07292 -0.30938 0.07246 -0.31233 0.07246 C -0.31528 0.07246 -0.31615 0.07246 -0.31893 0.07246 C -0.32171 0.07246 -0.32726 0.04051 -0.329 0.07246 C -0.33073 0.1044 -0.329 0.22732 -0.329 0.26366 C -0.329 0.3 -0.329 0.28264 -0.329 0.29028 C -0.329 0.29792 -0.32917 0.30486 -0.329 0.30949 C -0.32882 0.31412 -0.33039 0.31621 -0.32778 0.31852 C -0.32518 0.32084 -0.32587 0.32199 -0.31337 0.32292 C -0.30087 0.32384 -0.33264 0.32523 -0.25226 0.32431 C -0.17188 0.32338 0.09461 0.31736 0.16892 0.3169 C 0.24323 0.31644 0.1875 0.32107 0.19323 0.32153 C 0.19895 0.32199 0.20052 0.32014 0.20329 0.31991 C 0.20607 0.31968 0.2085 0.3213 0.20989 0.31991 C 0.21128 0.31852 0.2118 0.31505 0.21215 0.31111 C 0.2125 0.30718 0.2118 0.32199 0.21215 0.2963 C 0.2125 0.2706 0.21423 0.18542 0.21441 0.15695 C 0.21458 0.12847 0.21354 0.13727 0.21336 0.12593 C 0.21319 0.11459 0.21371 0.09769 0.21336 0.08889 C 0.21302 0.08009 0.21423 0.0757 0.21111 0.07246 C 0.20798 0.06921 0.20121 0.07014 0.19444 0.06968 C 0.18767 0.06921 0.17951 0.06898 0.16996 0.06968 C 0.16041 0.07037 0.14635 0.07408 0.13663 0.07408 C 0.12691 0.07408 0.12413 0.07616 0.11111 0.06968 C 0.09809 0.0632 0.07291 0.04445 0.05885 0.03542 C 0.04479 0.02639 0.03541 0.01991 0.02656 0.01482 C 0.0177 0.00972 0.01163 0.00695 0.00555 0.0044 " pathEditMode="relative" ptsTypes="aaaaaaaaaaaaaaaaaaaaaaaaaaaaaaaaaA">
                                      <p:cBhvr>
                                        <p:cTn id="12" dur="3000" fill="hold"/>
                                        <p:tgtEl>
                                          <p:spTgt spid="3758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7 -3.7037E-7 L 0.38993 0.0044 L 0.38889 0.25324 L -0.15434 0.25185 L -0.15226 0.00139 L 2.77778E-7 -3.7037E-7 Z " pathEditMode="relative" ptsTypes="AAAAAA">
                                      <p:cBhvr>
                                        <p:cTn id="14" dur="3000" fill="hold"/>
                                        <p:tgtEl>
                                          <p:spTgt spid="3758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816 0.00023 C -0.01077 0.00023 -0.01337 0.00023 -0.01598 0.00023 L -0.29045 -0.00717 L -0.33594 -0.00278 L -0.3283 0.24167 L 0.20833 0.24028 L 0.20833 -0.00416 L 0.0085 -0.00416 " pathEditMode="relative" ptsTypes="fAAAAAAA">
                                      <p:cBhvr>
                                        <p:cTn id="19" dur="3000" fill="hold"/>
                                        <p:tgtEl>
                                          <p:spTgt spid="3758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4.72222E-6 1.11111E-6 C 0.00538 0.00069 4.72222E-6 1.11111E-6 0.0144 -0.00301 C 0.02881 -0.00602 0.05416 -0.01181 0.08663 -0.01783 C 0.11909 -0.02385 0.18298 -0.03172 0.20885 -0.03866 C 0.23472 -0.0456 0.23263 -0.05347 0.24218 -0.05926 C 0.25173 -0.06505 0.2559 -0.07014 0.26666 -0.07408 C 0.27743 -0.07801 0.29427 -0.08148 0.30659 -0.0831 C 0.31892 -0.08472 0.33229 -0.08357 0.34097 -0.0831 C 0.34965 -0.08264 0.35295 -0.08056 0.35885 -0.0801 C 0.36475 -0.07963 0.3717 -0.07986 0.37656 -0.0801 C 0.38142 -0.08033 0.38541 -0.08403 0.38767 -0.08148 C 0.38993 -0.07894 0.3901 -0.10394 0.38993 -0.06528 C 0.38975 -0.02662 0.38715 0.11319 0.38663 0.15115 C 0.38611 0.18912 0.38767 0.16088 0.38663 0.16296 C 0.38559 0.16504 0.46527 0.16412 0.37986 0.16435 C 0.29444 0.16458 -0.03959 0.16435 -0.1257 0.16435 C -0.21181 0.16435 -0.13386 0.16412 -0.13681 0.16435 C -0.13976 0.16458 -0.14063 0.16597 -0.14341 0.16597 C -0.14619 0.16597 -0.15157 0.16643 -0.15348 0.16435 C -0.15539 0.16227 -0.154 0.15903 -0.15452 0.15393 C -0.15504 0.14884 -0.15678 0.15764 -0.15678 0.13333 C -0.15678 0.10903 -0.15469 0.04166 -0.15452 0.0074 C -0.15435 -0.02685 -0.15556 -0.05741 -0.15556 -0.07269 C -0.15556 -0.08797 -0.15591 -0.08195 -0.15452 -0.08449 C -0.15313 -0.08704 -0.15053 -0.08727 -0.14671 -0.0875 C -0.14289 -0.08773 -0.13907 -0.08658 -0.13125 -0.08588 C -0.12344 -0.08519 -0.10799 -0.0882 -0.1 -0.0831 C -0.09202 -0.07801 -0.09289 -0.06667 -0.08334 -0.05486 C -0.07379 -0.04306 -0.0533 -0.01968 -0.04237 -0.01181 C -0.03143 -0.00394 -0.02396 -0.0088 -0.01789 -0.00741 C -0.01181 -0.00602 -0.00539 -0.0007 4.72222E-6 1.11111E-6 Z " pathEditMode="relative" ptsTypes="aaaaaaaaaaaaaaaaaaaaaaaaaaaaaaa">
                                      <p:cBhvr>
                                        <p:cTn id="21" dur="3000" fill="hold"/>
                                        <p:tgtEl>
                                          <p:spTgt spid="3758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5.55556E-7 -2.59259E-6 C -0.00052 -0.00185 -0.00104 -0.00347 -0.01997 -0.00879 C -0.03889 -0.01412 -0.08976 -0.02708 -0.11337 -0.0324 C -0.13698 -0.03773 -0.14531 -0.03819 -0.16216 -0.04143 C -0.179 -0.04467 -0.2 -0.0456 -0.21441 -0.05185 C -0.22882 -0.0581 -0.23872 -0.07245 -0.24879 -0.07847 C -0.25886 -0.08449 -0.26736 -0.08541 -0.27448 -0.08726 C -0.2816 -0.08912 -0.28507 -0.08981 -0.29115 -0.09027 C -0.29722 -0.09074 -0.30608 -0.0905 -0.31111 -0.09027 C -0.31615 -0.09004 -0.31719 -0.08935 -0.32101 -0.08888 C -0.32483 -0.08842 -0.33316 -0.09236 -0.33438 -0.08726 C -0.33559 -0.08217 -0.329 -0.09652 -0.32882 -0.05763 C -0.32865 -0.01875 -0.33247 0.11042 -0.33334 0.14676 C -0.3342 0.18311 -0.33785 0.15695 -0.33438 0.16019 C -0.33091 0.16343 -0.32431 0.16598 -0.31216 0.16598 C -0.3 0.16598 -0.34427 0.16158 -0.26111 0.16019 C -0.17795 0.1588 0.10903 0.15764 0.18663 0.15718 C 0.26423 0.15672 0.20069 0.15787 0.20451 0.15718 C 0.20833 0.15649 0.20903 0.15718 0.21007 0.15278 C 0.21111 0.14838 0.21111 0.15139 0.21111 0.13056 C 0.21111 0.10973 0.20989 0.05579 0.21007 0.02825 C 0.21024 0.0007 0.21163 -0.01736 0.21232 -0.03541 C 0.21302 -0.05347 0.21458 -0.07106 0.21441 -0.07986 C 0.21423 -0.08865 0.21319 -0.0868 0.21111 -0.08888 C 0.20903 -0.09097 0.22187 -0.09398 0.20225 -0.09166 C 0.18264 -0.08935 0.11823 -0.08449 0.0934 -0.07546 C 0.06857 -0.06643 0.06614 -0.04629 0.0533 -0.03703 C 0.04045 -0.02777 0.02482 -0.02407 0.01666 -0.01921 C 0.0085 -0.01435 0.00642 -0.01088 0.00451 -0.0074 " pathEditMode="relative" ptsTypes="aaaaaaaaaaaaaaaaaaaaaaaaaaaaA">
                                      <p:cBhvr>
                                        <p:cTn id="23" dur="3000" fill="hold"/>
                                        <p:tgtEl>
                                          <p:spTgt spid="3758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7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75" grpId="0"/>
      <p:bldP spid="375855" grpId="0" animBg="1"/>
      <p:bldP spid="375854" grpId="0" animBg="1"/>
      <p:bldP spid="375856" grpId="0" animBg="1"/>
      <p:bldP spid="375857" grpId="0" animBg="1"/>
      <p:bldP spid="375870" grpId="0" animBg="1"/>
      <p:bldP spid="375871" grpId="0" animBg="1"/>
      <p:bldP spid="375872" grpId="0" animBg="1"/>
      <p:bldP spid="37587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3"/>
          <p:cNvSpPr>
            <a:spLocks/>
          </p:cNvSpPr>
          <p:nvPr/>
        </p:nvSpPr>
        <p:spPr bwMode="auto">
          <a:xfrm>
            <a:off x="1139825" y="3316288"/>
            <a:ext cx="1435100" cy="2193925"/>
          </a:xfrm>
          <a:custGeom>
            <a:avLst/>
            <a:gdLst>
              <a:gd name="T0" fmla="*/ 306779 w 1932"/>
              <a:gd name="T1" fmla="*/ 0 h 2019"/>
              <a:gd name="T2" fmla="*/ 1435100 w 1932"/>
              <a:gd name="T3" fmla="*/ 0 h 2019"/>
              <a:gd name="T4" fmla="*/ 1435100 w 1932"/>
              <a:gd name="T5" fmla="*/ 2193925 h 2019"/>
              <a:gd name="T6" fmla="*/ 0 w 1932"/>
              <a:gd name="T7" fmla="*/ 2193925 h 2019"/>
              <a:gd name="T8" fmla="*/ 109935 w 1932"/>
              <a:gd name="T9" fmla="*/ 1939651 h 2019"/>
              <a:gd name="T10" fmla="*/ 259982 w 1932"/>
              <a:gd name="T11" fmla="*/ 1812515 h 2019"/>
              <a:gd name="T12" fmla="*/ 340948 w 1932"/>
              <a:gd name="T13" fmla="*/ 1635392 h 2019"/>
              <a:gd name="T14" fmla="*/ 317921 w 1932"/>
              <a:gd name="T15" fmla="*/ 1321354 h 2019"/>
              <a:gd name="T16" fmla="*/ 259982 w 1932"/>
              <a:gd name="T17" fmla="*/ 1144231 h 2019"/>
              <a:gd name="T18" fmla="*/ 196843 w 1932"/>
              <a:gd name="T19" fmla="*/ 948636 h 2019"/>
              <a:gd name="T20" fmla="*/ 207986 w 1932"/>
              <a:gd name="T21" fmla="*/ 669370 h 2019"/>
              <a:gd name="T22" fmla="*/ 248840 w 1932"/>
              <a:gd name="T23" fmla="*/ 457475 h 2019"/>
              <a:gd name="T24" fmla="*/ 311978 w 1932"/>
              <a:gd name="T25" fmla="*/ 372717 h 2019"/>
              <a:gd name="T26" fmla="*/ 346890 w 1932"/>
              <a:gd name="T27" fmla="*/ 287959 h 2019"/>
              <a:gd name="T28" fmla="*/ 375860 w 1932"/>
              <a:gd name="T29" fmla="*/ 119530 h 2019"/>
              <a:gd name="T30" fmla="*/ 30677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9989" name="Rectangle 85"/>
          <p:cNvSpPr>
            <a:spLocks noChangeArrowheads="1"/>
          </p:cNvSpPr>
          <p:nvPr/>
        </p:nvSpPr>
        <p:spPr bwMode="auto">
          <a:xfrm>
            <a:off x="1984375" y="3317875"/>
            <a:ext cx="585788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2566988" y="3317875"/>
            <a:ext cx="661987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3232150" y="3314700"/>
            <a:ext cx="730250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0247" name="Freeform 6"/>
          <p:cNvSpPr>
            <a:spLocks/>
          </p:cNvSpPr>
          <p:nvPr/>
        </p:nvSpPr>
        <p:spPr bwMode="auto">
          <a:xfrm flipH="1">
            <a:off x="3949700" y="3314700"/>
            <a:ext cx="1519238" cy="2195513"/>
          </a:xfrm>
          <a:custGeom>
            <a:avLst/>
            <a:gdLst>
              <a:gd name="T0" fmla="*/ 324765 w 1932"/>
              <a:gd name="T1" fmla="*/ 0 h 2019"/>
              <a:gd name="T2" fmla="*/ 1519238 w 1932"/>
              <a:gd name="T3" fmla="*/ 0 h 2019"/>
              <a:gd name="T4" fmla="*/ 1519238 w 1932"/>
              <a:gd name="T5" fmla="*/ 2195513 h 2019"/>
              <a:gd name="T6" fmla="*/ 0 w 1932"/>
              <a:gd name="T7" fmla="*/ 2195513 h 2019"/>
              <a:gd name="T8" fmla="*/ 116381 w 1932"/>
              <a:gd name="T9" fmla="*/ 1941055 h 2019"/>
              <a:gd name="T10" fmla="*/ 275224 w 1932"/>
              <a:gd name="T11" fmla="*/ 1813826 h 2019"/>
              <a:gd name="T12" fmla="*/ 360937 w 1932"/>
              <a:gd name="T13" fmla="*/ 1636576 h 2019"/>
              <a:gd name="T14" fmla="*/ 336560 w 1932"/>
              <a:gd name="T15" fmla="*/ 1322310 h 2019"/>
              <a:gd name="T16" fmla="*/ 275224 w 1932"/>
              <a:gd name="T17" fmla="*/ 1145060 h 2019"/>
              <a:gd name="T18" fmla="*/ 208384 w 1932"/>
              <a:gd name="T19" fmla="*/ 949323 h 2019"/>
              <a:gd name="T20" fmla="*/ 220179 w 1932"/>
              <a:gd name="T21" fmla="*/ 669854 h 2019"/>
              <a:gd name="T22" fmla="*/ 263429 w 1932"/>
              <a:gd name="T23" fmla="*/ 457806 h 2019"/>
              <a:gd name="T24" fmla="*/ 330269 w 1932"/>
              <a:gd name="T25" fmla="*/ 372987 h 2019"/>
              <a:gd name="T26" fmla="*/ 367228 w 1932"/>
              <a:gd name="T27" fmla="*/ 288168 h 2019"/>
              <a:gd name="T28" fmla="*/ 397896 w 1932"/>
              <a:gd name="T29" fmla="*/ 119617 h 2019"/>
              <a:gd name="T30" fmla="*/ 324765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9991" name="Rectangle 87"/>
          <p:cNvSpPr>
            <a:spLocks noChangeArrowheads="1"/>
          </p:cNvSpPr>
          <p:nvPr/>
        </p:nvSpPr>
        <p:spPr bwMode="auto">
          <a:xfrm>
            <a:off x="3232150" y="3314700"/>
            <a:ext cx="1397000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79992" name="Freeform 88"/>
          <p:cNvSpPr>
            <a:spLocks/>
          </p:cNvSpPr>
          <p:nvPr/>
        </p:nvSpPr>
        <p:spPr bwMode="auto">
          <a:xfrm>
            <a:off x="4610100" y="3306763"/>
            <a:ext cx="860425" cy="2203450"/>
          </a:xfrm>
          <a:custGeom>
            <a:avLst/>
            <a:gdLst>
              <a:gd name="T0" fmla="*/ 534988 w 542"/>
              <a:gd name="T1" fmla="*/ 7938 h 1388"/>
              <a:gd name="T2" fmla="*/ 0 w 542"/>
              <a:gd name="T3" fmla="*/ 0 h 1388"/>
              <a:gd name="T4" fmla="*/ 7938 w 542"/>
              <a:gd name="T5" fmla="*/ 2195513 h 1388"/>
              <a:gd name="T6" fmla="*/ 860425 w 542"/>
              <a:gd name="T7" fmla="*/ 2203450 h 1388"/>
              <a:gd name="T8" fmla="*/ 744538 w 542"/>
              <a:gd name="T9" fmla="*/ 1949450 h 1388"/>
              <a:gd name="T10" fmla="*/ 585788 w 542"/>
              <a:gd name="T11" fmla="*/ 1822450 h 1388"/>
              <a:gd name="T12" fmla="*/ 500063 w 542"/>
              <a:gd name="T13" fmla="*/ 1644650 h 1388"/>
              <a:gd name="T14" fmla="*/ 523875 w 542"/>
              <a:gd name="T15" fmla="*/ 1330325 h 1388"/>
              <a:gd name="T16" fmla="*/ 585788 w 542"/>
              <a:gd name="T17" fmla="*/ 1152525 h 1388"/>
              <a:gd name="T18" fmla="*/ 652463 w 542"/>
              <a:gd name="T19" fmla="*/ 957263 h 1388"/>
              <a:gd name="T20" fmla="*/ 639763 w 542"/>
              <a:gd name="T21" fmla="*/ 677863 h 1388"/>
              <a:gd name="T22" fmla="*/ 596900 w 542"/>
              <a:gd name="T23" fmla="*/ 465138 h 1388"/>
              <a:gd name="T24" fmla="*/ 530225 w 542"/>
              <a:gd name="T25" fmla="*/ 381000 h 1388"/>
              <a:gd name="T26" fmla="*/ 493713 w 542"/>
              <a:gd name="T27" fmla="*/ 296863 h 1388"/>
              <a:gd name="T28" fmla="*/ 461963 w 542"/>
              <a:gd name="T29" fmla="*/ 127000 h 1388"/>
              <a:gd name="T30" fmla="*/ 534988 w 542"/>
              <a:gd name="T31" fmla="*/ 7938 h 138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42" h="1388">
                <a:moveTo>
                  <a:pt x="337" y="5"/>
                </a:moveTo>
                <a:lnTo>
                  <a:pt x="0" y="0"/>
                </a:lnTo>
                <a:lnTo>
                  <a:pt x="5" y="1383"/>
                </a:lnTo>
                <a:lnTo>
                  <a:pt x="542" y="1388"/>
                </a:lnTo>
                <a:cubicBezTo>
                  <a:pt x="519" y="1315"/>
                  <a:pt x="504" y="1290"/>
                  <a:pt x="469" y="1228"/>
                </a:cubicBezTo>
                <a:cubicBezTo>
                  <a:pt x="467" y="1224"/>
                  <a:pt x="375" y="1148"/>
                  <a:pt x="369" y="1148"/>
                </a:cubicBezTo>
                <a:cubicBezTo>
                  <a:pt x="355" y="1129"/>
                  <a:pt x="328" y="1045"/>
                  <a:pt x="315" y="1036"/>
                </a:cubicBezTo>
                <a:cubicBezTo>
                  <a:pt x="303" y="937"/>
                  <a:pt x="307" y="933"/>
                  <a:pt x="330" y="838"/>
                </a:cubicBezTo>
                <a:cubicBezTo>
                  <a:pt x="334" y="820"/>
                  <a:pt x="363" y="743"/>
                  <a:pt x="369" y="726"/>
                </a:cubicBezTo>
                <a:cubicBezTo>
                  <a:pt x="401" y="666"/>
                  <a:pt x="389" y="672"/>
                  <a:pt x="411" y="603"/>
                </a:cubicBezTo>
                <a:cubicBezTo>
                  <a:pt x="419" y="577"/>
                  <a:pt x="403" y="471"/>
                  <a:pt x="403" y="427"/>
                </a:cubicBezTo>
                <a:cubicBezTo>
                  <a:pt x="382" y="365"/>
                  <a:pt x="400" y="353"/>
                  <a:pt x="376" y="293"/>
                </a:cubicBezTo>
                <a:cubicBezTo>
                  <a:pt x="372" y="282"/>
                  <a:pt x="334" y="240"/>
                  <a:pt x="334" y="240"/>
                </a:cubicBezTo>
                <a:cubicBezTo>
                  <a:pt x="331" y="229"/>
                  <a:pt x="314" y="197"/>
                  <a:pt x="311" y="187"/>
                </a:cubicBezTo>
                <a:cubicBezTo>
                  <a:pt x="306" y="173"/>
                  <a:pt x="287" y="110"/>
                  <a:pt x="291" y="80"/>
                </a:cubicBezTo>
                <a:lnTo>
                  <a:pt x="337" y="5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0250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10251" name="Group 10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10323" name="Picture 1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24" name="Text Box 1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52" name="Group 13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10321" name="Picture 1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22" name="Text Box 1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53" name="Group 16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10319" name="Picture 17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20" name="Text Box 18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54" name="Group 19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10317" name="Picture 20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18" name="Text Box 21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55" name="Group 22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10315" name="Picture 2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16" name="Text Box 2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56" name="Group 25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10313" name="Picture 26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14" name="Text Box 27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57" name="Group 28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10311" name="Picture 2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12" name="Text Box 30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58" name="Group 31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10309" name="Picture 32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10" name="Text Box 33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59" name="Group 34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10307" name="Picture 3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08" name="Text Box 36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60" name="Group 37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10305" name="Picture 38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06" name="Text Box 39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61" name="Group 40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10303" name="Picture 4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04" name="Text Box 42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10262" name="Group 43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10301" name="Picture 44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02" name="Text Box 45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79950" name="Group 46"/>
          <p:cNvGrpSpPr>
            <a:grpSpLocks/>
          </p:cNvGrpSpPr>
          <p:nvPr/>
        </p:nvGrpSpPr>
        <p:grpSpPr bwMode="auto">
          <a:xfrm>
            <a:off x="2381250" y="3444875"/>
            <a:ext cx="74613" cy="1735138"/>
            <a:chOff x="1500" y="2170"/>
            <a:chExt cx="47" cy="1093"/>
          </a:xfrm>
        </p:grpSpPr>
        <p:sp>
          <p:nvSpPr>
            <p:cNvPr id="10297" name="Oval 47"/>
            <p:cNvSpPr>
              <a:spLocks noChangeArrowheads="1"/>
            </p:cNvSpPr>
            <p:nvPr/>
          </p:nvSpPr>
          <p:spPr bwMode="auto">
            <a:xfrm>
              <a:off x="1500" y="217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98" name="Oval 48"/>
            <p:cNvSpPr>
              <a:spLocks noChangeArrowheads="1"/>
            </p:cNvSpPr>
            <p:nvPr/>
          </p:nvSpPr>
          <p:spPr bwMode="auto">
            <a:xfrm>
              <a:off x="1500" y="250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99" name="Oval 49"/>
            <p:cNvSpPr>
              <a:spLocks noChangeArrowheads="1"/>
            </p:cNvSpPr>
            <p:nvPr/>
          </p:nvSpPr>
          <p:spPr bwMode="auto">
            <a:xfrm>
              <a:off x="1500" y="3216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300" name="Oval 50"/>
            <p:cNvSpPr>
              <a:spLocks noChangeArrowheads="1"/>
            </p:cNvSpPr>
            <p:nvPr/>
          </p:nvSpPr>
          <p:spPr bwMode="auto">
            <a:xfrm>
              <a:off x="1500" y="284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264" name="Group 51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10295" name="Picture 52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96" name="Text Box 53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65" name="Group 54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10293" name="Picture 55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94" name="Text Box 56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66" name="Group 57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10291" name="Picture 58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92" name="Text Box 59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10267" name="Group 60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10289" name="Picture 6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90" name="Text Box 6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79967" name="Group 63"/>
          <p:cNvGrpSpPr>
            <a:grpSpLocks/>
          </p:cNvGrpSpPr>
          <p:nvPr/>
        </p:nvGrpSpPr>
        <p:grpSpPr bwMode="auto">
          <a:xfrm>
            <a:off x="4022725" y="3424238"/>
            <a:ext cx="112713" cy="1787525"/>
            <a:chOff x="2534" y="2157"/>
            <a:chExt cx="71" cy="1126"/>
          </a:xfrm>
        </p:grpSpPr>
        <p:sp>
          <p:nvSpPr>
            <p:cNvPr id="10285" name="Oval 64"/>
            <p:cNvSpPr>
              <a:spLocks noChangeArrowheads="1"/>
            </p:cNvSpPr>
            <p:nvPr/>
          </p:nvSpPr>
          <p:spPr bwMode="auto">
            <a:xfrm>
              <a:off x="2534" y="2515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86" name="Oval 65"/>
            <p:cNvSpPr>
              <a:spLocks noChangeArrowheads="1"/>
            </p:cNvSpPr>
            <p:nvPr/>
          </p:nvSpPr>
          <p:spPr bwMode="auto">
            <a:xfrm>
              <a:off x="2534" y="2876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87" name="Oval 66"/>
            <p:cNvSpPr>
              <a:spLocks noChangeArrowheads="1"/>
            </p:cNvSpPr>
            <p:nvPr/>
          </p:nvSpPr>
          <p:spPr bwMode="auto">
            <a:xfrm>
              <a:off x="2534" y="321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88" name="Oval 67"/>
            <p:cNvSpPr>
              <a:spLocks noChangeArrowheads="1"/>
            </p:cNvSpPr>
            <p:nvPr/>
          </p:nvSpPr>
          <p:spPr bwMode="auto">
            <a:xfrm>
              <a:off x="2534" y="2157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69" name="Text Box 68"/>
          <p:cNvSpPr txBox="1">
            <a:spLocks noChangeArrowheads="1"/>
          </p:cNvSpPr>
          <p:nvPr/>
        </p:nvSpPr>
        <p:spPr bwMode="auto">
          <a:xfrm>
            <a:off x="1116013" y="2022475"/>
            <a:ext cx="74914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On polarise la jonction en inverse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10270" name="Freeform 69"/>
          <p:cNvSpPr>
            <a:spLocks/>
          </p:cNvSpPr>
          <p:nvPr/>
        </p:nvSpPr>
        <p:spPr bwMode="auto">
          <a:xfrm>
            <a:off x="1019175" y="4581525"/>
            <a:ext cx="1495425" cy="1712913"/>
          </a:xfrm>
          <a:custGeom>
            <a:avLst/>
            <a:gdLst>
              <a:gd name="T0" fmla="*/ 412750 w 942"/>
              <a:gd name="T1" fmla="*/ 0 h 1079"/>
              <a:gd name="T2" fmla="*/ 0 w 942"/>
              <a:gd name="T3" fmla="*/ 0 h 1079"/>
              <a:gd name="T4" fmla="*/ 0 w 942"/>
              <a:gd name="T5" fmla="*/ 1708150 h 1079"/>
              <a:gd name="T6" fmla="*/ 1495425 w 942"/>
              <a:gd name="T7" fmla="*/ 1712913 h 10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42" h="1079">
                <a:moveTo>
                  <a:pt x="260" y="0"/>
                </a:moveTo>
                <a:lnTo>
                  <a:pt x="0" y="0"/>
                </a:lnTo>
                <a:lnTo>
                  <a:pt x="0" y="1076"/>
                </a:lnTo>
                <a:lnTo>
                  <a:pt x="942" y="1079"/>
                </a:lnTo>
              </a:path>
            </a:pathLst>
          </a:custGeom>
          <a:noFill/>
          <a:ln w="571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271" name="Freeform 70"/>
          <p:cNvSpPr>
            <a:spLocks/>
          </p:cNvSpPr>
          <p:nvPr/>
        </p:nvSpPr>
        <p:spPr bwMode="auto">
          <a:xfrm>
            <a:off x="3816350" y="4591050"/>
            <a:ext cx="2154238" cy="1698625"/>
          </a:xfrm>
          <a:custGeom>
            <a:avLst/>
            <a:gdLst>
              <a:gd name="T0" fmla="*/ 1413140 w 1279"/>
              <a:gd name="T1" fmla="*/ 1588 h 1070"/>
              <a:gd name="T2" fmla="*/ 2154238 w 1279"/>
              <a:gd name="T3" fmla="*/ 0 h 1070"/>
              <a:gd name="T4" fmla="*/ 2154238 w 1279"/>
              <a:gd name="T5" fmla="*/ 1698625 h 1070"/>
              <a:gd name="T6" fmla="*/ 0 w 1279"/>
              <a:gd name="T7" fmla="*/ 1695450 h 10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9" h="1070">
                <a:moveTo>
                  <a:pt x="839" y="1"/>
                </a:moveTo>
                <a:lnTo>
                  <a:pt x="1279" y="0"/>
                </a:lnTo>
                <a:lnTo>
                  <a:pt x="1279" y="1070"/>
                </a:lnTo>
                <a:lnTo>
                  <a:pt x="0" y="1068"/>
                </a:lnTo>
              </a:path>
            </a:pathLst>
          </a:custGeom>
          <a:noFill/>
          <a:ln w="571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975" name="Text Box 71"/>
          <p:cNvSpPr txBox="1">
            <a:spLocks noChangeArrowheads="1"/>
          </p:cNvSpPr>
          <p:nvPr/>
        </p:nvSpPr>
        <p:spPr bwMode="auto">
          <a:xfrm>
            <a:off x="4486275" y="5973763"/>
            <a:ext cx="1484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/>
              <a:t>Polarisation </a:t>
            </a:r>
          </a:p>
          <a:p>
            <a:pPr algn="r">
              <a:spcBef>
                <a:spcPct val="0"/>
              </a:spcBef>
            </a:pPr>
            <a:r>
              <a:rPr lang="fr-FR" altLang="fr-FR"/>
              <a:t>inverse</a:t>
            </a:r>
          </a:p>
        </p:txBody>
      </p:sp>
      <p:sp>
        <p:nvSpPr>
          <p:cNvPr id="379976" name="Rectangle 72"/>
          <p:cNvSpPr>
            <a:spLocks noChangeArrowheads="1"/>
          </p:cNvSpPr>
          <p:nvPr/>
        </p:nvSpPr>
        <p:spPr bwMode="auto">
          <a:xfrm>
            <a:off x="3795713" y="5811838"/>
            <a:ext cx="401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800" b="1"/>
              <a:t>+</a:t>
            </a:r>
          </a:p>
        </p:txBody>
      </p:sp>
      <p:sp>
        <p:nvSpPr>
          <p:cNvPr id="379977" name="Rectangle 73"/>
          <p:cNvSpPr>
            <a:spLocks noChangeArrowheads="1"/>
          </p:cNvSpPr>
          <p:nvPr/>
        </p:nvSpPr>
        <p:spPr bwMode="auto">
          <a:xfrm>
            <a:off x="2293938" y="5811838"/>
            <a:ext cx="401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800" b="1"/>
              <a:t>-</a:t>
            </a:r>
          </a:p>
        </p:txBody>
      </p:sp>
      <p:pic>
        <p:nvPicPr>
          <p:cNvPr id="379978" name="Picture 74" descr="vpol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66975" y="5692775"/>
            <a:ext cx="151447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9979" name="Picture 75" descr="vpol2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19350" y="5692775"/>
            <a:ext cx="151447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9986" name="Group 82"/>
          <p:cNvGrpSpPr>
            <a:grpSpLocks/>
          </p:cNvGrpSpPr>
          <p:nvPr/>
        </p:nvGrpSpPr>
        <p:grpSpPr bwMode="auto">
          <a:xfrm>
            <a:off x="6081713" y="2968625"/>
            <a:ext cx="2624137" cy="931863"/>
            <a:chOff x="3831" y="1870"/>
            <a:chExt cx="1653" cy="587"/>
          </a:xfrm>
        </p:grpSpPr>
        <p:sp>
          <p:nvSpPr>
            <p:cNvPr id="10283" name="Rectangle 77"/>
            <p:cNvSpPr>
              <a:spLocks noChangeArrowheads="1"/>
            </p:cNvSpPr>
            <p:nvPr/>
          </p:nvSpPr>
          <p:spPr bwMode="auto">
            <a:xfrm>
              <a:off x="3844" y="1870"/>
              <a:ext cx="1640" cy="587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10284" name="Text Box 78"/>
            <p:cNvSpPr txBox="1">
              <a:spLocks noChangeArrowheads="1"/>
            </p:cNvSpPr>
            <p:nvPr/>
          </p:nvSpPr>
          <p:spPr bwMode="auto">
            <a:xfrm>
              <a:off x="3831" y="1943"/>
              <a:ext cx="162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La </a:t>
              </a:r>
              <a:r>
                <a:rPr lang="fr-FR" altLang="fr-FR" sz="2000">
                  <a:solidFill>
                    <a:srgbClr val="FF3300"/>
                  </a:solidFill>
                </a:rPr>
                <a:t>barrière de potentiel</a:t>
              </a:r>
              <a:r>
                <a:rPr lang="fr-FR" altLang="fr-FR"/>
                <a:t> augmente</a:t>
              </a:r>
            </a:p>
          </p:txBody>
        </p:sp>
      </p:grpSp>
      <p:grpSp>
        <p:nvGrpSpPr>
          <p:cNvPr id="379985" name="Group 81"/>
          <p:cNvGrpSpPr>
            <a:grpSpLocks/>
          </p:cNvGrpSpPr>
          <p:nvPr/>
        </p:nvGrpSpPr>
        <p:grpSpPr bwMode="auto">
          <a:xfrm>
            <a:off x="6081713" y="4400550"/>
            <a:ext cx="2630487" cy="965200"/>
            <a:chOff x="3871" y="2772"/>
            <a:chExt cx="1657" cy="608"/>
          </a:xfrm>
        </p:grpSpPr>
        <p:sp>
          <p:nvSpPr>
            <p:cNvPr id="10281" name="Rectangle 80"/>
            <p:cNvSpPr>
              <a:spLocks noChangeArrowheads="1"/>
            </p:cNvSpPr>
            <p:nvPr/>
          </p:nvSpPr>
          <p:spPr bwMode="auto">
            <a:xfrm>
              <a:off x="3888" y="2793"/>
              <a:ext cx="1640" cy="587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10282" name="Text Box 79"/>
            <p:cNvSpPr txBox="1">
              <a:spLocks noChangeArrowheads="1"/>
            </p:cNvSpPr>
            <p:nvPr/>
          </p:nvSpPr>
          <p:spPr bwMode="auto">
            <a:xfrm>
              <a:off x="3871" y="2772"/>
              <a:ext cx="1641" cy="5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>
                  <a:solidFill>
                    <a:srgbClr val="FF3300"/>
                  </a:solidFill>
                </a:rPr>
                <a:t>Elargissement</a:t>
              </a:r>
              <a:r>
                <a:rPr lang="fr-FR" altLang="fr-FR" sz="2000"/>
                <a:t> </a:t>
              </a:r>
              <a:r>
                <a:rPr lang="fr-FR" altLang="fr-FR"/>
                <a:t>de la Zone de Charge d’Espace</a:t>
              </a:r>
            </a:p>
          </p:txBody>
        </p:sp>
      </p:grpSp>
      <p:sp>
        <p:nvSpPr>
          <p:cNvPr id="379987" name="AutoShape 83"/>
          <p:cNvSpPr>
            <a:spLocks noChangeArrowheads="1"/>
          </p:cNvSpPr>
          <p:nvPr/>
        </p:nvSpPr>
        <p:spPr bwMode="auto">
          <a:xfrm flipH="1">
            <a:off x="2849563" y="4303713"/>
            <a:ext cx="754062" cy="273050"/>
          </a:xfrm>
          <a:prstGeom prst="rightArrow">
            <a:avLst>
              <a:gd name="adj1" fmla="val 30574"/>
              <a:gd name="adj2" fmla="val 58454"/>
            </a:avLst>
          </a:prstGeom>
          <a:solidFill>
            <a:srgbClr val="3366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988" name="Text Box 84"/>
          <p:cNvSpPr txBox="1">
            <a:spLocks noChangeArrowheads="1"/>
          </p:cNvSpPr>
          <p:nvPr/>
        </p:nvSpPr>
        <p:spPr bwMode="auto">
          <a:xfrm>
            <a:off x="2822575" y="4778375"/>
            <a:ext cx="11620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rgbClr val="3366FF"/>
                </a:solidFill>
              </a:rPr>
              <a:t>V+ddp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379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79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79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9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9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69 C -0.02083 -0.01968 -0.04115 -0.04005 -0.05538 -0.04954 C -0.06962 -0.05903 -0.07517 -0.05579 -0.08594 -0.05625 C -0.0967 -0.05672 -0.11129 -0.0544 -0.12031 -0.05186 C -0.12934 -0.04931 -0.13385 -0.04584 -0.13976 -0.04144 C -0.14566 -0.03704 -0.15139 -0.03033 -0.15538 -0.02524 C -0.15938 -0.02014 -0.16181 -0.01575 -0.16424 -0.01112 " pathEditMode="relative" ptsTypes="aaaaaaA">
                                      <p:cBhvr>
                                        <p:cTn id="20" dur="2000" fill="hold"/>
                                        <p:tgtEl>
                                          <p:spTgt spid="3799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C 0.00712 0.01528 0.01424 0.03079 0.0217 0.04005 C 0.02917 0.0493 0.03559 0.05208 0.04445 0.05555 C 0.0533 0.05903 0.06406 0.05995 0.07448 0.06065 C 0.0849 0.06134 0.09827 0.0625 0.10729 0.05995 C 0.11632 0.05741 0.12031 0.05417 0.1283 0.04583 C 0.13629 0.0375 0.14966 0.01852 0.15504 0.01042 C 0.16042 0.00231 0.15903 0.00278 0.16059 -0.00232 C 0.16216 -0.00741 0.16354 -0.01366 0.16493 -0.01991 " pathEditMode="relative" ptsTypes="aaaaaaaaA">
                                      <p:cBhvr>
                                        <p:cTn id="22" dur="2000" fill="hold"/>
                                        <p:tgtEl>
                                          <p:spTgt spid="3799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379987"/>
                                        </p:tgtEl>
                                      </p:cBhvr>
                                      <p:by x="2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7.19583E-6 L -0.06788 7.19583E-6 " pathEditMode="relative" ptsTypes="AA">
                                      <p:cBhvr>
                                        <p:cTn id="43" dur="2000" fill="hold"/>
                                        <p:tgtEl>
                                          <p:spTgt spid="3799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38889E-6 -4.90151E-6 L 0.07447 -4.90151E-6 " pathEditMode="relative" ptsTypes="AA">
                                      <p:cBhvr>
                                        <p:cTn id="45" dur="2000" fill="hold"/>
                                        <p:tgtEl>
                                          <p:spTgt spid="3799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2000"/>
                                        <p:tgtEl>
                                          <p:spTgt spid="37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7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89" grpId="0" animBg="1"/>
      <p:bldP spid="379991" grpId="0" animBg="1"/>
      <p:bldP spid="379992" grpId="0" animBg="1"/>
      <p:bldP spid="379975" grpId="0"/>
      <p:bldP spid="379976" grpId="0"/>
      <p:bldP spid="379977" grpId="0"/>
      <p:bldP spid="379987" grpId="0" animBg="1"/>
      <p:bldP spid="379987" grpId="1" animBg="1"/>
      <p:bldP spid="3799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795713" y="5732463"/>
            <a:ext cx="401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800" b="1"/>
              <a:t>-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278063" y="5732463"/>
            <a:ext cx="4016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800" b="1"/>
              <a:t>+</a:t>
            </a:r>
          </a:p>
        </p:txBody>
      </p:sp>
      <p:sp>
        <p:nvSpPr>
          <p:cNvPr id="11268" name="Freeform 4"/>
          <p:cNvSpPr>
            <a:spLocks/>
          </p:cNvSpPr>
          <p:nvPr/>
        </p:nvSpPr>
        <p:spPr bwMode="auto">
          <a:xfrm>
            <a:off x="1139825" y="3316288"/>
            <a:ext cx="1435100" cy="2193925"/>
          </a:xfrm>
          <a:custGeom>
            <a:avLst/>
            <a:gdLst>
              <a:gd name="T0" fmla="*/ 306779 w 1932"/>
              <a:gd name="T1" fmla="*/ 0 h 2019"/>
              <a:gd name="T2" fmla="*/ 1435100 w 1932"/>
              <a:gd name="T3" fmla="*/ 0 h 2019"/>
              <a:gd name="T4" fmla="*/ 1435100 w 1932"/>
              <a:gd name="T5" fmla="*/ 2193925 h 2019"/>
              <a:gd name="T6" fmla="*/ 0 w 1932"/>
              <a:gd name="T7" fmla="*/ 2193925 h 2019"/>
              <a:gd name="T8" fmla="*/ 109935 w 1932"/>
              <a:gd name="T9" fmla="*/ 1939651 h 2019"/>
              <a:gd name="T10" fmla="*/ 259982 w 1932"/>
              <a:gd name="T11" fmla="*/ 1812515 h 2019"/>
              <a:gd name="T12" fmla="*/ 340948 w 1932"/>
              <a:gd name="T13" fmla="*/ 1635392 h 2019"/>
              <a:gd name="T14" fmla="*/ 317921 w 1932"/>
              <a:gd name="T15" fmla="*/ 1321354 h 2019"/>
              <a:gd name="T16" fmla="*/ 259982 w 1932"/>
              <a:gd name="T17" fmla="*/ 1144231 h 2019"/>
              <a:gd name="T18" fmla="*/ 196843 w 1932"/>
              <a:gd name="T19" fmla="*/ 948636 h 2019"/>
              <a:gd name="T20" fmla="*/ 207986 w 1932"/>
              <a:gd name="T21" fmla="*/ 669370 h 2019"/>
              <a:gd name="T22" fmla="*/ 248840 w 1932"/>
              <a:gd name="T23" fmla="*/ 457475 h 2019"/>
              <a:gd name="T24" fmla="*/ 311978 w 1932"/>
              <a:gd name="T25" fmla="*/ 372717 h 2019"/>
              <a:gd name="T26" fmla="*/ 346890 w 1932"/>
              <a:gd name="T27" fmla="*/ 287959 h 2019"/>
              <a:gd name="T28" fmla="*/ 375860 w 1932"/>
              <a:gd name="T29" fmla="*/ 119530 h 2019"/>
              <a:gd name="T30" fmla="*/ 30677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1981200" y="3317875"/>
            <a:ext cx="1247775" cy="219392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232150" y="3314700"/>
            <a:ext cx="730250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1272" name="Freeform 8"/>
          <p:cNvSpPr>
            <a:spLocks/>
          </p:cNvSpPr>
          <p:nvPr/>
        </p:nvSpPr>
        <p:spPr bwMode="auto">
          <a:xfrm flipH="1">
            <a:off x="3949700" y="3314700"/>
            <a:ext cx="1519238" cy="2195513"/>
          </a:xfrm>
          <a:custGeom>
            <a:avLst/>
            <a:gdLst>
              <a:gd name="T0" fmla="*/ 324765 w 1932"/>
              <a:gd name="T1" fmla="*/ 0 h 2019"/>
              <a:gd name="T2" fmla="*/ 1519238 w 1932"/>
              <a:gd name="T3" fmla="*/ 0 h 2019"/>
              <a:gd name="T4" fmla="*/ 1519238 w 1932"/>
              <a:gd name="T5" fmla="*/ 2195513 h 2019"/>
              <a:gd name="T6" fmla="*/ 0 w 1932"/>
              <a:gd name="T7" fmla="*/ 2195513 h 2019"/>
              <a:gd name="T8" fmla="*/ 116381 w 1932"/>
              <a:gd name="T9" fmla="*/ 1941055 h 2019"/>
              <a:gd name="T10" fmla="*/ 275224 w 1932"/>
              <a:gd name="T11" fmla="*/ 1813826 h 2019"/>
              <a:gd name="T12" fmla="*/ 360937 w 1932"/>
              <a:gd name="T13" fmla="*/ 1636576 h 2019"/>
              <a:gd name="T14" fmla="*/ 336560 w 1932"/>
              <a:gd name="T15" fmla="*/ 1322310 h 2019"/>
              <a:gd name="T16" fmla="*/ 275224 w 1932"/>
              <a:gd name="T17" fmla="*/ 1145060 h 2019"/>
              <a:gd name="T18" fmla="*/ 208384 w 1932"/>
              <a:gd name="T19" fmla="*/ 949323 h 2019"/>
              <a:gd name="T20" fmla="*/ 220179 w 1932"/>
              <a:gd name="T21" fmla="*/ 669854 h 2019"/>
              <a:gd name="T22" fmla="*/ 263429 w 1932"/>
              <a:gd name="T23" fmla="*/ 457806 h 2019"/>
              <a:gd name="T24" fmla="*/ 330269 w 1932"/>
              <a:gd name="T25" fmla="*/ 372987 h 2019"/>
              <a:gd name="T26" fmla="*/ 367228 w 1932"/>
              <a:gd name="T27" fmla="*/ 288168 h 2019"/>
              <a:gd name="T28" fmla="*/ 397896 w 1932"/>
              <a:gd name="T29" fmla="*/ 119617 h 2019"/>
              <a:gd name="T30" fmla="*/ 324765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3232150" y="3314700"/>
            <a:ext cx="1397000" cy="219551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1274" name="Freeform 10"/>
          <p:cNvSpPr>
            <a:spLocks/>
          </p:cNvSpPr>
          <p:nvPr/>
        </p:nvSpPr>
        <p:spPr bwMode="auto">
          <a:xfrm>
            <a:off x="4610100" y="3306763"/>
            <a:ext cx="860425" cy="2203450"/>
          </a:xfrm>
          <a:custGeom>
            <a:avLst/>
            <a:gdLst>
              <a:gd name="T0" fmla="*/ 534988 w 542"/>
              <a:gd name="T1" fmla="*/ 7938 h 1388"/>
              <a:gd name="T2" fmla="*/ 0 w 542"/>
              <a:gd name="T3" fmla="*/ 0 h 1388"/>
              <a:gd name="T4" fmla="*/ 7938 w 542"/>
              <a:gd name="T5" fmla="*/ 2195513 h 1388"/>
              <a:gd name="T6" fmla="*/ 860425 w 542"/>
              <a:gd name="T7" fmla="*/ 2203450 h 1388"/>
              <a:gd name="T8" fmla="*/ 744538 w 542"/>
              <a:gd name="T9" fmla="*/ 1949450 h 1388"/>
              <a:gd name="T10" fmla="*/ 585788 w 542"/>
              <a:gd name="T11" fmla="*/ 1822450 h 1388"/>
              <a:gd name="T12" fmla="*/ 500063 w 542"/>
              <a:gd name="T13" fmla="*/ 1644650 h 1388"/>
              <a:gd name="T14" fmla="*/ 523875 w 542"/>
              <a:gd name="T15" fmla="*/ 1330325 h 1388"/>
              <a:gd name="T16" fmla="*/ 585788 w 542"/>
              <a:gd name="T17" fmla="*/ 1152525 h 1388"/>
              <a:gd name="T18" fmla="*/ 652463 w 542"/>
              <a:gd name="T19" fmla="*/ 957263 h 1388"/>
              <a:gd name="T20" fmla="*/ 639763 w 542"/>
              <a:gd name="T21" fmla="*/ 677863 h 1388"/>
              <a:gd name="T22" fmla="*/ 596900 w 542"/>
              <a:gd name="T23" fmla="*/ 465138 h 1388"/>
              <a:gd name="T24" fmla="*/ 530225 w 542"/>
              <a:gd name="T25" fmla="*/ 381000 h 1388"/>
              <a:gd name="T26" fmla="*/ 493713 w 542"/>
              <a:gd name="T27" fmla="*/ 296863 h 1388"/>
              <a:gd name="T28" fmla="*/ 461963 w 542"/>
              <a:gd name="T29" fmla="*/ 127000 h 1388"/>
              <a:gd name="T30" fmla="*/ 534988 w 542"/>
              <a:gd name="T31" fmla="*/ 7938 h 138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42" h="1388">
                <a:moveTo>
                  <a:pt x="337" y="5"/>
                </a:moveTo>
                <a:lnTo>
                  <a:pt x="0" y="0"/>
                </a:lnTo>
                <a:lnTo>
                  <a:pt x="5" y="1383"/>
                </a:lnTo>
                <a:lnTo>
                  <a:pt x="542" y="1388"/>
                </a:lnTo>
                <a:cubicBezTo>
                  <a:pt x="519" y="1315"/>
                  <a:pt x="504" y="1290"/>
                  <a:pt x="469" y="1228"/>
                </a:cubicBezTo>
                <a:cubicBezTo>
                  <a:pt x="467" y="1224"/>
                  <a:pt x="375" y="1148"/>
                  <a:pt x="369" y="1148"/>
                </a:cubicBezTo>
                <a:cubicBezTo>
                  <a:pt x="355" y="1129"/>
                  <a:pt x="328" y="1045"/>
                  <a:pt x="315" y="1036"/>
                </a:cubicBezTo>
                <a:cubicBezTo>
                  <a:pt x="303" y="937"/>
                  <a:pt x="307" y="933"/>
                  <a:pt x="330" y="838"/>
                </a:cubicBezTo>
                <a:cubicBezTo>
                  <a:pt x="334" y="820"/>
                  <a:pt x="363" y="743"/>
                  <a:pt x="369" y="726"/>
                </a:cubicBezTo>
                <a:cubicBezTo>
                  <a:pt x="401" y="666"/>
                  <a:pt x="389" y="672"/>
                  <a:pt x="411" y="603"/>
                </a:cubicBezTo>
                <a:cubicBezTo>
                  <a:pt x="419" y="577"/>
                  <a:pt x="403" y="471"/>
                  <a:pt x="403" y="427"/>
                </a:cubicBezTo>
                <a:cubicBezTo>
                  <a:pt x="382" y="365"/>
                  <a:pt x="400" y="353"/>
                  <a:pt x="376" y="293"/>
                </a:cubicBezTo>
                <a:cubicBezTo>
                  <a:pt x="372" y="282"/>
                  <a:pt x="334" y="240"/>
                  <a:pt x="334" y="240"/>
                </a:cubicBezTo>
                <a:cubicBezTo>
                  <a:pt x="331" y="229"/>
                  <a:pt x="314" y="197"/>
                  <a:pt x="311" y="187"/>
                </a:cubicBezTo>
                <a:cubicBezTo>
                  <a:pt x="306" y="173"/>
                  <a:pt x="287" y="110"/>
                  <a:pt x="291" y="80"/>
                </a:cubicBezTo>
                <a:lnTo>
                  <a:pt x="337" y="5"/>
                </a:lnTo>
                <a:close/>
              </a:path>
            </a:pathLst>
          </a:custGeom>
          <a:solidFill>
            <a:srgbClr val="FF0000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1275" name="Text Box 13"/>
          <p:cNvSpPr txBox="1">
            <a:spLocks noChangeArrowheads="1"/>
          </p:cNvSpPr>
          <p:nvPr/>
        </p:nvSpPr>
        <p:spPr bwMode="auto">
          <a:xfrm>
            <a:off x="1406525" y="717550"/>
            <a:ext cx="736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La jonction PN au niveau atomique</a:t>
            </a:r>
            <a:endParaRPr lang="fr-FR" altLang="fr-FR"/>
          </a:p>
        </p:txBody>
      </p:sp>
      <p:grpSp>
        <p:nvGrpSpPr>
          <p:cNvPr id="388110" name="Group 14"/>
          <p:cNvGrpSpPr>
            <a:grpSpLocks/>
          </p:cNvGrpSpPr>
          <p:nvPr/>
        </p:nvGrpSpPr>
        <p:grpSpPr bwMode="auto">
          <a:xfrm>
            <a:off x="3457575" y="3357563"/>
            <a:ext cx="411163" cy="457200"/>
            <a:chOff x="2675" y="1769"/>
            <a:chExt cx="259" cy="288"/>
          </a:xfrm>
        </p:grpSpPr>
        <p:pic>
          <p:nvPicPr>
            <p:cNvPr id="11338" name="Picture 15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39" name="Text Box 16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13" name="Group 17"/>
          <p:cNvGrpSpPr>
            <a:grpSpLocks/>
          </p:cNvGrpSpPr>
          <p:nvPr/>
        </p:nvGrpSpPr>
        <p:grpSpPr bwMode="auto">
          <a:xfrm>
            <a:off x="3457575" y="3908425"/>
            <a:ext cx="411163" cy="457200"/>
            <a:chOff x="2675" y="1769"/>
            <a:chExt cx="259" cy="288"/>
          </a:xfrm>
        </p:grpSpPr>
        <p:pic>
          <p:nvPicPr>
            <p:cNvPr id="11336" name="Picture 18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37" name="Text Box 19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16" name="Group 20"/>
          <p:cNvGrpSpPr>
            <a:grpSpLocks/>
          </p:cNvGrpSpPr>
          <p:nvPr/>
        </p:nvGrpSpPr>
        <p:grpSpPr bwMode="auto">
          <a:xfrm>
            <a:off x="3457575" y="4459288"/>
            <a:ext cx="411163" cy="457200"/>
            <a:chOff x="2675" y="1769"/>
            <a:chExt cx="259" cy="288"/>
          </a:xfrm>
        </p:grpSpPr>
        <p:pic>
          <p:nvPicPr>
            <p:cNvPr id="11334" name="Picture 2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35" name="Text Box 2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19" name="Group 23"/>
          <p:cNvGrpSpPr>
            <a:grpSpLocks/>
          </p:cNvGrpSpPr>
          <p:nvPr/>
        </p:nvGrpSpPr>
        <p:grpSpPr bwMode="auto">
          <a:xfrm>
            <a:off x="3457575" y="5010150"/>
            <a:ext cx="411163" cy="457200"/>
            <a:chOff x="2675" y="1769"/>
            <a:chExt cx="259" cy="288"/>
          </a:xfrm>
        </p:grpSpPr>
        <p:pic>
          <p:nvPicPr>
            <p:cNvPr id="11332" name="Picture 2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33" name="Text Box 2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22" name="Group 26"/>
          <p:cNvGrpSpPr>
            <a:grpSpLocks/>
          </p:cNvGrpSpPr>
          <p:nvPr/>
        </p:nvGrpSpPr>
        <p:grpSpPr bwMode="auto">
          <a:xfrm>
            <a:off x="2600325" y="3384550"/>
            <a:ext cx="392113" cy="457200"/>
            <a:chOff x="2277" y="1781"/>
            <a:chExt cx="247" cy="288"/>
          </a:xfrm>
        </p:grpSpPr>
        <p:pic>
          <p:nvPicPr>
            <p:cNvPr id="11330" name="Picture 2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31" name="Text Box 28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25" name="Group 29"/>
          <p:cNvGrpSpPr>
            <a:grpSpLocks/>
          </p:cNvGrpSpPr>
          <p:nvPr/>
        </p:nvGrpSpPr>
        <p:grpSpPr bwMode="auto">
          <a:xfrm>
            <a:off x="2600325" y="3929063"/>
            <a:ext cx="392113" cy="457200"/>
            <a:chOff x="2277" y="1781"/>
            <a:chExt cx="247" cy="288"/>
          </a:xfrm>
        </p:grpSpPr>
        <p:pic>
          <p:nvPicPr>
            <p:cNvPr id="11328" name="Picture 30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29" name="Text Box 31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28" name="Group 32"/>
          <p:cNvGrpSpPr>
            <a:grpSpLocks/>
          </p:cNvGrpSpPr>
          <p:nvPr/>
        </p:nvGrpSpPr>
        <p:grpSpPr bwMode="auto">
          <a:xfrm>
            <a:off x="2600325" y="4475163"/>
            <a:ext cx="392113" cy="457200"/>
            <a:chOff x="2277" y="1781"/>
            <a:chExt cx="247" cy="288"/>
          </a:xfrm>
        </p:grpSpPr>
        <p:pic>
          <p:nvPicPr>
            <p:cNvPr id="11326" name="Picture 3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27" name="Text Box 34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31" name="Group 35"/>
          <p:cNvGrpSpPr>
            <a:grpSpLocks/>
          </p:cNvGrpSpPr>
          <p:nvPr/>
        </p:nvGrpSpPr>
        <p:grpSpPr bwMode="auto">
          <a:xfrm>
            <a:off x="2600325" y="5019675"/>
            <a:ext cx="392113" cy="457200"/>
            <a:chOff x="2277" y="1781"/>
            <a:chExt cx="247" cy="288"/>
          </a:xfrm>
        </p:grpSpPr>
        <p:pic>
          <p:nvPicPr>
            <p:cNvPr id="11324" name="Picture 36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25" name="Text Box 37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34" name="Group 38"/>
          <p:cNvGrpSpPr>
            <a:grpSpLocks/>
          </p:cNvGrpSpPr>
          <p:nvPr/>
        </p:nvGrpSpPr>
        <p:grpSpPr bwMode="auto">
          <a:xfrm>
            <a:off x="1990725" y="3384550"/>
            <a:ext cx="392113" cy="457200"/>
            <a:chOff x="2277" y="1781"/>
            <a:chExt cx="247" cy="288"/>
          </a:xfrm>
        </p:grpSpPr>
        <p:pic>
          <p:nvPicPr>
            <p:cNvPr id="11322" name="Picture 3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23" name="Text Box 40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37" name="Group 41"/>
          <p:cNvGrpSpPr>
            <a:grpSpLocks/>
          </p:cNvGrpSpPr>
          <p:nvPr/>
        </p:nvGrpSpPr>
        <p:grpSpPr bwMode="auto">
          <a:xfrm>
            <a:off x="1990725" y="3929063"/>
            <a:ext cx="392113" cy="457200"/>
            <a:chOff x="2277" y="1781"/>
            <a:chExt cx="247" cy="288"/>
          </a:xfrm>
        </p:grpSpPr>
        <p:pic>
          <p:nvPicPr>
            <p:cNvPr id="11320" name="Picture 42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21" name="Text Box 43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40" name="Group 44"/>
          <p:cNvGrpSpPr>
            <a:grpSpLocks/>
          </p:cNvGrpSpPr>
          <p:nvPr/>
        </p:nvGrpSpPr>
        <p:grpSpPr bwMode="auto">
          <a:xfrm>
            <a:off x="1990725" y="4475163"/>
            <a:ext cx="392113" cy="457200"/>
            <a:chOff x="2277" y="1781"/>
            <a:chExt cx="247" cy="288"/>
          </a:xfrm>
        </p:grpSpPr>
        <p:pic>
          <p:nvPicPr>
            <p:cNvPr id="11318" name="Picture 4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19" name="Text Box 46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grpSp>
        <p:nvGrpSpPr>
          <p:cNvPr id="388143" name="Group 47"/>
          <p:cNvGrpSpPr>
            <a:grpSpLocks/>
          </p:cNvGrpSpPr>
          <p:nvPr/>
        </p:nvGrpSpPr>
        <p:grpSpPr bwMode="auto">
          <a:xfrm>
            <a:off x="1990725" y="5019675"/>
            <a:ext cx="392113" cy="457200"/>
            <a:chOff x="2277" y="1781"/>
            <a:chExt cx="247" cy="288"/>
          </a:xfrm>
        </p:grpSpPr>
        <p:pic>
          <p:nvPicPr>
            <p:cNvPr id="11316" name="Picture 48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288" y="1813"/>
              <a:ext cx="23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17" name="Text Box 49"/>
            <p:cNvSpPr txBox="1">
              <a:spLocks noChangeArrowheads="1"/>
            </p:cNvSpPr>
            <p:nvPr/>
          </p:nvSpPr>
          <p:spPr bwMode="auto">
            <a:xfrm>
              <a:off x="2277" y="1781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+</a:t>
              </a:r>
            </a:p>
          </p:txBody>
        </p:sp>
      </p:grpSp>
      <p:sp>
        <p:nvSpPr>
          <p:cNvPr id="388149" name="Oval 53"/>
          <p:cNvSpPr>
            <a:spLocks noChangeArrowheads="1"/>
          </p:cNvSpPr>
          <p:nvPr/>
        </p:nvSpPr>
        <p:spPr bwMode="auto">
          <a:xfrm>
            <a:off x="2705100" y="42926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88150" name="Group 54"/>
          <p:cNvGrpSpPr>
            <a:grpSpLocks/>
          </p:cNvGrpSpPr>
          <p:nvPr/>
        </p:nvGrpSpPr>
        <p:grpSpPr bwMode="auto">
          <a:xfrm>
            <a:off x="4133850" y="3357563"/>
            <a:ext cx="411163" cy="457200"/>
            <a:chOff x="2675" y="1769"/>
            <a:chExt cx="259" cy="288"/>
          </a:xfrm>
        </p:grpSpPr>
        <p:pic>
          <p:nvPicPr>
            <p:cNvPr id="11314" name="Picture 55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15" name="Text Box 56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53" name="Group 57"/>
          <p:cNvGrpSpPr>
            <a:grpSpLocks/>
          </p:cNvGrpSpPr>
          <p:nvPr/>
        </p:nvGrpSpPr>
        <p:grpSpPr bwMode="auto">
          <a:xfrm>
            <a:off x="4133850" y="3908425"/>
            <a:ext cx="411163" cy="457200"/>
            <a:chOff x="2675" y="1769"/>
            <a:chExt cx="259" cy="288"/>
          </a:xfrm>
        </p:grpSpPr>
        <p:pic>
          <p:nvPicPr>
            <p:cNvPr id="11312" name="Picture 58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13" name="Text Box 59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56" name="Group 60"/>
          <p:cNvGrpSpPr>
            <a:grpSpLocks/>
          </p:cNvGrpSpPr>
          <p:nvPr/>
        </p:nvGrpSpPr>
        <p:grpSpPr bwMode="auto">
          <a:xfrm>
            <a:off x="4133850" y="4459288"/>
            <a:ext cx="411163" cy="457200"/>
            <a:chOff x="2675" y="1769"/>
            <a:chExt cx="259" cy="288"/>
          </a:xfrm>
        </p:grpSpPr>
        <p:pic>
          <p:nvPicPr>
            <p:cNvPr id="11310" name="Picture 6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11" name="Text Box 62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grpSp>
        <p:nvGrpSpPr>
          <p:cNvPr id="388159" name="Group 63"/>
          <p:cNvGrpSpPr>
            <a:grpSpLocks/>
          </p:cNvGrpSpPr>
          <p:nvPr/>
        </p:nvGrpSpPr>
        <p:grpSpPr bwMode="auto">
          <a:xfrm>
            <a:off x="4133850" y="5010150"/>
            <a:ext cx="411163" cy="457200"/>
            <a:chOff x="2675" y="1769"/>
            <a:chExt cx="259" cy="288"/>
          </a:xfrm>
        </p:grpSpPr>
        <p:pic>
          <p:nvPicPr>
            <p:cNvPr id="11308" name="Picture 64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2675" y="1804"/>
              <a:ext cx="259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09" name="Text Box 65"/>
            <p:cNvSpPr txBox="1">
              <a:spLocks noChangeArrowheads="1"/>
            </p:cNvSpPr>
            <p:nvPr/>
          </p:nvSpPr>
          <p:spPr bwMode="auto">
            <a:xfrm>
              <a:off x="2726" y="1769"/>
              <a:ext cx="1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400">
                  <a:solidFill>
                    <a:schemeClr val="bg2"/>
                  </a:solidFill>
                  <a:latin typeface="Tahoma" pitchFamily="34" charset="0"/>
                </a:rPr>
                <a:t>-</a:t>
              </a:r>
            </a:p>
          </p:txBody>
        </p:sp>
      </p:grpSp>
      <p:sp>
        <p:nvSpPr>
          <p:cNvPr id="388164" name="Oval 68"/>
          <p:cNvSpPr>
            <a:spLocks noChangeArrowheads="1"/>
          </p:cNvSpPr>
          <p:nvPr/>
        </p:nvSpPr>
        <p:spPr bwMode="auto">
          <a:xfrm>
            <a:off x="2432050" y="49482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1294" name="Text Box 70"/>
          <p:cNvSpPr txBox="1">
            <a:spLocks noChangeArrowheads="1"/>
          </p:cNvSpPr>
          <p:nvPr/>
        </p:nvSpPr>
        <p:spPr bwMode="auto">
          <a:xfrm>
            <a:off x="1116013" y="2022475"/>
            <a:ext cx="74914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On augmente encore la tension de polarisation inverse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11295" name="Freeform 71"/>
          <p:cNvSpPr>
            <a:spLocks/>
          </p:cNvSpPr>
          <p:nvPr/>
        </p:nvSpPr>
        <p:spPr bwMode="auto">
          <a:xfrm>
            <a:off x="1019175" y="4581525"/>
            <a:ext cx="1495425" cy="1712913"/>
          </a:xfrm>
          <a:custGeom>
            <a:avLst/>
            <a:gdLst>
              <a:gd name="T0" fmla="*/ 412750 w 942"/>
              <a:gd name="T1" fmla="*/ 0 h 1079"/>
              <a:gd name="T2" fmla="*/ 0 w 942"/>
              <a:gd name="T3" fmla="*/ 0 h 1079"/>
              <a:gd name="T4" fmla="*/ 0 w 942"/>
              <a:gd name="T5" fmla="*/ 1708150 h 1079"/>
              <a:gd name="T6" fmla="*/ 1495425 w 942"/>
              <a:gd name="T7" fmla="*/ 1712913 h 10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42" h="1079">
                <a:moveTo>
                  <a:pt x="260" y="0"/>
                </a:moveTo>
                <a:lnTo>
                  <a:pt x="0" y="0"/>
                </a:lnTo>
                <a:lnTo>
                  <a:pt x="0" y="1076"/>
                </a:lnTo>
                <a:lnTo>
                  <a:pt x="942" y="1079"/>
                </a:lnTo>
              </a:path>
            </a:pathLst>
          </a:custGeom>
          <a:noFill/>
          <a:ln w="571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1296" name="Freeform 72"/>
          <p:cNvSpPr>
            <a:spLocks/>
          </p:cNvSpPr>
          <p:nvPr/>
        </p:nvSpPr>
        <p:spPr bwMode="auto">
          <a:xfrm>
            <a:off x="3878263" y="4591050"/>
            <a:ext cx="2092325" cy="1698625"/>
          </a:xfrm>
          <a:custGeom>
            <a:avLst/>
            <a:gdLst>
              <a:gd name="T0" fmla="*/ 1372526 w 1279"/>
              <a:gd name="T1" fmla="*/ 1588 h 1070"/>
              <a:gd name="T2" fmla="*/ 2092325 w 1279"/>
              <a:gd name="T3" fmla="*/ 0 h 1070"/>
              <a:gd name="T4" fmla="*/ 2092325 w 1279"/>
              <a:gd name="T5" fmla="*/ 1698625 h 1070"/>
              <a:gd name="T6" fmla="*/ 0 w 1279"/>
              <a:gd name="T7" fmla="*/ 1695450 h 10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9" h="1070">
                <a:moveTo>
                  <a:pt x="839" y="1"/>
                </a:moveTo>
                <a:lnTo>
                  <a:pt x="1279" y="0"/>
                </a:lnTo>
                <a:lnTo>
                  <a:pt x="1279" y="1070"/>
                </a:lnTo>
                <a:lnTo>
                  <a:pt x="0" y="1068"/>
                </a:lnTo>
              </a:path>
            </a:pathLst>
          </a:custGeom>
          <a:noFill/>
          <a:ln w="57150" cmpd="sng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1297" name="Text Box 73"/>
          <p:cNvSpPr txBox="1">
            <a:spLocks noChangeArrowheads="1"/>
          </p:cNvSpPr>
          <p:nvPr/>
        </p:nvSpPr>
        <p:spPr bwMode="auto">
          <a:xfrm>
            <a:off x="4486275" y="5973763"/>
            <a:ext cx="1484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/>
              <a:t>Polarisation </a:t>
            </a:r>
          </a:p>
          <a:p>
            <a:pPr algn="r">
              <a:spcBef>
                <a:spcPct val="0"/>
              </a:spcBef>
            </a:pPr>
            <a:r>
              <a:rPr lang="fr-FR" altLang="fr-FR"/>
              <a:t>inverse</a:t>
            </a:r>
          </a:p>
        </p:txBody>
      </p:sp>
      <p:grpSp>
        <p:nvGrpSpPr>
          <p:cNvPr id="388177" name="Group 81"/>
          <p:cNvGrpSpPr>
            <a:grpSpLocks/>
          </p:cNvGrpSpPr>
          <p:nvPr/>
        </p:nvGrpSpPr>
        <p:grpSpPr bwMode="auto">
          <a:xfrm>
            <a:off x="6081713" y="2968625"/>
            <a:ext cx="2649537" cy="3194050"/>
            <a:chOff x="3831" y="1870"/>
            <a:chExt cx="1669" cy="2012"/>
          </a:xfrm>
        </p:grpSpPr>
        <p:sp>
          <p:nvSpPr>
            <p:cNvPr id="11306" name="Rectangle 74"/>
            <p:cNvSpPr>
              <a:spLocks noChangeArrowheads="1"/>
            </p:cNvSpPr>
            <p:nvPr/>
          </p:nvSpPr>
          <p:spPr bwMode="auto">
            <a:xfrm>
              <a:off x="3844" y="1870"/>
              <a:ext cx="1640" cy="201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11307" name="Text Box 75"/>
            <p:cNvSpPr txBox="1">
              <a:spLocks noChangeArrowheads="1"/>
            </p:cNvSpPr>
            <p:nvPr/>
          </p:nvSpPr>
          <p:spPr bwMode="auto">
            <a:xfrm>
              <a:off x="3831" y="1943"/>
              <a:ext cx="1669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1 - Libération des porteurs minoritaires : </a:t>
              </a:r>
              <a:r>
                <a:rPr lang="fr-FR" altLang="fr-FR" sz="2000">
                  <a:solidFill>
                    <a:srgbClr val="FF3300"/>
                  </a:solidFill>
                </a:rPr>
                <a:t>effet zener</a:t>
              </a:r>
            </a:p>
          </p:txBody>
        </p:sp>
      </p:grpSp>
      <p:pic>
        <p:nvPicPr>
          <p:cNvPr id="11299" name="Picture 76" descr="vpol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19350" y="5692775"/>
            <a:ext cx="1514475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8173" name="Oval 77"/>
          <p:cNvSpPr>
            <a:spLocks noChangeArrowheads="1"/>
          </p:cNvSpPr>
          <p:nvPr/>
        </p:nvSpPr>
        <p:spPr bwMode="auto">
          <a:xfrm>
            <a:off x="3902075" y="440213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8174" name="Text Box 78"/>
          <p:cNvSpPr txBox="1">
            <a:spLocks noChangeArrowheads="1"/>
          </p:cNvSpPr>
          <p:nvPr/>
        </p:nvSpPr>
        <p:spPr bwMode="auto">
          <a:xfrm>
            <a:off x="6081713" y="4121150"/>
            <a:ext cx="2649537" cy="122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2 - Les porteurs libèrent par choc d’autres porteurs : </a:t>
            </a:r>
            <a:r>
              <a:rPr lang="fr-FR" altLang="fr-FR" sz="2000">
                <a:solidFill>
                  <a:srgbClr val="FF3300"/>
                </a:solidFill>
              </a:rPr>
              <a:t>effet d’avalanche</a:t>
            </a:r>
          </a:p>
        </p:txBody>
      </p:sp>
      <p:sp>
        <p:nvSpPr>
          <p:cNvPr id="388175" name="Text Box 79"/>
          <p:cNvSpPr txBox="1">
            <a:spLocks noChangeArrowheads="1"/>
          </p:cNvSpPr>
          <p:nvPr/>
        </p:nvSpPr>
        <p:spPr bwMode="auto">
          <a:xfrm>
            <a:off x="6081713" y="5434013"/>
            <a:ext cx="2649537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3 - </a:t>
            </a:r>
            <a:r>
              <a:rPr lang="fr-FR" altLang="fr-FR" sz="2000">
                <a:solidFill>
                  <a:srgbClr val="FF3300"/>
                </a:solidFill>
              </a:rPr>
              <a:t>Rupture</a:t>
            </a:r>
            <a:r>
              <a:rPr lang="fr-FR" altLang="fr-FR"/>
              <a:t> des liaisons covalentes</a:t>
            </a:r>
            <a:endParaRPr lang="fr-FR" altLang="fr-FR" sz="2000">
              <a:solidFill>
                <a:srgbClr val="FF3300"/>
              </a:solidFill>
            </a:endParaRPr>
          </a:p>
        </p:txBody>
      </p:sp>
      <p:sp>
        <p:nvSpPr>
          <p:cNvPr id="388176" name="Oval 80"/>
          <p:cNvSpPr>
            <a:spLocks noChangeArrowheads="1"/>
          </p:cNvSpPr>
          <p:nvPr/>
        </p:nvSpPr>
        <p:spPr bwMode="auto">
          <a:xfrm>
            <a:off x="2890838" y="401002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8178" name="Oval 82"/>
          <p:cNvSpPr>
            <a:spLocks noChangeArrowheads="1"/>
          </p:cNvSpPr>
          <p:nvPr/>
        </p:nvSpPr>
        <p:spPr bwMode="auto">
          <a:xfrm>
            <a:off x="3429000" y="471011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8179" name="Oval 83"/>
          <p:cNvSpPr>
            <a:spLocks noChangeArrowheads="1"/>
          </p:cNvSpPr>
          <p:nvPr/>
        </p:nvSpPr>
        <p:spPr bwMode="auto">
          <a:xfrm>
            <a:off x="3649663" y="4848225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8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8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81481E-6 L -0.11164 -0.0578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8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-2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7 L 0.11389 -0.0347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881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" y="-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8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33 -0.02662 L -0.0066 -0.06806 L -0.06042 -0.06736 L -0.0566 -0.025 L -0.01094 0.04976 L -0.06962 0.15671 L -0.00712 0.12824 L -0.04931 0.07639 L -0.05764 0.00902 L -0.00764 0.01134 L 0.01233 -0.02662 Z " pathEditMode="relative" rAng="0" ptsTypes="AAAAAAAAAAA">
                                      <p:cBhvr>
                                        <p:cTn id="41" dur="5000" fill="hold"/>
                                        <p:tgtEl>
                                          <p:spTgt spid="388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" y="71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-0.04288 -0.01783 L -0.05278 0.03704 L -0.00399 0.11551 L -0.0434 0.12153 L -0.01007 0.06435 L -0.05226 -0.08588 L -0.00781 -0.0912 L -0.0467 0.03634 L -2.77778E-6 1.11111E-6 Z " pathEditMode="relative" ptsTypes="AAAAAAAAAA">
                                      <p:cBhvr>
                                        <p:cTn id="43" dur="5000" fill="hold"/>
                                        <p:tgtEl>
                                          <p:spTgt spid="388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6 -4.44444E-6 C 0.0019 0.01111 0.00399 0.02199 0.00659 0.03264 C 0.00746 0.03611 0.00781 0.03982 0.00937 0.04283 C 0.01006 0.04607 0.01059 0.04977 0.01163 0.05255 L 0.08055 0.06736 L 0.08159 -0.00671 L 0.0894 -0.07569 L 0.08437 -0.15116 L 0.03333 -0.15995 L 0.02777 -0.11041 L 0.08211 -0.02523 L -8.33333E-6 -4.44444E-6 Z " pathEditMode="relative" ptsTypes="fffAAAAAAAAf">
                                      <p:cBhvr>
                                        <p:cTn id="45" dur="5000" fill="hold"/>
                                        <p:tgtEl>
                                          <p:spTgt spid="388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7.40741E-6 C 0.00764 -0.0007 0.01528 -0.00232 0.02291 -0.00371 C 0.02621 -0.0051 0.02968 -0.00672 0.03281 -0.0088 L 0.05555 -0.01852 L 0.00677 0.03263 L 0.00955 -0.097 L 0.05278 -0.10811 L 0.0118 -0.18056 L 0.05503 -0.1889 L 0.01232 -0.12593 L 0.07343 -0.04445 L 0.07291 0.03425 L 0.00955 0.03634 L 1.11111E-6 -7.40741E-6 Z " pathEditMode="relative" ptsTypes="ffAAAAAAAAAAAf">
                                      <p:cBhvr>
                                        <p:cTn id="47" dur="5000" fill="hold"/>
                                        <p:tgtEl>
                                          <p:spTgt spid="388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85185E-6 L 0.02899 0.02361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388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" y="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5.55556E-6 1.11111E-6 L -0.02275 0.03982 " pathEditMode="relative" ptsTypes="AA">
                                      <p:cBhvr>
                                        <p:cTn id="51" dur="1000" fill="hold"/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8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-2.22222E-6 L 0.03056 -0.02361 " pathEditMode="relative" ptsTypes="AA">
                                      <p:cBhvr>
                                        <p:cTn id="56" dur="1000" fill="hold"/>
                                        <p:tgtEl>
                                          <p:spTgt spid="388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5.83333E-6 3.7037E-6 L 0.02223 0.02754 " pathEditMode="relative" ptsTypes="AA">
                                      <p:cBhvr>
                                        <p:cTn id="58" dur="1000" fill="hold"/>
                                        <p:tgtEl>
                                          <p:spTgt spid="388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77778E-7 -4.81481E-6 L 0.02552 -0.00162 " pathEditMode="relative" ptsTypes="AA">
                                      <p:cBhvr>
                                        <p:cTn id="60" dur="1000" fill="hold"/>
                                        <p:tgtEl>
                                          <p:spTgt spid="388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 -3.33333E-6 L 0.025 -0.00277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4.16667E-6 -7.40741E-7 L -0.01164 -0.04306 " pathEditMode="relative" ptsTypes="AA">
                                      <p:cBhvr>
                                        <p:cTn id="64" dur="1000" fill="hold"/>
                                        <p:tgtEl>
                                          <p:spTgt spid="388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1.11111E-6 -6.2963E-6 L 0.01268 -0.01575 " pathEditMode="relative" ptsTypes="AA">
                                      <p:cBhvr>
                                        <p:cTn id="66" dur="1000" fill="hold"/>
                                        <p:tgtEl>
                                          <p:spTgt spid="388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7.40741E-7 L 0.03715 -0.02801 " pathEditMode="relative" ptsTypes="AA">
                                      <p:cBhvr>
                                        <p:cTn id="68" dur="1000" fill="hold"/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88889E-6 2.22222E-6 L -0.02552 -0.01551 " pathEditMode="relative" ptsTypes="AA">
                                      <p:cBhvr>
                                        <p:cTn id="70" dur="1000" fill="hold"/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8.33333E-7 3.33333E-6 L -0.03281 -0.01852 " pathEditMode="relative" ptsTypes="AA">
                                      <p:cBhvr>
                                        <p:cTn id="72" dur="1000" fill="hold"/>
                                        <p:tgtEl>
                                          <p:spTgt spid="388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5.55556E-7 5.92593E-6 L 0.00226 0.03404 " pathEditMode="relative" ptsTypes="AA">
                                      <p:cBhvr>
                                        <p:cTn id="74" dur="1000" fill="hold"/>
                                        <p:tgtEl>
                                          <p:spTgt spid="388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1.38889E-6 -1.11111E-6 L -0.02778 -0.02361 " pathEditMode="relative" ptsTypes="AA">
                                      <p:cBhvr>
                                        <p:cTn id="76" dur="1000" fill="hold"/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3.33333E-6 -7.77778E-6 L 0.02223 0.028 " pathEditMode="relative" ptsTypes="AA">
                                      <p:cBhvr>
                                        <p:cTn id="78" dur="1000" fill="hold"/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5.55556E-7 -2.22222E-6 L 0.01667 0.01412 " pathEditMode="relative" ptsTypes="AA">
                                      <p:cBhvr>
                                        <p:cTn id="80" dur="1000" fill="hold"/>
                                        <p:tgtEl>
                                          <p:spTgt spid="388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2.22222E-6 -8.14815E-6 L -0.01111 0.03333 " pathEditMode="relative" ptsTypes="AA">
                                      <p:cBhvr>
                                        <p:cTn id="82" dur="1000" fill="hold"/>
                                        <p:tgtEl>
                                          <p:spTgt spid="388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49" grpId="0" animBg="1"/>
      <p:bldP spid="388149" grpId="1" animBg="1"/>
      <p:bldP spid="388164" grpId="0" animBg="1"/>
      <p:bldP spid="388164" grpId="1" animBg="1"/>
      <p:bldP spid="388164" grpId="2" animBg="1"/>
      <p:bldP spid="388173" grpId="0" animBg="1"/>
      <p:bldP spid="388173" grpId="1" animBg="1"/>
      <p:bldP spid="388173" grpId="2" animBg="1"/>
      <p:bldP spid="388174" grpId="0"/>
      <p:bldP spid="388176" grpId="0" animBg="1"/>
      <p:bldP spid="388176" grpId="1" animBg="1"/>
      <p:bldP spid="388178" grpId="0" animBg="1"/>
      <p:bldP spid="388178" grpId="1" animBg="1"/>
      <p:bldP spid="388179" grpId="0" animBg="1"/>
      <p:bldP spid="38817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3"/>
          <p:cNvSpPr>
            <a:spLocks noChangeShapeType="1"/>
          </p:cNvSpPr>
          <p:nvPr/>
        </p:nvSpPr>
        <p:spPr bwMode="auto">
          <a:xfrm flipV="1">
            <a:off x="4664075" y="2005013"/>
            <a:ext cx="0" cy="420687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291" name="Line 4"/>
          <p:cNvSpPr>
            <a:spLocks noChangeShapeType="1"/>
          </p:cNvSpPr>
          <p:nvPr/>
        </p:nvSpPr>
        <p:spPr bwMode="auto">
          <a:xfrm>
            <a:off x="1285875" y="4899025"/>
            <a:ext cx="61976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6216650" y="5565775"/>
            <a:ext cx="14303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>
                <a:solidFill>
                  <a:srgbClr val="FF0000"/>
                </a:solidFill>
              </a:rPr>
              <a:t>Seuil 0,6 v</a:t>
            </a:r>
          </a:p>
        </p:txBody>
      </p:sp>
      <p:sp>
        <p:nvSpPr>
          <p:cNvPr id="12293" name="Line 7"/>
          <p:cNvSpPr>
            <a:spLocks noChangeShapeType="1"/>
          </p:cNvSpPr>
          <p:nvPr/>
        </p:nvSpPr>
        <p:spPr bwMode="auto">
          <a:xfrm flipH="1" flipV="1">
            <a:off x="5456238" y="5035550"/>
            <a:ext cx="790575" cy="5683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294" name="Text Box 8"/>
          <p:cNvSpPr txBox="1">
            <a:spLocks noChangeArrowheads="1"/>
          </p:cNvSpPr>
          <p:nvPr/>
        </p:nvSpPr>
        <p:spPr bwMode="auto">
          <a:xfrm>
            <a:off x="5875338" y="3121025"/>
            <a:ext cx="1471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>
                <a:solidFill>
                  <a:srgbClr val="008000"/>
                </a:solidFill>
              </a:rPr>
              <a:t>Conduction</a:t>
            </a:r>
          </a:p>
        </p:txBody>
      </p:sp>
      <p:sp>
        <p:nvSpPr>
          <p:cNvPr id="12295" name="Text Box 9"/>
          <p:cNvSpPr txBox="1">
            <a:spLocks noChangeArrowheads="1"/>
          </p:cNvSpPr>
          <p:nvPr/>
        </p:nvSpPr>
        <p:spPr bwMode="auto">
          <a:xfrm>
            <a:off x="3208338" y="4498975"/>
            <a:ext cx="10906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>
                <a:solidFill>
                  <a:schemeClr val="accent2"/>
                </a:solidFill>
              </a:rPr>
              <a:t>Bloquée</a:t>
            </a:r>
          </a:p>
        </p:txBody>
      </p:sp>
      <p:sp>
        <p:nvSpPr>
          <p:cNvPr id="12296" name="Text Box 10"/>
          <p:cNvSpPr txBox="1">
            <a:spLocks noChangeArrowheads="1"/>
          </p:cNvSpPr>
          <p:nvPr/>
        </p:nvSpPr>
        <p:spPr bwMode="auto">
          <a:xfrm>
            <a:off x="2446338" y="5518150"/>
            <a:ext cx="21748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/>
              <a:t>Claquage:</a:t>
            </a:r>
          </a:p>
          <a:p>
            <a:pPr algn="l">
              <a:spcBef>
                <a:spcPct val="0"/>
              </a:spcBef>
            </a:pPr>
            <a:r>
              <a:rPr lang="fr-FR" altLang="fr-FR" sz="2000"/>
              <a:t>Zéner, avalanche</a:t>
            </a:r>
          </a:p>
        </p:txBody>
      </p:sp>
      <p:sp>
        <p:nvSpPr>
          <p:cNvPr id="12297" name="Line 11"/>
          <p:cNvSpPr>
            <a:spLocks noChangeShapeType="1"/>
          </p:cNvSpPr>
          <p:nvPr/>
        </p:nvSpPr>
        <p:spPr bwMode="auto">
          <a:xfrm flipV="1">
            <a:off x="5356225" y="2165350"/>
            <a:ext cx="631825" cy="272097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298" name="Line 12"/>
          <p:cNvSpPr>
            <a:spLocks noChangeShapeType="1"/>
          </p:cNvSpPr>
          <p:nvPr/>
        </p:nvSpPr>
        <p:spPr bwMode="auto">
          <a:xfrm flipH="1">
            <a:off x="2573338" y="4886325"/>
            <a:ext cx="2770187" cy="12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299" name="Line 13"/>
          <p:cNvSpPr>
            <a:spLocks noChangeShapeType="1"/>
          </p:cNvSpPr>
          <p:nvPr/>
        </p:nvSpPr>
        <p:spPr bwMode="auto">
          <a:xfrm flipH="1">
            <a:off x="2263775" y="4911725"/>
            <a:ext cx="296863" cy="14970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300" name="Text Box 14"/>
          <p:cNvSpPr txBox="1">
            <a:spLocks noChangeArrowheads="1"/>
          </p:cNvSpPr>
          <p:nvPr/>
        </p:nvSpPr>
        <p:spPr bwMode="auto">
          <a:xfrm>
            <a:off x="7292975" y="4476750"/>
            <a:ext cx="334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>
                <a:latin typeface="Tahoma" pitchFamily="34" charset="0"/>
              </a:rPr>
              <a:t>V</a:t>
            </a:r>
          </a:p>
        </p:txBody>
      </p:sp>
      <p:sp>
        <p:nvSpPr>
          <p:cNvPr id="12301" name="Text Box 15"/>
          <p:cNvSpPr txBox="1">
            <a:spLocks noChangeArrowheads="1"/>
          </p:cNvSpPr>
          <p:nvPr/>
        </p:nvSpPr>
        <p:spPr bwMode="auto">
          <a:xfrm>
            <a:off x="4748213" y="1968500"/>
            <a:ext cx="27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000">
                <a:latin typeface="Tahoma" pitchFamily="34" charset="0"/>
              </a:rPr>
              <a:t>I</a:t>
            </a:r>
          </a:p>
        </p:txBody>
      </p:sp>
      <p:sp>
        <p:nvSpPr>
          <p:cNvPr id="12302" name="Oval 16"/>
          <p:cNvSpPr>
            <a:spLocks noChangeArrowheads="1"/>
          </p:cNvSpPr>
          <p:nvPr/>
        </p:nvSpPr>
        <p:spPr bwMode="auto">
          <a:xfrm>
            <a:off x="5257800" y="4813300"/>
            <a:ext cx="136525" cy="18415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2303" name="Text Box 18"/>
          <p:cNvSpPr txBox="1">
            <a:spLocks noChangeArrowheads="1"/>
          </p:cNvSpPr>
          <p:nvPr/>
        </p:nvSpPr>
        <p:spPr bwMode="auto">
          <a:xfrm>
            <a:off x="1406525" y="717550"/>
            <a:ext cx="723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Caractéristique de la jonction PN</a:t>
            </a:r>
            <a:endParaRPr lang="fr-FR" alt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90"/>
          <p:cNvSpPr>
            <a:spLocks noChangeArrowheads="1"/>
          </p:cNvSpPr>
          <p:nvPr/>
        </p:nvSpPr>
        <p:spPr bwMode="auto">
          <a:xfrm>
            <a:off x="1116013" y="1938338"/>
            <a:ext cx="7581900" cy="855662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13315" name="Text Box 287"/>
          <p:cNvSpPr txBox="1">
            <a:spLocks noChangeArrowheads="1"/>
          </p:cNvSpPr>
          <p:nvPr/>
        </p:nvSpPr>
        <p:spPr bwMode="auto">
          <a:xfrm>
            <a:off x="1406525" y="717550"/>
            <a:ext cx="4413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Transistor bipolaire</a:t>
            </a:r>
            <a:endParaRPr lang="fr-FR" altLang="fr-FR"/>
          </a:p>
        </p:txBody>
      </p:sp>
      <p:sp>
        <p:nvSpPr>
          <p:cNvPr id="13316" name="Text Box 289"/>
          <p:cNvSpPr txBox="1">
            <a:spLocks noChangeArrowheads="1"/>
          </p:cNvSpPr>
          <p:nvPr/>
        </p:nvSpPr>
        <p:spPr bwMode="auto">
          <a:xfrm>
            <a:off x="1116013" y="1955800"/>
            <a:ext cx="74914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Un </a:t>
            </a:r>
            <a:r>
              <a:rPr lang="fr-FR" altLang="fr-FR" sz="2400">
                <a:solidFill>
                  <a:srgbClr val="FF3300"/>
                </a:solidFill>
              </a:rPr>
              <a:t>transistor bipolaire</a:t>
            </a:r>
            <a:r>
              <a:rPr lang="fr-FR" altLang="fr-FR" sz="2000"/>
              <a:t> comporte </a:t>
            </a:r>
            <a:r>
              <a:rPr lang="fr-FR" altLang="fr-FR" sz="2400">
                <a:solidFill>
                  <a:srgbClr val="FF3300"/>
                </a:solidFill>
              </a:rPr>
              <a:t>3</a:t>
            </a:r>
            <a:r>
              <a:rPr lang="fr-FR" altLang="fr-FR" sz="2000"/>
              <a:t> couches de silicium disposées en sandwich dans l’ordre </a:t>
            </a:r>
            <a:r>
              <a:rPr lang="fr-FR" altLang="fr-FR" sz="2400">
                <a:solidFill>
                  <a:srgbClr val="FF3300"/>
                </a:solidFill>
              </a:rPr>
              <a:t>PNP</a:t>
            </a:r>
            <a:r>
              <a:rPr lang="fr-FR" altLang="fr-FR" sz="2000"/>
              <a:t> ou </a:t>
            </a:r>
            <a:r>
              <a:rPr lang="fr-FR" altLang="fr-FR" sz="2400">
                <a:solidFill>
                  <a:srgbClr val="FF3300"/>
                </a:solidFill>
              </a:rPr>
              <a:t>NPN</a:t>
            </a:r>
          </a:p>
        </p:txBody>
      </p:sp>
      <p:grpSp>
        <p:nvGrpSpPr>
          <p:cNvPr id="296227" name="Group 291"/>
          <p:cNvGrpSpPr>
            <a:grpSpLocks/>
          </p:cNvGrpSpPr>
          <p:nvPr/>
        </p:nvGrpSpPr>
        <p:grpSpPr bwMode="auto">
          <a:xfrm>
            <a:off x="1227138" y="3265488"/>
            <a:ext cx="1897062" cy="1824037"/>
            <a:chOff x="735" y="2277"/>
            <a:chExt cx="1263" cy="1149"/>
          </a:xfrm>
        </p:grpSpPr>
        <p:sp>
          <p:nvSpPr>
            <p:cNvPr id="13386" name="Rectangle 292"/>
            <p:cNvSpPr>
              <a:spLocks noChangeArrowheads="1"/>
            </p:cNvSpPr>
            <p:nvPr/>
          </p:nvSpPr>
          <p:spPr bwMode="auto">
            <a:xfrm>
              <a:off x="735" y="2709"/>
              <a:ext cx="1263" cy="717"/>
            </a:xfrm>
            <a:prstGeom prst="rect">
              <a:avLst/>
            </a:prstGeom>
            <a:solidFill>
              <a:srgbClr val="66FF66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66FF66"/>
              </a:extrusionClr>
            </a:sp3d>
          </p:spPr>
          <p:txBody>
            <a:bodyPr wrap="none" anchor="ctr">
              <a:flatTx/>
            </a:bodyPr>
            <a:lstStyle/>
            <a:p>
              <a:pPr algn="ctr">
                <a:spcBef>
                  <a:spcPct val="0"/>
                </a:spcBef>
              </a:pPr>
              <a:endParaRPr lang="fr-FR" altLang="fr-FR" sz="2400">
                <a:latin typeface="Tahoma" pitchFamily="34" charset="0"/>
              </a:endParaRPr>
            </a:p>
          </p:txBody>
        </p:sp>
        <p:sp>
          <p:nvSpPr>
            <p:cNvPr id="13387" name="Text Box 293"/>
            <p:cNvSpPr txBox="1">
              <a:spLocks noChangeArrowheads="1"/>
            </p:cNvSpPr>
            <p:nvPr/>
          </p:nvSpPr>
          <p:spPr bwMode="auto">
            <a:xfrm>
              <a:off x="1067" y="2277"/>
              <a:ext cx="93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>
                  <a:solidFill>
                    <a:srgbClr val="FFFFFF"/>
                  </a:solidFill>
                </a:rPr>
                <a:t>Matériau N</a:t>
              </a:r>
            </a:p>
          </p:txBody>
        </p:sp>
        <p:grpSp>
          <p:nvGrpSpPr>
            <p:cNvPr id="13388" name="Group 294"/>
            <p:cNvGrpSpPr>
              <a:grpSpLocks/>
            </p:cNvGrpSpPr>
            <p:nvPr/>
          </p:nvGrpSpPr>
          <p:grpSpPr bwMode="auto">
            <a:xfrm>
              <a:off x="1650" y="2761"/>
              <a:ext cx="294" cy="632"/>
              <a:chOff x="1650" y="2758"/>
              <a:chExt cx="294" cy="632"/>
            </a:xfrm>
          </p:grpSpPr>
          <p:grpSp>
            <p:nvGrpSpPr>
              <p:cNvPr id="13407" name="Group 295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13413" name="Picture 296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414" name="Text Box 297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13408" name="Group 298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13411" name="Picture 299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412" name="Text Box 300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13409" name="Oval 301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410" name="Oval 302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389" name="Group 303"/>
            <p:cNvGrpSpPr>
              <a:grpSpLocks/>
            </p:cNvGrpSpPr>
            <p:nvPr/>
          </p:nvGrpSpPr>
          <p:grpSpPr bwMode="auto">
            <a:xfrm>
              <a:off x="1258" y="2761"/>
              <a:ext cx="294" cy="632"/>
              <a:chOff x="1650" y="2758"/>
              <a:chExt cx="294" cy="632"/>
            </a:xfrm>
          </p:grpSpPr>
          <p:grpSp>
            <p:nvGrpSpPr>
              <p:cNvPr id="13399" name="Group 304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13405" name="Picture 305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406" name="Text Box 306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13400" name="Group 307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13403" name="Picture 308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404" name="Text Box 309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13401" name="Oval 310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402" name="Oval 311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390" name="Group 312"/>
            <p:cNvGrpSpPr>
              <a:grpSpLocks/>
            </p:cNvGrpSpPr>
            <p:nvPr/>
          </p:nvGrpSpPr>
          <p:grpSpPr bwMode="auto">
            <a:xfrm>
              <a:off x="866" y="2761"/>
              <a:ext cx="294" cy="632"/>
              <a:chOff x="1650" y="2758"/>
              <a:chExt cx="294" cy="632"/>
            </a:xfrm>
          </p:grpSpPr>
          <p:grpSp>
            <p:nvGrpSpPr>
              <p:cNvPr id="13391" name="Group 313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13397" name="Picture 314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98" name="Text Box 315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13392" name="Group 316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13395" name="Picture 317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96" name="Text Box 318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13393" name="Oval 319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394" name="Oval 320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13318" name="Rectangle 322"/>
          <p:cNvSpPr>
            <a:spLocks noChangeArrowheads="1"/>
          </p:cNvSpPr>
          <p:nvPr/>
        </p:nvSpPr>
        <p:spPr bwMode="auto">
          <a:xfrm>
            <a:off x="3851275" y="3951288"/>
            <a:ext cx="1370013" cy="1138237"/>
          </a:xfrm>
          <a:prstGeom prst="rect">
            <a:avLst/>
          </a:prstGeom>
          <a:solidFill>
            <a:srgbClr val="FF505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505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3319" name="Text Box 323"/>
          <p:cNvSpPr txBox="1">
            <a:spLocks noChangeArrowheads="1"/>
          </p:cNvSpPr>
          <p:nvPr/>
        </p:nvSpPr>
        <p:spPr bwMode="auto">
          <a:xfrm>
            <a:off x="4378325" y="3273425"/>
            <a:ext cx="1333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>
                <a:solidFill>
                  <a:srgbClr val="FFFFFF"/>
                </a:solidFill>
              </a:rPr>
              <a:t>Matériau P</a:t>
            </a:r>
          </a:p>
        </p:txBody>
      </p:sp>
      <p:grpSp>
        <p:nvGrpSpPr>
          <p:cNvPr id="13320" name="Group 324"/>
          <p:cNvGrpSpPr>
            <a:grpSpLocks/>
          </p:cNvGrpSpPr>
          <p:nvPr/>
        </p:nvGrpSpPr>
        <p:grpSpPr bwMode="auto">
          <a:xfrm>
            <a:off x="3979863" y="4037013"/>
            <a:ext cx="493712" cy="1008062"/>
            <a:chOff x="3820" y="2756"/>
            <a:chExt cx="311" cy="635"/>
          </a:xfrm>
        </p:grpSpPr>
        <p:grpSp>
          <p:nvGrpSpPr>
            <p:cNvPr id="13378" name="Group 325"/>
            <p:cNvGrpSpPr>
              <a:grpSpLocks/>
            </p:cNvGrpSpPr>
            <p:nvPr/>
          </p:nvGrpSpPr>
          <p:grpSpPr bwMode="auto">
            <a:xfrm>
              <a:off x="3872" y="2756"/>
              <a:ext cx="259" cy="288"/>
              <a:chOff x="2675" y="1769"/>
              <a:chExt cx="259" cy="288"/>
            </a:xfrm>
          </p:grpSpPr>
          <p:pic>
            <p:nvPicPr>
              <p:cNvPr id="13384" name="Picture 326" descr="bouleb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3385" name="Text Box 327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3379" name="Group 328"/>
            <p:cNvGrpSpPr>
              <a:grpSpLocks/>
            </p:cNvGrpSpPr>
            <p:nvPr/>
          </p:nvGrpSpPr>
          <p:grpSpPr bwMode="auto">
            <a:xfrm>
              <a:off x="3871" y="3103"/>
              <a:ext cx="259" cy="288"/>
              <a:chOff x="2675" y="1769"/>
              <a:chExt cx="259" cy="288"/>
            </a:xfrm>
          </p:grpSpPr>
          <p:pic>
            <p:nvPicPr>
              <p:cNvPr id="13382" name="Picture 329" descr="bouleb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3383" name="Text Box 330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sp>
          <p:nvSpPr>
            <p:cNvPr id="13380" name="Oval 331"/>
            <p:cNvSpPr>
              <a:spLocks noChangeArrowheads="1"/>
            </p:cNvSpPr>
            <p:nvPr/>
          </p:nvSpPr>
          <p:spPr bwMode="auto">
            <a:xfrm>
              <a:off x="3820" y="3129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81" name="Oval 332"/>
            <p:cNvSpPr>
              <a:spLocks noChangeArrowheads="1"/>
            </p:cNvSpPr>
            <p:nvPr/>
          </p:nvSpPr>
          <p:spPr bwMode="auto">
            <a:xfrm>
              <a:off x="3836" y="2770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3321" name="Group 333"/>
          <p:cNvGrpSpPr>
            <a:grpSpLocks/>
          </p:cNvGrpSpPr>
          <p:nvPr/>
        </p:nvGrpSpPr>
        <p:grpSpPr bwMode="auto">
          <a:xfrm>
            <a:off x="4616450" y="4037013"/>
            <a:ext cx="493713" cy="1008062"/>
            <a:chOff x="3820" y="2756"/>
            <a:chExt cx="311" cy="635"/>
          </a:xfrm>
        </p:grpSpPr>
        <p:grpSp>
          <p:nvGrpSpPr>
            <p:cNvPr id="13370" name="Group 334"/>
            <p:cNvGrpSpPr>
              <a:grpSpLocks/>
            </p:cNvGrpSpPr>
            <p:nvPr/>
          </p:nvGrpSpPr>
          <p:grpSpPr bwMode="auto">
            <a:xfrm>
              <a:off x="3872" y="2756"/>
              <a:ext cx="259" cy="288"/>
              <a:chOff x="2675" y="1769"/>
              <a:chExt cx="259" cy="288"/>
            </a:xfrm>
          </p:grpSpPr>
          <p:pic>
            <p:nvPicPr>
              <p:cNvPr id="13376" name="Picture 335" descr="bouleb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3377" name="Text Box 336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3371" name="Group 337"/>
            <p:cNvGrpSpPr>
              <a:grpSpLocks/>
            </p:cNvGrpSpPr>
            <p:nvPr/>
          </p:nvGrpSpPr>
          <p:grpSpPr bwMode="auto">
            <a:xfrm>
              <a:off x="3871" y="3103"/>
              <a:ext cx="259" cy="288"/>
              <a:chOff x="2675" y="1769"/>
              <a:chExt cx="259" cy="288"/>
            </a:xfrm>
          </p:grpSpPr>
          <p:pic>
            <p:nvPicPr>
              <p:cNvPr id="13374" name="Picture 338" descr="bouleb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3375" name="Text Box 339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sp>
          <p:nvSpPr>
            <p:cNvPr id="13372" name="Oval 340"/>
            <p:cNvSpPr>
              <a:spLocks noChangeArrowheads="1"/>
            </p:cNvSpPr>
            <p:nvPr/>
          </p:nvSpPr>
          <p:spPr bwMode="auto">
            <a:xfrm>
              <a:off x="3820" y="3129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73" name="Oval 341"/>
            <p:cNvSpPr>
              <a:spLocks noChangeArrowheads="1"/>
            </p:cNvSpPr>
            <p:nvPr/>
          </p:nvSpPr>
          <p:spPr bwMode="auto">
            <a:xfrm>
              <a:off x="3836" y="2770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96287" name="Group 351"/>
          <p:cNvGrpSpPr>
            <a:grpSpLocks/>
          </p:cNvGrpSpPr>
          <p:nvPr/>
        </p:nvGrpSpPr>
        <p:grpSpPr bwMode="auto">
          <a:xfrm>
            <a:off x="5994400" y="3265488"/>
            <a:ext cx="1882775" cy="1824037"/>
            <a:chOff x="735" y="2277"/>
            <a:chExt cx="1286" cy="1149"/>
          </a:xfrm>
        </p:grpSpPr>
        <p:sp>
          <p:nvSpPr>
            <p:cNvPr id="13341" name="Rectangle 352"/>
            <p:cNvSpPr>
              <a:spLocks noChangeArrowheads="1"/>
            </p:cNvSpPr>
            <p:nvPr/>
          </p:nvSpPr>
          <p:spPr bwMode="auto">
            <a:xfrm>
              <a:off x="735" y="2709"/>
              <a:ext cx="1263" cy="717"/>
            </a:xfrm>
            <a:prstGeom prst="rect">
              <a:avLst/>
            </a:prstGeom>
            <a:solidFill>
              <a:srgbClr val="66FF66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66FF66"/>
              </a:extrusionClr>
            </a:sp3d>
          </p:spPr>
          <p:txBody>
            <a:bodyPr wrap="none" anchor="ctr">
              <a:flatTx/>
            </a:bodyPr>
            <a:lstStyle/>
            <a:p>
              <a:pPr algn="ctr">
                <a:spcBef>
                  <a:spcPct val="0"/>
                </a:spcBef>
              </a:pPr>
              <a:endParaRPr lang="fr-FR" altLang="fr-FR" sz="2400">
                <a:latin typeface="Tahoma" pitchFamily="34" charset="0"/>
              </a:endParaRPr>
            </a:p>
          </p:txBody>
        </p:sp>
        <p:sp>
          <p:nvSpPr>
            <p:cNvPr id="13342" name="Text Box 353"/>
            <p:cNvSpPr txBox="1">
              <a:spLocks noChangeArrowheads="1"/>
            </p:cNvSpPr>
            <p:nvPr/>
          </p:nvSpPr>
          <p:spPr bwMode="auto">
            <a:xfrm>
              <a:off x="1067" y="2277"/>
              <a:ext cx="9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>
                  <a:solidFill>
                    <a:srgbClr val="FFFFFF"/>
                  </a:solidFill>
                </a:rPr>
                <a:t>Matériau N</a:t>
              </a:r>
            </a:p>
          </p:txBody>
        </p:sp>
        <p:grpSp>
          <p:nvGrpSpPr>
            <p:cNvPr id="13343" name="Group 354"/>
            <p:cNvGrpSpPr>
              <a:grpSpLocks/>
            </p:cNvGrpSpPr>
            <p:nvPr/>
          </p:nvGrpSpPr>
          <p:grpSpPr bwMode="auto">
            <a:xfrm>
              <a:off x="1650" y="2761"/>
              <a:ext cx="294" cy="632"/>
              <a:chOff x="1650" y="2758"/>
              <a:chExt cx="294" cy="632"/>
            </a:xfrm>
          </p:grpSpPr>
          <p:grpSp>
            <p:nvGrpSpPr>
              <p:cNvPr id="13362" name="Group 355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13368" name="Picture 356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69" name="Text Box 357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13363" name="Group 358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13366" name="Picture 359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67" name="Text Box 360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13364" name="Oval 361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365" name="Oval 362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344" name="Group 363"/>
            <p:cNvGrpSpPr>
              <a:grpSpLocks/>
            </p:cNvGrpSpPr>
            <p:nvPr/>
          </p:nvGrpSpPr>
          <p:grpSpPr bwMode="auto">
            <a:xfrm>
              <a:off x="1258" y="2761"/>
              <a:ext cx="294" cy="632"/>
              <a:chOff x="1650" y="2758"/>
              <a:chExt cx="294" cy="632"/>
            </a:xfrm>
          </p:grpSpPr>
          <p:grpSp>
            <p:nvGrpSpPr>
              <p:cNvPr id="13354" name="Group 364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13360" name="Picture 365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61" name="Text Box 366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13355" name="Group 367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13358" name="Picture 368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59" name="Text Box 369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13356" name="Oval 370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357" name="Oval 371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345" name="Group 372"/>
            <p:cNvGrpSpPr>
              <a:grpSpLocks/>
            </p:cNvGrpSpPr>
            <p:nvPr/>
          </p:nvGrpSpPr>
          <p:grpSpPr bwMode="auto">
            <a:xfrm>
              <a:off x="866" y="2761"/>
              <a:ext cx="294" cy="632"/>
              <a:chOff x="1650" y="2758"/>
              <a:chExt cx="294" cy="632"/>
            </a:xfrm>
          </p:grpSpPr>
          <p:grpSp>
            <p:nvGrpSpPr>
              <p:cNvPr id="13346" name="Group 373"/>
              <p:cNvGrpSpPr>
                <a:grpSpLocks/>
              </p:cNvGrpSpPr>
              <p:nvPr/>
            </p:nvGrpSpPr>
            <p:grpSpPr bwMode="auto">
              <a:xfrm>
                <a:off x="1651" y="2758"/>
                <a:ext cx="247" cy="288"/>
                <a:chOff x="2277" y="1781"/>
                <a:chExt cx="247" cy="288"/>
              </a:xfrm>
            </p:grpSpPr>
            <p:pic>
              <p:nvPicPr>
                <p:cNvPr id="13352" name="Picture 374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53" name="Text Box 375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grpSp>
            <p:nvGrpSpPr>
              <p:cNvPr id="13347" name="Group 376"/>
              <p:cNvGrpSpPr>
                <a:grpSpLocks/>
              </p:cNvGrpSpPr>
              <p:nvPr/>
            </p:nvGrpSpPr>
            <p:grpSpPr bwMode="auto">
              <a:xfrm>
                <a:off x="1650" y="3102"/>
                <a:ext cx="247" cy="288"/>
                <a:chOff x="2277" y="1781"/>
                <a:chExt cx="247" cy="288"/>
              </a:xfrm>
            </p:grpSpPr>
            <p:pic>
              <p:nvPicPr>
                <p:cNvPr id="13350" name="Picture 377" descr="boulej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288" y="1813"/>
                  <a:ext cx="236" cy="2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351" name="Text Box 378"/>
                <p:cNvSpPr txBox="1">
                  <a:spLocks noChangeArrowheads="1"/>
                </p:cNvSpPr>
                <p:nvPr/>
              </p:nvSpPr>
              <p:spPr bwMode="auto">
                <a:xfrm>
                  <a:off x="2277" y="1781"/>
                  <a:ext cx="19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fr-FR" altLang="fr-FR" sz="2400">
                      <a:solidFill>
                        <a:schemeClr val="bg2"/>
                      </a:solidFill>
                      <a:latin typeface="Tahoma" pitchFamily="34" charset="0"/>
                    </a:rPr>
                    <a:t>+</a:t>
                  </a:r>
                </a:p>
              </p:txBody>
            </p:sp>
          </p:grpSp>
          <p:sp>
            <p:nvSpPr>
              <p:cNvPr id="13348" name="Oval 379"/>
              <p:cNvSpPr>
                <a:spLocks noChangeArrowheads="1"/>
              </p:cNvSpPr>
              <p:nvPr/>
            </p:nvSpPr>
            <p:spPr bwMode="auto">
              <a:xfrm>
                <a:off x="1896" y="2762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349" name="Oval 380"/>
              <p:cNvSpPr>
                <a:spLocks noChangeArrowheads="1"/>
              </p:cNvSpPr>
              <p:nvPr/>
            </p:nvSpPr>
            <p:spPr bwMode="auto">
              <a:xfrm>
                <a:off x="1897" y="3099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96318" name="Group 382"/>
          <p:cNvGrpSpPr>
            <a:grpSpLocks/>
          </p:cNvGrpSpPr>
          <p:nvPr/>
        </p:nvGrpSpPr>
        <p:grpSpPr bwMode="auto">
          <a:xfrm>
            <a:off x="3408363" y="3084513"/>
            <a:ext cx="2308225" cy="2660650"/>
            <a:chOff x="2147" y="1943"/>
            <a:chExt cx="1454" cy="1676"/>
          </a:xfrm>
        </p:grpSpPr>
        <p:grpSp>
          <p:nvGrpSpPr>
            <p:cNvPr id="13327" name="Group 138"/>
            <p:cNvGrpSpPr>
              <a:grpSpLocks/>
            </p:cNvGrpSpPr>
            <p:nvPr/>
          </p:nvGrpSpPr>
          <p:grpSpPr bwMode="auto">
            <a:xfrm>
              <a:off x="2330" y="3381"/>
              <a:ext cx="791" cy="238"/>
              <a:chOff x="2914" y="3175"/>
              <a:chExt cx="791" cy="238"/>
            </a:xfrm>
          </p:grpSpPr>
          <p:grpSp>
            <p:nvGrpSpPr>
              <p:cNvPr id="13330" name="Group 139"/>
              <p:cNvGrpSpPr>
                <a:grpSpLocks/>
              </p:cNvGrpSpPr>
              <p:nvPr/>
            </p:nvGrpSpPr>
            <p:grpSpPr bwMode="auto">
              <a:xfrm rot="-5400000">
                <a:off x="3047" y="3054"/>
                <a:ext cx="141" cy="407"/>
                <a:chOff x="2151" y="2104"/>
                <a:chExt cx="234" cy="579"/>
              </a:xfrm>
            </p:grpSpPr>
            <p:sp>
              <p:nvSpPr>
                <p:cNvPr id="13337" name="AutoShape 140"/>
                <p:cNvSpPr>
                  <a:spLocks noChangeArrowheads="1"/>
                </p:cNvSpPr>
                <p:nvPr/>
              </p:nvSpPr>
              <p:spPr bwMode="auto">
                <a:xfrm>
                  <a:off x="2159" y="2315"/>
                  <a:ext cx="226" cy="155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38" name="Line 141"/>
                <p:cNvSpPr>
                  <a:spLocks noChangeShapeType="1"/>
                </p:cNvSpPr>
                <p:nvPr/>
              </p:nvSpPr>
              <p:spPr bwMode="auto">
                <a:xfrm>
                  <a:off x="2151" y="2307"/>
                  <a:ext cx="23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39" name="Line 142"/>
                <p:cNvSpPr>
                  <a:spLocks noChangeShapeType="1"/>
                </p:cNvSpPr>
                <p:nvPr/>
              </p:nvSpPr>
              <p:spPr bwMode="auto">
                <a:xfrm flipV="1">
                  <a:off x="2275" y="2104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40" name="Line 143"/>
                <p:cNvSpPr>
                  <a:spLocks noChangeShapeType="1"/>
                </p:cNvSpPr>
                <p:nvPr/>
              </p:nvSpPr>
              <p:spPr bwMode="auto">
                <a:xfrm flipV="1">
                  <a:off x="2277" y="2488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3331" name="Group 144"/>
              <p:cNvGrpSpPr>
                <a:grpSpLocks/>
              </p:cNvGrpSpPr>
              <p:nvPr/>
            </p:nvGrpSpPr>
            <p:grpSpPr bwMode="auto">
              <a:xfrm rot="5400000">
                <a:off x="3431" y="3042"/>
                <a:ext cx="141" cy="407"/>
                <a:chOff x="2151" y="2104"/>
                <a:chExt cx="234" cy="579"/>
              </a:xfrm>
            </p:grpSpPr>
            <p:sp>
              <p:nvSpPr>
                <p:cNvPr id="13333" name="AutoShape 145"/>
                <p:cNvSpPr>
                  <a:spLocks noChangeArrowheads="1"/>
                </p:cNvSpPr>
                <p:nvPr/>
              </p:nvSpPr>
              <p:spPr bwMode="auto">
                <a:xfrm>
                  <a:off x="2159" y="2315"/>
                  <a:ext cx="226" cy="155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34" name="Line 146"/>
                <p:cNvSpPr>
                  <a:spLocks noChangeShapeType="1"/>
                </p:cNvSpPr>
                <p:nvPr/>
              </p:nvSpPr>
              <p:spPr bwMode="auto">
                <a:xfrm>
                  <a:off x="2151" y="2307"/>
                  <a:ext cx="23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35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2275" y="2104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36" name="Line 148"/>
                <p:cNvSpPr>
                  <a:spLocks noChangeShapeType="1"/>
                </p:cNvSpPr>
                <p:nvPr/>
              </p:nvSpPr>
              <p:spPr bwMode="auto">
                <a:xfrm flipV="1">
                  <a:off x="2277" y="2488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13332" name="Line 149"/>
              <p:cNvSpPr>
                <a:spLocks noChangeShapeType="1"/>
              </p:cNvSpPr>
              <p:nvPr/>
            </p:nvSpPr>
            <p:spPr bwMode="auto">
              <a:xfrm>
                <a:off x="3312" y="3257"/>
                <a:ext cx="0" cy="1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3328" name="Oval 284"/>
            <p:cNvSpPr>
              <a:spLocks noChangeArrowheads="1"/>
            </p:cNvSpPr>
            <p:nvPr/>
          </p:nvSpPr>
          <p:spPr bwMode="auto">
            <a:xfrm rot="1189654">
              <a:off x="2147" y="1943"/>
              <a:ext cx="562" cy="14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9" name="Oval 286"/>
            <p:cNvSpPr>
              <a:spLocks noChangeArrowheads="1"/>
            </p:cNvSpPr>
            <p:nvPr/>
          </p:nvSpPr>
          <p:spPr bwMode="auto">
            <a:xfrm rot="1189654">
              <a:off x="3039" y="1943"/>
              <a:ext cx="562" cy="14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96319" name="Group 383"/>
          <p:cNvGrpSpPr>
            <a:grpSpLocks/>
          </p:cNvGrpSpPr>
          <p:nvPr/>
        </p:nvGrpSpPr>
        <p:grpSpPr bwMode="auto">
          <a:xfrm>
            <a:off x="2541588" y="5797550"/>
            <a:ext cx="3924300" cy="560388"/>
            <a:chOff x="1601" y="3622"/>
            <a:chExt cx="2472" cy="353"/>
          </a:xfrm>
        </p:grpSpPr>
        <p:sp>
          <p:nvSpPr>
            <p:cNvPr id="13325" name="Rectangle 384"/>
            <p:cNvSpPr>
              <a:spLocks noChangeArrowheads="1"/>
            </p:cNvSpPr>
            <p:nvPr/>
          </p:nvSpPr>
          <p:spPr bwMode="auto">
            <a:xfrm>
              <a:off x="1601" y="3622"/>
              <a:ext cx="2472" cy="353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13326" name="Text Box 385"/>
            <p:cNvSpPr txBox="1">
              <a:spLocks noChangeArrowheads="1"/>
            </p:cNvSpPr>
            <p:nvPr/>
          </p:nvSpPr>
          <p:spPr bwMode="auto">
            <a:xfrm>
              <a:off x="1660" y="3655"/>
              <a:ext cx="23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000"/>
                <a:t>Création de </a:t>
              </a:r>
              <a:r>
                <a:rPr lang="fr-FR" altLang="fr-FR" sz="2400">
                  <a:solidFill>
                    <a:srgbClr val="FF3300"/>
                  </a:solidFill>
                </a:rPr>
                <a:t>2</a:t>
              </a:r>
              <a:r>
                <a:rPr lang="fr-FR" altLang="fr-FR" sz="2000"/>
                <a:t> </a:t>
              </a:r>
              <a:r>
                <a:rPr lang="fr-FR" altLang="fr-FR" sz="2400">
                  <a:solidFill>
                    <a:srgbClr val="FF3300"/>
                  </a:solidFill>
                </a:rPr>
                <a:t>jonctions PN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7037E-6 L 0.07952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6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-0.08351 0.0004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96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6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6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218" name="Group 2"/>
          <p:cNvGrpSpPr>
            <a:grpSpLocks/>
          </p:cNvGrpSpPr>
          <p:nvPr/>
        </p:nvGrpSpPr>
        <p:grpSpPr bwMode="auto">
          <a:xfrm>
            <a:off x="3997325" y="3663950"/>
            <a:ext cx="911225" cy="1812925"/>
            <a:chOff x="2590" y="2898"/>
            <a:chExt cx="574" cy="1142"/>
          </a:xfrm>
        </p:grpSpPr>
        <p:sp>
          <p:nvSpPr>
            <p:cNvPr id="14507" name="Line 3"/>
            <p:cNvSpPr>
              <a:spLocks noChangeShapeType="1"/>
            </p:cNvSpPr>
            <p:nvPr/>
          </p:nvSpPr>
          <p:spPr bwMode="auto">
            <a:xfrm rot="16200000" flipV="1">
              <a:off x="2440" y="3331"/>
              <a:ext cx="874" cy="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4508" name="Text Box 4"/>
            <p:cNvSpPr txBox="1">
              <a:spLocks noChangeArrowheads="1"/>
            </p:cNvSpPr>
            <p:nvPr/>
          </p:nvSpPr>
          <p:spPr bwMode="auto">
            <a:xfrm>
              <a:off x="2590" y="3790"/>
              <a:ext cx="5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/>
                <a:t>Base</a:t>
              </a:r>
            </a:p>
          </p:txBody>
        </p:sp>
      </p:grpSp>
      <p:grpSp>
        <p:nvGrpSpPr>
          <p:cNvPr id="393221" name="Group 5"/>
          <p:cNvGrpSpPr>
            <a:grpSpLocks/>
          </p:cNvGrpSpPr>
          <p:nvPr/>
        </p:nvGrpSpPr>
        <p:grpSpPr bwMode="auto">
          <a:xfrm>
            <a:off x="973138" y="3013075"/>
            <a:ext cx="1620837" cy="1830388"/>
            <a:chOff x="613" y="2188"/>
            <a:chExt cx="1021" cy="1153"/>
          </a:xfrm>
        </p:grpSpPr>
        <p:sp>
          <p:nvSpPr>
            <p:cNvPr id="14505" name="Line 6"/>
            <p:cNvSpPr>
              <a:spLocks noChangeShapeType="1"/>
            </p:cNvSpPr>
            <p:nvPr/>
          </p:nvSpPr>
          <p:spPr bwMode="auto">
            <a:xfrm flipV="1">
              <a:off x="843" y="2761"/>
              <a:ext cx="791" cy="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4506" name="Text Box 7"/>
            <p:cNvSpPr txBox="1">
              <a:spLocks noChangeArrowheads="1"/>
            </p:cNvSpPr>
            <p:nvPr/>
          </p:nvSpPr>
          <p:spPr bwMode="auto">
            <a:xfrm rot="-5400000">
              <a:off x="161" y="2640"/>
              <a:ext cx="11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 sz="2000"/>
                <a:t>Emetteur</a:t>
              </a:r>
            </a:p>
          </p:txBody>
        </p:sp>
      </p:grpSp>
      <p:sp>
        <p:nvSpPr>
          <p:cNvPr id="14340" name="Freeform 9"/>
          <p:cNvSpPr>
            <a:spLocks/>
          </p:cNvSpPr>
          <p:nvPr/>
        </p:nvSpPr>
        <p:spPr bwMode="auto">
          <a:xfrm>
            <a:off x="1346200" y="3221038"/>
            <a:ext cx="1731963" cy="1666875"/>
          </a:xfrm>
          <a:custGeom>
            <a:avLst/>
            <a:gdLst>
              <a:gd name="T0" fmla="*/ 370238 w 1932"/>
              <a:gd name="T1" fmla="*/ 0 h 2019"/>
              <a:gd name="T2" fmla="*/ 1731963 w 1932"/>
              <a:gd name="T3" fmla="*/ 0 h 2019"/>
              <a:gd name="T4" fmla="*/ 1731963 w 1932"/>
              <a:gd name="T5" fmla="*/ 1666875 h 2019"/>
              <a:gd name="T6" fmla="*/ 0 w 1932"/>
              <a:gd name="T7" fmla="*/ 1666875 h 2019"/>
              <a:gd name="T8" fmla="*/ 132676 w 1932"/>
              <a:gd name="T9" fmla="*/ 1473686 h 2019"/>
              <a:gd name="T10" fmla="*/ 313761 w 1932"/>
              <a:gd name="T11" fmla="*/ 1377091 h 2019"/>
              <a:gd name="T12" fmla="*/ 411476 w 1932"/>
              <a:gd name="T13" fmla="*/ 1242520 h 2019"/>
              <a:gd name="T14" fmla="*/ 383685 w 1932"/>
              <a:gd name="T15" fmla="*/ 1003923 h 2019"/>
              <a:gd name="T16" fmla="*/ 313761 w 1932"/>
              <a:gd name="T17" fmla="*/ 869351 h 2019"/>
              <a:gd name="T18" fmla="*/ 237562 w 1932"/>
              <a:gd name="T19" fmla="*/ 720744 h 2019"/>
              <a:gd name="T20" fmla="*/ 251009 w 1932"/>
              <a:gd name="T21" fmla="*/ 508566 h 2019"/>
              <a:gd name="T22" fmla="*/ 300314 w 1932"/>
              <a:gd name="T23" fmla="*/ 347575 h 2019"/>
              <a:gd name="T24" fmla="*/ 376514 w 1932"/>
              <a:gd name="T25" fmla="*/ 283179 h 2019"/>
              <a:gd name="T26" fmla="*/ 418647 w 1932"/>
              <a:gd name="T27" fmla="*/ 218783 h 2019"/>
              <a:gd name="T28" fmla="*/ 453609 w 1932"/>
              <a:gd name="T29" fmla="*/ 90815 h 2019"/>
              <a:gd name="T30" fmla="*/ 370238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3226" name="Rectangle 10"/>
          <p:cNvSpPr>
            <a:spLocks noChangeArrowheads="1"/>
          </p:cNvSpPr>
          <p:nvPr/>
        </p:nvSpPr>
        <p:spPr bwMode="auto">
          <a:xfrm>
            <a:off x="2933700" y="3222625"/>
            <a:ext cx="501650" cy="1666875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3227" name="Rectangle 11"/>
          <p:cNvSpPr>
            <a:spLocks noChangeArrowheads="1"/>
          </p:cNvSpPr>
          <p:nvPr/>
        </p:nvSpPr>
        <p:spPr bwMode="auto">
          <a:xfrm>
            <a:off x="3438525" y="3219450"/>
            <a:ext cx="500063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4343" name="Group 199"/>
          <p:cNvGrpSpPr>
            <a:grpSpLocks/>
          </p:cNvGrpSpPr>
          <p:nvPr/>
        </p:nvGrpSpPr>
        <p:grpSpPr bwMode="auto">
          <a:xfrm>
            <a:off x="3465513" y="3289300"/>
            <a:ext cx="411162" cy="1547813"/>
            <a:chOff x="2346" y="2072"/>
            <a:chExt cx="259" cy="975"/>
          </a:xfrm>
        </p:grpSpPr>
        <p:grpSp>
          <p:nvGrpSpPr>
            <p:cNvPr id="14496" name="Group 13"/>
            <p:cNvGrpSpPr>
              <a:grpSpLocks/>
            </p:cNvGrpSpPr>
            <p:nvPr/>
          </p:nvGrpSpPr>
          <p:grpSpPr bwMode="auto">
            <a:xfrm>
              <a:off x="2346" y="2072"/>
              <a:ext cx="259" cy="288"/>
              <a:chOff x="2675" y="1769"/>
              <a:chExt cx="259" cy="288"/>
            </a:xfrm>
          </p:grpSpPr>
          <p:pic>
            <p:nvPicPr>
              <p:cNvPr id="14503" name="Picture 14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504" name="Text Box 1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497" name="Group 16"/>
            <p:cNvGrpSpPr>
              <a:grpSpLocks/>
            </p:cNvGrpSpPr>
            <p:nvPr/>
          </p:nvGrpSpPr>
          <p:grpSpPr bwMode="auto">
            <a:xfrm>
              <a:off x="2346" y="2415"/>
              <a:ext cx="259" cy="288"/>
              <a:chOff x="2675" y="1769"/>
              <a:chExt cx="259" cy="288"/>
            </a:xfrm>
          </p:grpSpPr>
          <p:pic>
            <p:nvPicPr>
              <p:cNvPr id="14501" name="Picture 17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502" name="Text Box 1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498" name="Group 19"/>
            <p:cNvGrpSpPr>
              <a:grpSpLocks/>
            </p:cNvGrpSpPr>
            <p:nvPr/>
          </p:nvGrpSpPr>
          <p:grpSpPr bwMode="auto">
            <a:xfrm>
              <a:off x="2346" y="2759"/>
              <a:ext cx="259" cy="288"/>
              <a:chOff x="2675" y="1769"/>
              <a:chExt cx="259" cy="288"/>
            </a:xfrm>
          </p:grpSpPr>
          <p:pic>
            <p:nvPicPr>
              <p:cNvPr id="14499" name="Picture 20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500" name="Text Box 2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4344" name="Group 205"/>
          <p:cNvGrpSpPr>
            <a:grpSpLocks/>
          </p:cNvGrpSpPr>
          <p:nvPr/>
        </p:nvGrpSpPr>
        <p:grpSpPr bwMode="auto">
          <a:xfrm>
            <a:off x="2941638" y="3289300"/>
            <a:ext cx="392112" cy="1547813"/>
            <a:chOff x="2121" y="2072"/>
            <a:chExt cx="247" cy="975"/>
          </a:xfrm>
        </p:grpSpPr>
        <p:grpSp>
          <p:nvGrpSpPr>
            <p:cNvPr id="14487" name="Group 24"/>
            <p:cNvGrpSpPr>
              <a:grpSpLocks/>
            </p:cNvGrpSpPr>
            <p:nvPr/>
          </p:nvGrpSpPr>
          <p:grpSpPr bwMode="auto">
            <a:xfrm>
              <a:off x="2121" y="2072"/>
              <a:ext cx="247" cy="288"/>
              <a:chOff x="2277" y="1781"/>
              <a:chExt cx="247" cy="288"/>
            </a:xfrm>
          </p:grpSpPr>
          <p:pic>
            <p:nvPicPr>
              <p:cNvPr id="14494" name="Picture 25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95" name="Text Box 2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88" name="Group 27"/>
            <p:cNvGrpSpPr>
              <a:grpSpLocks/>
            </p:cNvGrpSpPr>
            <p:nvPr/>
          </p:nvGrpSpPr>
          <p:grpSpPr bwMode="auto">
            <a:xfrm>
              <a:off x="2121" y="2415"/>
              <a:ext cx="247" cy="288"/>
              <a:chOff x="2277" y="1781"/>
              <a:chExt cx="247" cy="288"/>
            </a:xfrm>
          </p:grpSpPr>
          <p:pic>
            <p:nvPicPr>
              <p:cNvPr id="14492" name="Picture 28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93" name="Text Box 29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89" name="Group 30"/>
            <p:cNvGrpSpPr>
              <a:grpSpLocks/>
            </p:cNvGrpSpPr>
            <p:nvPr/>
          </p:nvGrpSpPr>
          <p:grpSpPr bwMode="auto">
            <a:xfrm>
              <a:off x="2121" y="2759"/>
              <a:ext cx="247" cy="288"/>
              <a:chOff x="2277" y="1781"/>
              <a:chExt cx="247" cy="288"/>
            </a:xfrm>
          </p:grpSpPr>
          <p:pic>
            <p:nvPicPr>
              <p:cNvPr id="14490" name="Picture 31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91" name="Text Box 3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4345" name="Group 204"/>
          <p:cNvGrpSpPr>
            <a:grpSpLocks/>
          </p:cNvGrpSpPr>
          <p:nvPr/>
        </p:nvGrpSpPr>
        <p:grpSpPr bwMode="auto">
          <a:xfrm>
            <a:off x="2379663" y="3289300"/>
            <a:ext cx="392112" cy="1547813"/>
            <a:chOff x="1782" y="2072"/>
            <a:chExt cx="247" cy="975"/>
          </a:xfrm>
        </p:grpSpPr>
        <p:grpSp>
          <p:nvGrpSpPr>
            <p:cNvPr id="14478" name="Group 36"/>
            <p:cNvGrpSpPr>
              <a:grpSpLocks/>
            </p:cNvGrpSpPr>
            <p:nvPr/>
          </p:nvGrpSpPr>
          <p:grpSpPr bwMode="auto">
            <a:xfrm>
              <a:off x="1782" y="2072"/>
              <a:ext cx="247" cy="288"/>
              <a:chOff x="2277" y="1781"/>
              <a:chExt cx="247" cy="288"/>
            </a:xfrm>
          </p:grpSpPr>
          <p:pic>
            <p:nvPicPr>
              <p:cNvPr id="14485" name="Picture 37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86" name="Text Box 3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79" name="Group 39"/>
            <p:cNvGrpSpPr>
              <a:grpSpLocks/>
            </p:cNvGrpSpPr>
            <p:nvPr/>
          </p:nvGrpSpPr>
          <p:grpSpPr bwMode="auto">
            <a:xfrm>
              <a:off x="1782" y="2415"/>
              <a:ext cx="247" cy="288"/>
              <a:chOff x="2277" y="1781"/>
              <a:chExt cx="247" cy="288"/>
            </a:xfrm>
          </p:grpSpPr>
          <p:pic>
            <p:nvPicPr>
              <p:cNvPr id="14483" name="Picture 40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84" name="Text Box 4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80" name="Group 42"/>
            <p:cNvGrpSpPr>
              <a:grpSpLocks/>
            </p:cNvGrpSpPr>
            <p:nvPr/>
          </p:nvGrpSpPr>
          <p:grpSpPr bwMode="auto">
            <a:xfrm>
              <a:off x="1782" y="2759"/>
              <a:ext cx="247" cy="288"/>
              <a:chOff x="2277" y="1781"/>
              <a:chExt cx="247" cy="288"/>
            </a:xfrm>
          </p:grpSpPr>
          <p:pic>
            <p:nvPicPr>
              <p:cNvPr id="14481" name="Picture 43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82" name="Text Box 4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4346" name="Group 180"/>
          <p:cNvGrpSpPr>
            <a:grpSpLocks/>
          </p:cNvGrpSpPr>
          <p:nvPr/>
        </p:nvGrpSpPr>
        <p:grpSpPr bwMode="auto">
          <a:xfrm>
            <a:off x="2711450" y="3302000"/>
            <a:ext cx="74613" cy="1144588"/>
            <a:chOff x="2038" y="2080"/>
            <a:chExt cx="47" cy="721"/>
          </a:xfrm>
        </p:grpSpPr>
        <p:sp>
          <p:nvSpPr>
            <p:cNvPr id="14475" name="Oval 48"/>
            <p:cNvSpPr>
              <a:spLocks noChangeArrowheads="1"/>
            </p:cNvSpPr>
            <p:nvPr/>
          </p:nvSpPr>
          <p:spPr bwMode="auto">
            <a:xfrm>
              <a:off x="203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76" name="Oval 49"/>
            <p:cNvSpPr>
              <a:spLocks noChangeArrowheads="1"/>
            </p:cNvSpPr>
            <p:nvPr/>
          </p:nvSpPr>
          <p:spPr bwMode="auto">
            <a:xfrm>
              <a:off x="203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77" name="Oval 51"/>
            <p:cNvSpPr>
              <a:spLocks noChangeArrowheads="1"/>
            </p:cNvSpPr>
            <p:nvPr/>
          </p:nvSpPr>
          <p:spPr bwMode="auto">
            <a:xfrm>
              <a:off x="203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47" name="Rectangle 52"/>
          <p:cNvSpPr>
            <a:spLocks noChangeArrowheads="1"/>
          </p:cNvSpPr>
          <p:nvPr/>
        </p:nvSpPr>
        <p:spPr bwMode="auto">
          <a:xfrm>
            <a:off x="3919538" y="3219450"/>
            <a:ext cx="1177925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3269" name="Rectangle 53"/>
          <p:cNvSpPr>
            <a:spLocks noChangeArrowheads="1"/>
          </p:cNvSpPr>
          <p:nvPr/>
        </p:nvSpPr>
        <p:spPr bwMode="auto">
          <a:xfrm>
            <a:off x="5087938" y="3219450"/>
            <a:ext cx="504825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4349" name="Group 201"/>
          <p:cNvGrpSpPr>
            <a:grpSpLocks/>
          </p:cNvGrpSpPr>
          <p:nvPr/>
        </p:nvGrpSpPr>
        <p:grpSpPr bwMode="auto">
          <a:xfrm>
            <a:off x="4041775" y="3289300"/>
            <a:ext cx="411163" cy="1547813"/>
            <a:chOff x="2594" y="2072"/>
            <a:chExt cx="259" cy="975"/>
          </a:xfrm>
        </p:grpSpPr>
        <p:grpSp>
          <p:nvGrpSpPr>
            <p:cNvPr id="14466" name="Group 54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4473" name="Picture 55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74" name="Text Box 56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467" name="Group 57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4471" name="Picture 58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72" name="Text Box 59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468" name="Group 60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4469" name="Picture 61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70" name="Text Box 6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4350" name="Group 202"/>
          <p:cNvGrpSpPr>
            <a:grpSpLocks/>
          </p:cNvGrpSpPr>
          <p:nvPr/>
        </p:nvGrpSpPr>
        <p:grpSpPr bwMode="auto">
          <a:xfrm>
            <a:off x="4386263" y="3259138"/>
            <a:ext cx="112712" cy="1252537"/>
            <a:chOff x="2805" y="2053"/>
            <a:chExt cx="71" cy="789"/>
          </a:xfrm>
        </p:grpSpPr>
        <p:sp>
          <p:nvSpPr>
            <p:cNvPr id="14463" name="Oval 66"/>
            <p:cNvSpPr>
              <a:spLocks noChangeArrowheads="1"/>
            </p:cNvSpPr>
            <p:nvPr/>
          </p:nvSpPr>
          <p:spPr bwMode="auto">
            <a:xfrm>
              <a:off x="2805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64" name="Oval 67"/>
            <p:cNvSpPr>
              <a:spLocks noChangeArrowheads="1"/>
            </p:cNvSpPr>
            <p:nvPr/>
          </p:nvSpPr>
          <p:spPr bwMode="auto">
            <a:xfrm>
              <a:off x="2805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65" name="Oval 69"/>
            <p:cNvSpPr>
              <a:spLocks noChangeArrowheads="1"/>
            </p:cNvSpPr>
            <p:nvPr/>
          </p:nvSpPr>
          <p:spPr bwMode="auto">
            <a:xfrm>
              <a:off x="2805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351" name="Group 200"/>
          <p:cNvGrpSpPr>
            <a:grpSpLocks/>
          </p:cNvGrpSpPr>
          <p:nvPr/>
        </p:nvGrpSpPr>
        <p:grpSpPr bwMode="auto">
          <a:xfrm>
            <a:off x="5108575" y="3289300"/>
            <a:ext cx="411163" cy="1547813"/>
            <a:chOff x="3142" y="2072"/>
            <a:chExt cx="259" cy="975"/>
          </a:xfrm>
        </p:grpSpPr>
        <p:grpSp>
          <p:nvGrpSpPr>
            <p:cNvPr id="14454" name="Group 70"/>
            <p:cNvGrpSpPr>
              <a:grpSpLocks/>
            </p:cNvGrpSpPr>
            <p:nvPr/>
          </p:nvGrpSpPr>
          <p:grpSpPr bwMode="auto">
            <a:xfrm>
              <a:off x="3142" y="2072"/>
              <a:ext cx="259" cy="288"/>
              <a:chOff x="2675" y="1769"/>
              <a:chExt cx="259" cy="288"/>
            </a:xfrm>
          </p:grpSpPr>
          <p:pic>
            <p:nvPicPr>
              <p:cNvPr id="14461" name="Picture 71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62" name="Text Box 7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455" name="Group 73"/>
            <p:cNvGrpSpPr>
              <a:grpSpLocks/>
            </p:cNvGrpSpPr>
            <p:nvPr/>
          </p:nvGrpSpPr>
          <p:grpSpPr bwMode="auto">
            <a:xfrm>
              <a:off x="3142" y="2415"/>
              <a:ext cx="259" cy="288"/>
              <a:chOff x="2675" y="1769"/>
              <a:chExt cx="259" cy="288"/>
            </a:xfrm>
          </p:grpSpPr>
          <p:pic>
            <p:nvPicPr>
              <p:cNvPr id="14459" name="Picture 74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60" name="Text Box 7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456" name="Group 76"/>
            <p:cNvGrpSpPr>
              <a:grpSpLocks/>
            </p:cNvGrpSpPr>
            <p:nvPr/>
          </p:nvGrpSpPr>
          <p:grpSpPr bwMode="auto">
            <a:xfrm>
              <a:off x="3142" y="2759"/>
              <a:ext cx="259" cy="288"/>
              <a:chOff x="2675" y="1769"/>
              <a:chExt cx="259" cy="288"/>
            </a:xfrm>
          </p:grpSpPr>
          <p:pic>
            <p:nvPicPr>
              <p:cNvPr id="14457" name="Picture 77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58" name="Text Box 7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393298" name="Rectangle 82"/>
          <p:cNvSpPr>
            <a:spLocks noChangeArrowheads="1"/>
          </p:cNvSpPr>
          <p:nvPr/>
        </p:nvSpPr>
        <p:spPr bwMode="auto">
          <a:xfrm>
            <a:off x="5600700" y="3221038"/>
            <a:ext cx="503238" cy="1666875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4353" name="Freeform 83"/>
          <p:cNvSpPr>
            <a:spLocks/>
          </p:cNvSpPr>
          <p:nvPr/>
        </p:nvSpPr>
        <p:spPr bwMode="auto">
          <a:xfrm flipH="1">
            <a:off x="6102350" y="3219450"/>
            <a:ext cx="1557338" cy="1668463"/>
          </a:xfrm>
          <a:custGeom>
            <a:avLst/>
            <a:gdLst>
              <a:gd name="T0" fmla="*/ 332909 w 1932"/>
              <a:gd name="T1" fmla="*/ 0 h 2019"/>
              <a:gd name="T2" fmla="*/ 1557338 w 1932"/>
              <a:gd name="T3" fmla="*/ 0 h 2019"/>
              <a:gd name="T4" fmla="*/ 1557338 w 1932"/>
              <a:gd name="T5" fmla="*/ 1668463 h 2019"/>
              <a:gd name="T6" fmla="*/ 0 w 1932"/>
              <a:gd name="T7" fmla="*/ 1668463 h 2019"/>
              <a:gd name="T8" fmla="*/ 119299 w 1932"/>
              <a:gd name="T9" fmla="*/ 1475090 h 2019"/>
              <a:gd name="T10" fmla="*/ 282126 w 1932"/>
              <a:gd name="T11" fmla="*/ 1378403 h 2019"/>
              <a:gd name="T12" fmla="*/ 369989 w 1932"/>
              <a:gd name="T13" fmla="*/ 1243703 h 2019"/>
              <a:gd name="T14" fmla="*/ 345000 w 1932"/>
              <a:gd name="T15" fmla="*/ 1004879 h 2019"/>
              <a:gd name="T16" fmla="*/ 282126 w 1932"/>
              <a:gd name="T17" fmla="*/ 870179 h 2019"/>
              <a:gd name="T18" fmla="*/ 213610 w 1932"/>
              <a:gd name="T19" fmla="*/ 721431 h 2019"/>
              <a:gd name="T20" fmla="*/ 225701 w 1932"/>
              <a:gd name="T21" fmla="*/ 509051 h 2019"/>
              <a:gd name="T22" fmla="*/ 270035 w 1932"/>
              <a:gd name="T23" fmla="*/ 347906 h 2019"/>
              <a:gd name="T24" fmla="*/ 338552 w 1932"/>
              <a:gd name="T25" fmla="*/ 283449 h 2019"/>
              <a:gd name="T26" fmla="*/ 376437 w 1932"/>
              <a:gd name="T27" fmla="*/ 218991 h 2019"/>
              <a:gd name="T28" fmla="*/ 407874 w 1932"/>
              <a:gd name="T29" fmla="*/ 90902 h 2019"/>
              <a:gd name="T30" fmla="*/ 332909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4354" name="Group 203"/>
          <p:cNvGrpSpPr>
            <a:grpSpLocks/>
          </p:cNvGrpSpPr>
          <p:nvPr/>
        </p:nvGrpSpPr>
        <p:grpSpPr bwMode="auto">
          <a:xfrm>
            <a:off x="1819275" y="3289300"/>
            <a:ext cx="392113" cy="1547813"/>
            <a:chOff x="1473" y="2072"/>
            <a:chExt cx="247" cy="975"/>
          </a:xfrm>
        </p:grpSpPr>
        <p:grpSp>
          <p:nvGrpSpPr>
            <p:cNvPr id="14445" name="Group 84"/>
            <p:cNvGrpSpPr>
              <a:grpSpLocks/>
            </p:cNvGrpSpPr>
            <p:nvPr/>
          </p:nvGrpSpPr>
          <p:grpSpPr bwMode="auto">
            <a:xfrm>
              <a:off x="1473" y="2072"/>
              <a:ext cx="247" cy="288"/>
              <a:chOff x="2277" y="1781"/>
              <a:chExt cx="247" cy="288"/>
            </a:xfrm>
          </p:grpSpPr>
          <p:pic>
            <p:nvPicPr>
              <p:cNvPr id="14452" name="Picture 85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53" name="Text Box 8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46" name="Group 87"/>
            <p:cNvGrpSpPr>
              <a:grpSpLocks/>
            </p:cNvGrpSpPr>
            <p:nvPr/>
          </p:nvGrpSpPr>
          <p:grpSpPr bwMode="auto">
            <a:xfrm>
              <a:off x="1473" y="2415"/>
              <a:ext cx="247" cy="288"/>
              <a:chOff x="2277" y="1781"/>
              <a:chExt cx="247" cy="288"/>
            </a:xfrm>
          </p:grpSpPr>
          <p:pic>
            <p:nvPicPr>
              <p:cNvPr id="14450" name="Picture 88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51" name="Text Box 89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47" name="Group 90"/>
            <p:cNvGrpSpPr>
              <a:grpSpLocks/>
            </p:cNvGrpSpPr>
            <p:nvPr/>
          </p:nvGrpSpPr>
          <p:grpSpPr bwMode="auto">
            <a:xfrm>
              <a:off x="1473" y="2759"/>
              <a:ext cx="247" cy="288"/>
              <a:chOff x="2277" y="1781"/>
              <a:chExt cx="247" cy="288"/>
            </a:xfrm>
          </p:grpSpPr>
          <p:pic>
            <p:nvPicPr>
              <p:cNvPr id="14448" name="Picture 91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49" name="Text Box 9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4355" name="Group 206"/>
          <p:cNvGrpSpPr>
            <a:grpSpLocks/>
          </p:cNvGrpSpPr>
          <p:nvPr/>
        </p:nvGrpSpPr>
        <p:grpSpPr bwMode="auto">
          <a:xfrm>
            <a:off x="2135188" y="3302000"/>
            <a:ext cx="74612" cy="1144588"/>
            <a:chOff x="1729" y="2080"/>
            <a:chExt cx="47" cy="721"/>
          </a:xfrm>
        </p:grpSpPr>
        <p:sp>
          <p:nvSpPr>
            <p:cNvPr id="14442" name="Oval 96"/>
            <p:cNvSpPr>
              <a:spLocks noChangeArrowheads="1"/>
            </p:cNvSpPr>
            <p:nvPr/>
          </p:nvSpPr>
          <p:spPr bwMode="auto">
            <a:xfrm>
              <a:off x="1729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43" name="Oval 97"/>
            <p:cNvSpPr>
              <a:spLocks noChangeArrowheads="1"/>
            </p:cNvSpPr>
            <p:nvPr/>
          </p:nvSpPr>
          <p:spPr bwMode="auto">
            <a:xfrm>
              <a:off x="1729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44" name="Oval 99"/>
            <p:cNvSpPr>
              <a:spLocks noChangeArrowheads="1"/>
            </p:cNvSpPr>
            <p:nvPr/>
          </p:nvSpPr>
          <p:spPr bwMode="auto">
            <a:xfrm>
              <a:off x="1729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356" name="Group 209"/>
          <p:cNvGrpSpPr>
            <a:grpSpLocks/>
          </p:cNvGrpSpPr>
          <p:nvPr/>
        </p:nvGrpSpPr>
        <p:grpSpPr bwMode="auto">
          <a:xfrm>
            <a:off x="5654675" y="3289300"/>
            <a:ext cx="392113" cy="1547813"/>
            <a:chOff x="3406" y="2072"/>
            <a:chExt cx="247" cy="975"/>
          </a:xfrm>
        </p:grpSpPr>
        <p:grpSp>
          <p:nvGrpSpPr>
            <p:cNvPr id="14433" name="Group 100"/>
            <p:cNvGrpSpPr>
              <a:grpSpLocks/>
            </p:cNvGrpSpPr>
            <p:nvPr/>
          </p:nvGrpSpPr>
          <p:grpSpPr bwMode="auto">
            <a:xfrm>
              <a:off x="3406" y="2072"/>
              <a:ext cx="247" cy="288"/>
              <a:chOff x="2277" y="1781"/>
              <a:chExt cx="247" cy="288"/>
            </a:xfrm>
          </p:grpSpPr>
          <p:pic>
            <p:nvPicPr>
              <p:cNvPr id="14440" name="Picture 101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41" name="Text Box 10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34" name="Group 103"/>
            <p:cNvGrpSpPr>
              <a:grpSpLocks/>
            </p:cNvGrpSpPr>
            <p:nvPr/>
          </p:nvGrpSpPr>
          <p:grpSpPr bwMode="auto">
            <a:xfrm>
              <a:off x="3406" y="2415"/>
              <a:ext cx="247" cy="288"/>
              <a:chOff x="2277" y="1781"/>
              <a:chExt cx="247" cy="288"/>
            </a:xfrm>
          </p:grpSpPr>
          <p:pic>
            <p:nvPicPr>
              <p:cNvPr id="14438" name="Picture 104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39" name="Text Box 105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35" name="Group 106"/>
            <p:cNvGrpSpPr>
              <a:grpSpLocks/>
            </p:cNvGrpSpPr>
            <p:nvPr/>
          </p:nvGrpSpPr>
          <p:grpSpPr bwMode="auto">
            <a:xfrm>
              <a:off x="3406" y="2759"/>
              <a:ext cx="247" cy="288"/>
              <a:chOff x="2277" y="1781"/>
              <a:chExt cx="247" cy="288"/>
            </a:xfrm>
          </p:grpSpPr>
          <p:pic>
            <p:nvPicPr>
              <p:cNvPr id="14436" name="Picture 107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37" name="Text Box 10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4357" name="Group 208"/>
          <p:cNvGrpSpPr>
            <a:grpSpLocks/>
          </p:cNvGrpSpPr>
          <p:nvPr/>
        </p:nvGrpSpPr>
        <p:grpSpPr bwMode="auto">
          <a:xfrm>
            <a:off x="6238875" y="3289300"/>
            <a:ext cx="392113" cy="1547813"/>
            <a:chOff x="3760" y="2072"/>
            <a:chExt cx="247" cy="975"/>
          </a:xfrm>
        </p:grpSpPr>
        <p:grpSp>
          <p:nvGrpSpPr>
            <p:cNvPr id="14424" name="Group 130"/>
            <p:cNvGrpSpPr>
              <a:grpSpLocks/>
            </p:cNvGrpSpPr>
            <p:nvPr/>
          </p:nvGrpSpPr>
          <p:grpSpPr bwMode="auto">
            <a:xfrm>
              <a:off x="3760" y="2072"/>
              <a:ext cx="247" cy="288"/>
              <a:chOff x="2277" y="1781"/>
              <a:chExt cx="247" cy="288"/>
            </a:xfrm>
          </p:grpSpPr>
          <p:pic>
            <p:nvPicPr>
              <p:cNvPr id="14431" name="Picture 131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32" name="Text Box 13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25" name="Group 133"/>
            <p:cNvGrpSpPr>
              <a:grpSpLocks/>
            </p:cNvGrpSpPr>
            <p:nvPr/>
          </p:nvGrpSpPr>
          <p:grpSpPr bwMode="auto">
            <a:xfrm>
              <a:off x="3760" y="2415"/>
              <a:ext cx="247" cy="288"/>
              <a:chOff x="2277" y="1781"/>
              <a:chExt cx="247" cy="288"/>
            </a:xfrm>
          </p:grpSpPr>
          <p:pic>
            <p:nvPicPr>
              <p:cNvPr id="14429" name="Picture 134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30" name="Text Box 135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26" name="Group 136"/>
            <p:cNvGrpSpPr>
              <a:grpSpLocks/>
            </p:cNvGrpSpPr>
            <p:nvPr/>
          </p:nvGrpSpPr>
          <p:grpSpPr bwMode="auto">
            <a:xfrm>
              <a:off x="3760" y="2759"/>
              <a:ext cx="247" cy="288"/>
              <a:chOff x="2277" y="1781"/>
              <a:chExt cx="247" cy="288"/>
            </a:xfrm>
          </p:grpSpPr>
          <p:pic>
            <p:nvPicPr>
              <p:cNvPr id="14427" name="Picture 137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28" name="Text Box 13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4358" name="Group 211"/>
          <p:cNvGrpSpPr>
            <a:grpSpLocks/>
          </p:cNvGrpSpPr>
          <p:nvPr/>
        </p:nvGrpSpPr>
        <p:grpSpPr bwMode="auto">
          <a:xfrm>
            <a:off x="6289675" y="3302000"/>
            <a:ext cx="74613" cy="1144588"/>
            <a:chOff x="3731" y="2080"/>
            <a:chExt cx="47" cy="721"/>
          </a:xfrm>
        </p:grpSpPr>
        <p:sp>
          <p:nvSpPr>
            <p:cNvPr id="14421" name="Oval 142"/>
            <p:cNvSpPr>
              <a:spLocks noChangeArrowheads="1"/>
            </p:cNvSpPr>
            <p:nvPr/>
          </p:nvSpPr>
          <p:spPr bwMode="auto">
            <a:xfrm>
              <a:off x="3731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22" name="Oval 143"/>
            <p:cNvSpPr>
              <a:spLocks noChangeArrowheads="1"/>
            </p:cNvSpPr>
            <p:nvPr/>
          </p:nvSpPr>
          <p:spPr bwMode="auto">
            <a:xfrm>
              <a:off x="3731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23" name="Oval 145"/>
            <p:cNvSpPr>
              <a:spLocks noChangeArrowheads="1"/>
            </p:cNvSpPr>
            <p:nvPr/>
          </p:nvSpPr>
          <p:spPr bwMode="auto">
            <a:xfrm>
              <a:off x="3731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359" name="Group 207"/>
          <p:cNvGrpSpPr>
            <a:grpSpLocks/>
          </p:cNvGrpSpPr>
          <p:nvPr/>
        </p:nvGrpSpPr>
        <p:grpSpPr bwMode="auto">
          <a:xfrm>
            <a:off x="6824663" y="3289300"/>
            <a:ext cx="392112" cy="1547813"/>
            <a:chOff x="4077" y="2072"/>
            <a:chExt cx="247" cy="975"/>
          </a:xfrm>
        </p:grpSpPr>
        <p:grpSp>
          <p:nvGrpSpPr>
            <p:cNvPr id="14412" name="Group 146"/>
            <p:cNvGrpSpPr>
              <a:grpSpLocks/>
            </p:cNvGrpSpPr>
            <p:nvPr/>
          </p:nvGrpSpPr>
          <p:grpSpPr bwMode="auto">
            <a:xfrm>
              <a:off x="4077" y="2072"/>
              <a:ext cx="247" cy="288"/>
              <a:chOff x="2277" y="1781"/>
              <a:chExt cx="247" cy="288"/>
            </a:xfrm>
          </p:grpSpPr>
          <p:pic>
            <p:nvPicPr>
              <p:cNvPr id="14419" name="Picture 147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20" name="Text Box 14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13" name="Group 149"/>
            <p:cNvGrpSpPr>
              <a:grpSpLocks/>
            </p:cNvGrpSpPr>
            <p:nvPr/>
          </p:nvGrpSpPr>
          <p:grpSpPr bwMode="auto">
            <a:xfrm>
              <a:off x="4077" y="2415"/>
              <a:ext cx="247" cy="288"/>
              <a:chOff x="2277" y="1781"/>
              <a:chExt cx="247" cy="288"/>
            </a:xfrm>
          </p:grpSpPr>
          <p:pic>
            <p:nvPicPr>
              <p:cNvPr id="14417" name="Picture 150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18" name="Text Box 15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4414" name="Group 152"/>
            <p:cNvGrpSpPr>
              <a:grpSpLocks/>
            </p:cNvGrpSpPr>
            <p:nvPr/>
          </p:nvGrpSpPr>
          <p:grpSpPr bwMode="auto">
            <a:xfrm>
              <a:off x="4077" y="2759"/>
              <a:ext cx="247" cy="288"/>
              <a:chOff x="2277" y="1781"/>
              <a:chExt cx="247" cy="288"/>
            </a:xfrm>
          </p:grpSpPr>
          <p:pic>
            <p:nvPicPr>
              <p:cNvPr id="14415" name="Picture 153" descr="boulej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416" name="Text Box 15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4360" name="Group 210"/>
          <p:cNvGrpSpPr>
            <a:grpSpLocks/>
          </p:cNvGrpSpPr>
          <p:nvPr/>
        </p:nvGrpSpPr>
        <p:grpSpPr bwMode="auto">
          <a:xfrm>
            <a:off x="6831013" y="3302000"/>
            <a:ext cx="74612" cy="1144588"/>
            <a:chOff x="4048" y="2080"/>
            <a:chExt cx="47" cy="721"/>
          </a:xfrm>
        </p:grpSpPr>
        <p:sp>
          <p:nvSpPr>
            <p:cNvPr id="14409" name="Oval 158"/>
            <p:cNvSpPr>
              <a:spLocks noChangeArrowheads="1"/>
            </p:cNvSpPr>
            <p:nvPr/>
          </p:nvSpPr>
          <p:spPr bwMode="auto">
            <a:xfrm>
              <a:off x="404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10" name="Oval 159"/>
            <p:cNvSpPr>
              <a:spLocks noChangeArrowheads="1"/>
            </p:cNvSpPr>
            <p:nvPr/>
          </p:nvSpPr>
          <p:spPr bwMode="auto">
            <a:xfrm>
              <a:off x="404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11" name="Oval 161"/>
            <p:cNvSpPr>
              <a:spLocks noChangeArrowheads="1"/>
            </p:cNvSpPr>
            <p:nvPr/>
          </p:nvSpPr>
          <p:spPr bwMode="auto">
            <a:xfrm>
              <a:off x="404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3442" name="Group 226"/>
          <p:cNvGrpSpPr>
            <a:grpSpLocks/>
          </p:cNvGrpSpPr>
          <p:nvPr/>
        </p:nvGrpSpPr>
        <p:grpSpPr bwMode="auto">
          <a:xfrm>
            <a:off x="3124200" y="4945063"/>
            <a:ext cx="2773363" cy="366712"/>
            <a:chOff x="2166" y="3115"/>
            <a:chExt cx="1747" cy="231"/>
          </a:xfrm>
        </p:grpSpPr>
        <p:sp>
          <p:nvSpPr>
            <p:cNvPr id="14407" name="Text Box 163"/>
            <p:cNvSpPr txBox="1">
              <a:spLocks noChangeArrowheads="1"/>
            </p:cNvSpPr>
            <p:nvPr/>
          </p:nvSpPr>
          <p:spPr bwMode="auto">
            <a:xfrm>
              <a:off x="2166" y="3115"/>
              <a:ext cx="39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/>
                <a:t>ZCE</a:t>
              </a:r>
            </a:p>
          </p:txBody>
        </p:sp>
        <p:sp>
          <p:nvSpPr>
            <p:cNvPr id="14408" name="Text Box 164"/>
            <p:cNvSpPr txBox="1">
              <a:spLocks noChangeArrowheads="1"/>
            </p:cNvSpPr>
            <p:nvPr/>
          </p:nvSpPr>
          <p:spPr bwMode="auto">
            <a:xfrm>
              <a:off x="3520" y="3115"/>
              <a:ext cx="39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/>
                <a:t>ZCE</a:t>
              </a:r>
            </a:p>
          </p:txBody>
        </p:sp>
      </p:grpSp>
      <p:sp>
        <p:nvSpPr>
          <p:cNvPr id="14362" name="Rectangle 165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14363" name="Text Box 166"/>
          <p:cNvSpPr txBox="1">
            <a:spLocks noChangeArrowheads="1"/>
          </p:cNvSpPr>
          <p:nvPr/>
        </p:nvSpPr>
        <p:spPr bwMode="auto">
          <a:xfrm>
            <a:off x="1116013" y="1992313"/>
            <a:ext cx="6081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Transistor bipolaire </a:t>
            </a:r>
            <a:r>
              <a:rPr lang="fr-FR" altLang="fr-FR" sz="2400">
                <a:solidFill>
                  <a:srgbClr val="FF3300"/>
                </a:solidFill>
              </a:rPr>
              <a:t>NPN</a:t>
            </a:r>
            <a:r>
              <a:rPr lang="fr-FR" altLang="fr-FR" sz="2000"/>
              <a:t> au niveau atomique</a:t>
            </a:r>
            <a:endParaRPr lang="fr-FR" altLang="fr-FR" sz="2400">
              <a:solidFill>
                <a:srgbClr val="FF3300"/>
              </a:solidFill>
            </a:endParaRPr>
          </a:p>
        </p:txBody>
      </p:sp>
      <p:grpSp>
        <p:nvGrpSpPr>
          <p:cNvPr id="393389" name="Group 173"/>
          <p:cNvGrpSpPr>
            <a:grpSpLocks/>
          </p:cNvGrpSpPr>
          <p:nvPr/>
        </p:nvGrpSpPr>
        <p:grpSpPr bwMode="auto">
          <a:xfrm>
            <a:off x="2214563" y="5511800"/>
            <a:ext cx="4562475" cy="855663"/>
            <a:chOff x="1395" y="3472"/>
            <a:chExt cx="2874" cy="539"/>
          </a:xfrm>
        </p:grpSpPr>
        <p:sp>
          <p:nvSpPr>
            <p:cNvPr id="14405" name="Rectangle 171"/>
            <p:cNvSpPr>
              <a:spLocks noChangeArrowheads="1"/>
            </p:cNvSpPr>
            <p:nvPr/>
          </p:nvSpPr>
          <p:spPr bwMode="auto">
            <a:xfrm>
              <a:off x="1395" y="3472"/>
              <a:ext cx="2874" cy="539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14406" name="Text Box 172"/>
            <p:cNvSpPr txBox="1">
              <a:spLocks noChangeArrowheads="1"/>
            </p:cNvSpPr>
            <p:nvPr/>
          </p:nvSpPr>
          <p:spPr bwMode="auto">
            <a:xfrm>
              <a:off x="1411" y="3521"/>
              <a:ext cx="2813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b="1"/>
                <a:t>Surprise</a:t>
              </a:r>
              <a:r>
                <a:rPr lang="fr-FR" altLang="fr-FR"/>
                <a:t> : La </a:t>
              </a:r>
              <a:r>
                <a:rPr lang="fr-FR" altLang="fr-FR" sz="2000">
                  <a:solidFill>
                    <a:srgbClr val="FF3300"/>
                  </a:solidFill>
                </a:rPr>
                <a:t>jonction BC</a:t>
              </a:r>
              <a:r>
                <a:rPr lang="fr-FR" altLang="fr-FR"/>
                <a:t> polarisée en </a:t>
              </a:r>
              <a:r>
                <a:rPr lang="fr-FR" altLang="fr-FR" sz="2000">
                  <a:solidFill>
                    <a:srgbClr val="FF3300"/>
                  </a:solidFill>
                </a:rPr>
                <a:t>inverse conduit le courant </a:t>
              </a:r>
              <a:r>
                <a:rPr lang="fr-FR" altLang="fr-FR"/>
                <a:t>!!!</a:t>
              </a:r>
            </a:p>
          </p:txBody>
        </p:sp>
      </p:grpSp>
      <p:grpSp>
        <p:nvGrpSpPr>
          <p:cNvPr id="14365" name="Group 174"/>
          <p:cNvGrpSpPr>
            <a:grpSpLocks/>
          </p:cNvGrpSpPr>
          <p:nvPr/>
        </p:nvGrpSpPr>
        <p:grpSpPr bwMode="auto">
          <a:xfrm>
            <a:off x="7729538" y="1936750"/>
            <a:ext cx="696912" cy="568325"/>
            <a:chOff x="4683" y="1294"/>
            <a:chExt cx="634" cy="459"/>
          </a:xfrm>
        </p:grpSpPr>
        <p:sp>
          <p:nvSpPr>
            <p:cNvPr id="14400" name="Oval 175"/>
            <p:cNvSpPr>
              <a:spLocks noChangeArrowheads="1"/>
            </p:cNvSpPr>
            <p:nvPr/>
          </p:nvSpPr>
          <p:spPr bwMode="auto">
            <a:xfrm>
              <a:off x="4785" y="1294"/>
              <a:ext cx="405" cy="37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01" name="Freeform 176"/>
            <p:cNvSpPr>
              <a:spLocks/>
            </p:cNvSpPr>
            <p:nvPr/>
          </p:nvSpPr>
          <p:spPr bwMode="auto">
            <a:xfrm>
              <a:off x="4683" y="1373"/>
              <a:ext cx="265" cy="102"/>
            </a:xfrm>
            <a:custGeom>
              <a:avLst/>
              <a:gdLst>
                <a:gd name="T0" fmla="*/ 0 w 265"/>
                <a:gd name="T1" fmla="*/ 0 h 102"/>
                <a:gd name="T2" fmla="*/ 195 w 265"/>
                <a:gd name="T3" fmla="*/ 0 h 102"/>
                <a:gd name="T4" fmla="*/ 265 w 265"/>
                <a:gd name="T5" fmla="*/ 102 h 1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102">
                  <a:moveTo>
                    <a:pt x="0" y="0"/>
                  </a:moveTo>
                  <a:lnTo>
                    <a:pt x="195" y="0"/>
                  </a:lnTo>
                  <a:lnTo>
                    <a:pt x="265" y="10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02" name="Freeform 177"/>
            <p:cNvSpPr>
              <a:spLocks/>
            </p:cNvSpPr>
            <p:nvPr/>
          </p:nvSpPr>
          <p:spPr bwMode="auto">
            <a:xfrm flipH="1">
              <a:off x="5052" y="1372"/>
              <a:ext cx="265" cy="102"/>
            </a:xfrm>
            <a:custGeom>
              <a:avLst/>
              <a:gdLst>
                <a:gd name="T0" fmla="*/ 0 w 265"/>
                <a:gd name="T1" fmla="*/ 0 h 102"/>
                <a:gd name="T2" fmla="*/ 195 w 265"/>
                <a:gd name="T3" fmla="*/ 0 h 102"/>
                <a:gd name="T4" fmla="*/ 265 w 265"/>
                <a:gd name="T5" fmla="*/ 102 h 1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102">
                  <a:moveTo>
                    <a:pt x="0" y="0"/>
                  </a:moveTo>
                  <a:lnTo>
                    <a:pt x="195" y="0"/>
                  </a:lnTo>
                  <a:lnTo>
                    <a:pt x="265" y="10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03" name="Line 178"/>
            <p:cNvSpPr>
              <a:spLocks noChangeShapeType="1"/>
            </p:cNvSpPr>
            <p:nvPr/>
          </p:nvSpPr>
          <p:spPr bwMode="auto">
            <a:xfrm>
              <a:off x="4839" y="1481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04" name="Line 179"/>
            <p:cNvSpPr>
              <a:spLocks noChangeShapeType="1"/>
            </p:cNvSpPr>
            <p:nvPr/>
          </p:nvSpPr>
          <p:spPr bwMode="auto">
            <a:xfrm flipH="1">
              <a:off x="4978" y="1473"/>
              <a:ext cx="1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3398" name="Group 182"/>
          <p:cNvGrpSpPr>
            <a:grpSpLocks/>
          </p:cNvGrpSpPr>
          <p:nvPr/>
        </p:nvGrpSpPr>
        <p:grpSpPr bwMode="auto">
          <a:xfrm>
            <a:off x="3251200" y="3302000"/>
            <a:ext cx="74613" cy="1144588"/>
            <a:chOff x="2038" y="2080"/>
            <a:chExt cx="47" cy="721"/>
          </a:xfrm>
        </p:grpSpPr>
        <p:sp>
          <p:nvSpPr>
            <p:cNvPr id="14397" name="Oval 183"/>
            <p:cNvSpPr>
              <a:spLocks noChangeArrowheads="1"/>
            </p:cNvSpPr>
            <p:nvPr/>
          </p:nvSpPr>
          <p:spPr bwMode="auto">
            <a:xfrm>
              <a:off x="203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8" name="Oval 184"/>
            <p:cNvSpPr>
              <a:spLocks noChangeArrowheads="1"/>
            </p:cNvSpPr>
            <p:nvPr/>
          </p:nvSpPr>
          <p:spPr bwMode="auto">
            <a:xfrm>
              <a:off x="203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9" name="Oval 185"/>
            <p:cNvSpPr>
              <a:spLocks noChangeArrowheads="1"/>
            </p:cNvSpPr>
            <p:nvPr/>
          </p:nvSpPr>
          <p:spPr bwMode="auto">
            <a:xfrm>
              <a:off x="203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3402" name="Group 186"/>
          <p:cNvGrpSpPr>
            <a:grpSpLocks/>
          </p:cNvGrpSpPr>
          <p:nvPr/>
        </p:nvGrpSpPr>
        <p:grpSpPr bwMode="auto">
          <a:xfrm>
            <a:off x="5708650" y="3302000"/>
            <a:ext cx="74613" cy="1144588"/>
            <a:chOff x="2038" y="2080"/>
            <a:chExt cx="47" cy="721"/>
          </a:xfrm>
        </p:grpSpPr>
        <p:sp>
          <p:nvSpPr>
            <p:cNvPr id="14394" name="Oval 187"/>
            <p:cNvSpPr>
              <a:spLocks noChangeArrowheads="1"/>
            </p:cNvSpPr>
            <p:nvPr/>
          </p:nvSpPr>
          <p:spPr bwMode="auto">
            <a:xfrm>
              <a:off x="203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5" name="Oval 188"/>
            <p:cNvSpPr>
              <a:spLocks noChangeArrowheads="1"/>
            </p:cNvSpPr>
            <p:nvPr/>
          </p:nvSpPr>
          <p:spPr bwMode="auto">
            <a:xfrm>
              <a:off x="203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6" name="Oval 189"/>
            <p:cNvSpPr>
              <a:spLocks noChangeArrowheads="1"/>
            </p:cNvSpPr>
            <p:nvPr/>
          </p:nvSpPr>
          <p:spPr bwMode="auto">
            <a:xfrm>
              <a:off x="203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3406" name="Group 190"/>
          <p:cNvGrpSpPr>
            <a:grpSpLocks/>
          </p:cNvGrpSpPr>
          <p:nvPr/>
        </p:nvGrpSpPr>
        <p:grpSpPr bwMode="auto">
          <a:xfrm>
            <a:off x="5429250" y="3259138"/>
            <a:ext cx="112713" cy="1252537"/>
            <a:chOff x="3063" y="2053"/>
            <a:chExt cx="71" cy="789"/>
          </a:xfrm>
        </p:grpSpPr>
        <p:sp>
          <p:nvSpPr>
            <p:cNvPr id="14391" name="Oval 191"/>
            <p:cNvSpPr>
              <a:spLocks noChangeArrowheads="1"/>
            </p:cNvSpPr>
            <p:nvPr/>
          </p:nvSpPr>
          <p:spPr bwMode="auto">
            <a:xfrm>
              <a:off x="3063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2" name="Oval 192"/>
            <p:cNvSpPr>
              <a:spLocks noChangeArrowheads="1"/>
            </p:cNvSpPr>
            <p:nvPr/>
          </p:nvSpPr>
          <p:spPr bwMode="auto">
            <a:xfrm>
              <a:off x="3063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3" name="Oval 193"/>
            <p:cNvSpPr>
              <a:spLocks noChangeArrowheads="1"/>
            </p:cNvSpPr>
            <p:nvPr/>
          </p:nvSpPr>
          <p:spPr bwMode="auto">
            <a:xfrm>
              <a:off x="3063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3410" name="Group 194"/>
          <p:cNvGrpSpPr>
            <a:grpSpLocks/>
          </p:cNvGrpSpPr>
          <p:nvPr/>
        </p:nvGrpSpPr>
        <p:grpSpPr bwMode="auto">
          <a:xfrm>
            <a:off x="3773488" y="3259138"/>
            <a:ext cx="112712" cy="1252537"/>
            <a:chOff x="3063" y="2053"/>
            <a:chExt cx="71" cy="789"/>
          </a:xfrm>
        </p:grpSpPr>
        <p:sp>
          <p:nvSpPr>
            <p:cNvPr id="14388" name="Oval 195"/>
            <p:cNvSpPr>
              <a:spLocks noChangeArrowheads="1"/>
            </p:cNvSpPr>
            <p:nvPr/>
          </p:nvSpPr>
          <p:spPr bwMode="auto">
            <a:xfrm>
              <a:off x="3063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89" name="Oval 196"/>
            <p:cNvSpPr>
              <a:spLocks noChangeArrowheads="1"/>
            </p:cNvSpPr>
            <p:nvPr/>
          </p:nvSpPr>
          <p:spPr bwMode="auto">
            <a:xfrm>
              <a:off x="3063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0" name="Oval 197"/>
            <p:cNvSpPr>
              <a:spLocks noChangeArrowheads="1"/>
            </p:cNvSpPr>
            <p:nvPr/>
          </p:nvSpPr>
          <p:spPr bwMode="auto">
            <a:xfrm>
              <a:off x="3063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70" name="Text Box 198"/>
          <p:cNvSpPr txBox="1">
            <a:spLocks noChangeArrowheads="1"/>
          </p:cNvSpPr>
          <p:nvPr/>
        </p:nvSpPr>
        <p:spPr bwMode="auto">
          <a:xfrm>
            <a:off x="1406525" y="717550"/>
            <a:ext cx="50530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Transistor bipolaire</a:t>
            </a:r>
            <a:endParaRPr lang="fr-FR" altLang="fr-FR"/>
          </a:p>
        </p:txBody>
      </p:sp>
      <p:grpSp>
        <p:nvGrpSpPr>
          <p:cNvPr id="14371" name="Group 212"/>
          <p:cNvGrpSpPr>
            <a:grpSpLocks/>
          </p:cNvGrpSpPr>
          <p:nvPr/>
        </p:nvGrpSpPr>
        <p:grpSpPr bwMode="auto">
          <a:xfrm>
            <a:off x="4592638" y="3289300"/>
            <a:ext cx="411162" cy="1547813"/>
            <a:chOff x="2594" y="2072"/>
            <a:chExt cx="259" cy="975"/>
          </a:xfrm>
        </p:grpSpPr>
        <p:grpSp>
          <p:nvGrpSpPr>
            <p:cNvPr id="14379" name="Group 213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4386" name="Picture 214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387" name="Text Box 21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380" name="Group 216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4384" name="Picture 217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385" name="Text Box 21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4381" name="Group 219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4382" name="Picture 220" descr="bouleb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4383" name="Text Box 22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4372" name="Group 222"/>
          <p:cNvGrpSpPr>
            <a:grpSpLocks/>
          </p:cNvGrpSpPr>
          <p:nvPr/>
        </p:nvGrpSpPr>
        <p:grpSpPr bwMode="auto">
          <a:xfrm>
            <a:off x="4926013" y="3259138"/>
            <a:ext cx="112712" cy="1252537"/>
            <a:chOff x="2805" y="2053"/>
            <a:chExt cx="71" cy="789"/>
          </a:xfrm>
        </p:grpSpPr>
        <p:sp>
          <p:nvSpPr>
            <p:cNvPr id="14376" name="Oval 223"/>
            <p:cNvSpPr>
              <a:spLocks noChangeArrowheads="1"/>
            </p:cNvSpPr>
            <p:nvPr/>
          </p:nvSpPr>
          <p:spPr bwMode="auto">
            <a:xfrm>
              <a:off x="2805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77" name="Oval 224"/>
            <p:cNvSpPr>
              <a:spLocks noChangeArrowheads="1"/>
            </p:cNvSpPr>
            <p:nvPr/>
          </p:nvSpPr>
          <p:spPr bwMode="auto">
            <a:xfrm>
              <a:off x="2805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78" name="Oval 225"/>
            <p:cNvSpPr>
              <a:spLocks noChangeArrowheads="1"/>
            </p:cNvSpPr>
            <p:nvPr/>
          </p:nvSpPr>
          <p:spPr bwMode="auto">
            <a:xfrm>
              <a:off x="2805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3443" name="Group 227"/>
          <p:cNvGrpSpPr>
            <a:grpSpLocks/>
          </p:cNvGrpSpPr>
          <p:nvPr/>
        </p:nvGrpSpPr>
        <p:grpSpPr bwMode="auto">
          <a:xfrm>
            <a:off x="7523163" y="3208338"/>
            <a:ext cx="952500" cy="1441450"/>
            <a:chOff x="4739" y="2021"/>
            <a:chExt cx="600" cy="908"/>
          </a:xfrm>
        </p:grpSpPr>
        <p:sp>
          <p:nvSpPr>
            <p:cNvPr id="14374" name="Text Box 168"/>
            <p:cNvSpPr txBox="1">
              <a:spLocks noChangeArrowheads="1"/>
            </p:cNvSpPr>
            <p:nvPr/>
          </p:nvSpPr>
          <p:spPr bwMode="auto">
            <a:xfrm rot="-5400000">
              <a:off x="4760" y="2350"/>
              <a:ext cx="9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 sz="2000"/>
                <a:t>Collecteur</a:t>
              </a:r>
            </a:p>
          </p:txBody>
        </p:sp>
        <p:sp>
          <p:nvSpPr>
            <p:cNvPr id="14375" name="Line 169"/>
            <p:cNvSpPr>
              <a:spLocks noChangeShapeType="1"/>
            </p:cNvSpPr>
            <p:nvPr/>
          </p:nvSpPr>
          <p:spPr bwMode="auto">
            <a:xfrm>
              <a:off x="4739" y="2473"/>
              <a:ext cx="389" cy="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93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93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93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93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FFCC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1000" fill="hold"/>
                                        <p:tgtEl>
                                          <p:spTgt spid="393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FFCC"/>
                                      </p:to>
                                    </p:animClr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393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393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FA1"/>
                                      </p:to>
                                    </p:animClr>
                                    <p:set>
                                      <p:cBhvr>
                                        <p:cTn id="27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00" fill="hold"/>
                                        <p:tgtEl>
                                          <p:spTgt spid="393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FA1"/>
                                      </p:to>
                                    </p:animClr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393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1000" fill="hold"/>
                                        <p:tgtEl>
                                          <p:spTgt spid="393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9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9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466" name="Group 178"/>
          <p:cNvGrpSpPr>
            <a:grpSpLocks/>
          </p:cNvGrpSpPr>
          <p:nvPr/>
        </p:nvGrpSpPr>
        <p:grpSpPr bwMode="auto">
          <a:xfrm>
            <a:off x="1098550" y="3692525"/>
            <a:ext cx="3273425" cy="2622550"/>
            <a:chOff x="723" y="2321"/>
            <a:chExt cx="2062" cy="1652"/>
          </a:xfrm>
        </p:grpSpPr>
        <p:sp>
          <p:nvSpPr>
            <p:cNvPr id="15517" name="Line 179"/>
            <p:cNvSpPr>
              <a:spLocks noChangeShapeType="1"/>
            </p:cNvSpPr>
            <p:nvPr/>
          </p:nvSpPr>
          <p:spPr bwMode="auto">
            <a:xfrm rot="16200000" flipV="1">
              <a:off x="1970" y="3125"/>
              <a:ext cx="1615" cy="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5518" name="Line 180"/>
            <p:cNvSpPr>
              <a:spLocks noChangeShapeType="1"/>
            </p:cNvSpPr>
            <p:nvPr/>
          </p:nvSpPr>
          <p:spPr bwMode="auto">
            <a:xfrm flipV="1">
              <a:off x="1957" y="3935"/>
              <a:ext cx="828" cy="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15519" name="Freeform 181"/>
            <p:cNvSpPr>
              <a:spLocks/>
            </p:cNvSpPr>
            <p:nvPr/>
          </p:nvSpPr>
          <p:spPr bwMode="auto">
            <a:xfrm>
              <a:off x="723" y="2470"/>
              <a:ext cx="640" cy="1466"/>
            </a:xfrm>
            <a:custGeom>
              <a:avLst/>
              <a:gdLst>
                <a:gd name="T0" fmla="*/ 640 w 640"/>
                <a:gd name="T1" fmla="*/ 0 h 1466"/>
                <a:gd name="T2" fmla="*/ 7 w 640"/>
                <a:gd name="T3" fmla="*/ 0 h 1466"/>
                <a:gd name="T4" fmla="*/ 0 w 640"/>
                <a:gd name="T5" fmla="*/ 1466 h 1466"/>
                <a:gd name="T6" fmla="*/ 403 w 640"/>
                <a:gd name="T7" fmla="*/ 1463 h 14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0" h="1466">
                  <a:moveTo>
                    <a:pt x="640" y="0"/>
                  </a:moveTo>
                  <a:lnTo>
                    <a:pt x="7" y="0"/>
                  </a:lnTo>
                  <a:lnTo>
                    <a:pt x="0" y="1466"/>
                  </a:lnTo>
                  <a:lnTo>
                    <a:pt x="403" y="1463"/>
                  </a:ln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15520" name="Picture 182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69" y="3560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96476" name="Group 188"/>
          <p:cNvGrpSpPr>
            <a:grpSpLocks/>
          </p:cNvGrpSpPr>
          <p:nvPr/>
        </p:nvGrpSpPr>
        <p:grpSpPr bwMode="auto">
          <a:xfrm>
            <a:off x="4037013" y="3935413"/>
            <a:ext cx="4368800" cy="2379662"/>
            <a:chOff x="2493" y="2474"/>
            <a:chExt cx="2752" cy="1499"/>
          </a:xfrm>
        </p:grpSpPr>
        <p:sp>
          <p:nvSpPr>
            <p:cNvPr id="15514" name="Line 189"/>
            <p:cNvSpPr>
              <a:spLocks noChangeShapeType="1"/>
            </p:cNvSpPr>
            <p:nvPr/>
          </p:nvSpPr>
          <p:spPr bwMode="auto">
            <a:xfrm flipV="1">
              <a:off x="2493" y="3935"/>
              <a:ext cx="924" cy="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15515" name="Freeform 190"/>
            <p:cNvSpPr>
              <a:spLocks/>
            </p:cNvSpPr>
            <p:nvPr/>
          </p:nvSpPr>
          <p:spPr bwMode="auto">
            <a:xfrm>
              <a:off x="4256" y="2474"/>
              <a:ext cx="989" cy="1449"/>
            </a:xfrm>
            <a:custGeom>
              <a:avLst/>
              <a:gdLst>
                <a:gd name="T0" fmla="*/ 352 w 989"/>
                <a:gd name="T1" fmla="*/ 0 h 1449"/>
                <a:gd name="T2" fmla="*/ 989 w 989"/>
                <a:gd name="T3" fmla="*/ 0 h 1449"/>
                <a:gd name="T4" fmla="*/ 979 w 989"/>
                <a:gd name="T5" fmla="*/ 1449 h 1449"/>
                <a:gd name="T6" fmla="*/ 0 w 989"/>
                <a:gd name="T7" fmla="*/ 1446 h 14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9" h="1449">
                  <a:moveTo>
                    <a:pt x="352" y="0"/>
                  </a:moveTo>
                  <a:lnTo>
                    <a:pt x="989" y="0"/>
                  </a:lnTo>
                  <a:lnTo>
                    <a:pt x="979" y="1449"/>
                  </a:lnTo>
                  <a:lnTo>
                    <a:pt x="0" y="1446"/>
                  </a:ln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15516" name="Picture 191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366" y="3560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364" name="Freeform 8"/>
          <p:cNvSpPr>
            <a:spLocks/>
          </p:cNvSpPr>
          <p:nvPr/>
        </p:nvSpPr>
        <p:spPr bwMode="auto">
          <a:xfrm>
            <a:off x="1346200" y="3221038"/>
            <a:ext cx="1731963" cy="1666875"/>
          </a:xfrm>
          <a:custGeom>
            <a:avLst/>
            <a:gdLst>
              <a:gd name="T0" fmla="*/ 370238 w 1932"/>
              <a:gd name="T1" fmla="*/ 0 h 2019"/>
              <a:gd name="T2" fmla="*/ 1731963 w 1932"/>
              <a:gd name="T3" fmla="*/ 0 h 2019"/>
              <a:gd name="T4" fmla="*/ 1731963 w 1932"/>
              <a:gd name="T5" fmla="*/ 1666875 h 2019"/>
              <a:gd name="T6" fmla="*/ 0 w 1932"/>
              <a:gd name="T7" fmla="*/ 1666875 h 2019"/>
              <a:gd name="T8" fmla="*/ 132676 w 1932"/>
              <a:gd name="T9" fmla="*/ 1473686 h 2019"/>
              <a:gd name="T10" fmla="*/ 313761 w 1932"/>
              <a:gd name="T11" fmla="*/ 1377091 h 2019"/>
              <a:gd name="T12" fmla="*/ 411476 w 1932"/>
              <a:gd name="T13" fmla="*/ 1242520 h 2019"/>
              <a:gd name="T14" fmla="*/ 383685 w 1932"/>
              <a:gd name="T15" fmla="*/ 1003923 h 2019"/>
              <a:gd name="T16" fmla="*/ 313761 w 1932"/>
              <a:gd name="T17" fmla="*/ 869351 h 2019"/>
              <a:gd name="T18" fmla="*/ 237562 w 1932"/>
              <a:gd name="T19" fmla="*/ 720744 h 2019"/>
              <a:gd name="T20" fmla="*/ 251009 w 1932"/>
              <a:gd name="T21" fmla="*/ 508566 h 2019"/>
              <a:gd name="T22" fmla="*/ 300314 w 1932"/>
              <a:gd name="T23" fmla="*/ 347575 h 2019"/>
              <a:gd name="T24" fmla="*/ 376514 w 1932"/>
              <a:gd name="T25" fmla="*/ 283179 h 2019"/>
              <a:gd name="T26" fmla="*/ 418647 w 1932"/>
              <a:gd name="T27" fmla="*/ 218783 h 2019"/>
              <a:gd name="T28" fmla="*/ 453609 w 1932"/>
              <a:gd name="T29" fmla="*/ 90815 h 2019"/>
              <a:gd name="T30" fmla="*/ 370238 w 1932"/>
              <a:gd name="T31" fmla="*/ 0 h 20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932" h="2019">
                <a:moveTo>
                  <a:pt x="413" y="0"/>
                </a:moveTo>
                <a:lnTo>
                  <a:pt x="1932" y="0"/>
                </a:lnTo>
                <a:lnTo>
                  <a:pt x="1932" y="2019"/>
                </a:lnTo>
                <a:lnTo>
                  <a:pt x="0" y="2019"/>
                </a:lnTo>
                <a:cubicBezTo>
                  <a:pt x="47" y="1913"/>
                  <a:pt x="76" y="1876"/>
                  <a:pt x="148" y="1785"/>
                </a:cubicBezTo>
                <a:cubicBezTo>
                  <a:pt x="152" y="1780"/>
                  <a:pt x="338" y="1669"/>
                  <a:pt x="350" y="1668"/>
                </a:cubicBezTo>
                <a:cubicBezTo>
                  <a:pt x="377" y="1641"/>
                  <a:pt x="433" y="1518"/>
                  <a:pt x="459" y="1505"/>
                </a:cubicBezTo>
                <a:cubicBezTo>
                  <a:pt x="482" y="1360"/>
                  <a:pt x="474" y="1355"/>
                  <a:pt x="428" y="1216"/>
                </a:cubicBezTo>
                <a:cubicBezTo>
                  <a:pt x="419" y="1190"/>
                  <a:pt x="362" y="1077"/>
                  <a:pt x="350" y="1053"/>
                </a:cubicBezTo>
                <a:cubicBezTo>
                  <a:pt x="285" y="965"/>
                  <a:pt x="308" y="974"/>
                  <a:pt x="265" y="873"/>
                </a:cubicBezTo>
                <a:cubicBezTo>
                  <a:pt x="249" y="835"/>
                  <a:pt x="280" y="681"/>
                  <a:pt x="280" y="616"/>
                </a:cubicBezTo>
                <a:cubicBezTo>
                  <a:pt x="322" y="525"/>
                  <a:pt x="286" y="508"/>
                  <a:pt x="335" y="421"/>
                </a:cubicBezTo>
                <a:cubicBezTo>
                  <a:pt x="344" y="405"/>
                  <a:pt x="420" y="343"/>
                  <a:pt x="420" y="343"/>
                </a:cubicBezTo>
                <a:cubicBezTo>
                  <a:pt x="425" y="327"/>
                  <a:pt x="460" y="280"/>
                  <a:pt x="467" y="265"/>
                </a:cubicBezTo>
                <a:cubicBezTo>
                  <a:pt x="477" y="245"/>
                  <a:pt x="515" y="154"/>
                  <a:pt x="506" y="110"/>
                </a:cubicBezTo>
                <a:lnTo>
                  <a:pt x="41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6297" name="Rectangle 9"/>
          <p:cNvSpPr>
            <a:spLocks noChangeArrowheads="1"/>
          </p:cNvSpPr>
          <p:nvPr/>
        </p:nvSpPr>
        <p:spPr bwMode="auto">
          <a:xfrm>
            <a:off x="2933700" y="3222625"/>
            <a:ext cx="501650" cy="166687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6298" name="Rectangle 10"/>
          <p:cNvSpPr>
            <a:spLocks noChangeArrowheads="1"/>
          </p:cNvSpPr>
          <p:nvPr/>
        </p:nvSpPr>
        <p:spPr bwMode="auto">
          <a:xfrm>
            <a:off x="3438525" y="3219450"/>
            <a:ext cx="500063" cy="166846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1893888" y="2900363"/>
            <a:ext cx="1085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Emetteur</a:t>
            </a:r>
          </a:p>
        </p:txBody>
      </p:sp>
      <p:grpSp>
        <p:nvGrpSpPr>
          <p:cNvPr id="15368" name="Group 12"/>
          <p:cNvGrpSpPr>
            <a:grpSpLocks/>
          </p:cNvGrpSpPr>
          <p:nvPr/>
        </p:nvGrpSpPr>
        <p:grpSpPr bwMode="auto">
          <a:xfrm>
            <a:off x="3465513" y="3289300"/>
            <a:ext cx="411162" cy="1547813"/>
            <a:chOff x="2346" y="2072"/>
            <a:chExt cx="259" cy="975"/>
          </a:xfrm>
        </p:grpSpPr>
        <p:grpSp>
          <p:nvGrpSpPr>
            <p:cNvPr id="15505" name="Group 13"/>
            <p:cNvGrpSpPr>
              <a:grpSpLocks/>
            </p:cNvGrpSpPr>
            <p:nvPr/>
          </p:nvGrpSpPr>
          <p:grpSpPr bwMode="auto">
            <a:xfrm>
              <a:off x="2346" y="2072"/>
              <a:ext cx="259" cy="288"/>
              <a:chOff x="2675" y="1769"/>
              <a:chExt cx="259" cy="288"/>
            </a:xfrm>
          </p:grpSpPr>
          <p:pic>
            <p:nvPicPr>
              <p:cNvPr id="15512" name="Picture 1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13" name="Text Box 1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506" name="Group 16"/>
            <p:cNvGrpSpPr>
              <a:grpSpLocks/>
            </p:cNvGrpSpPr>
            <p:nvPr/>
          </p:nvGrpSpPr>
          <p:grpSpPr bwMode="auto">
            <a:xfrm>
              <a:off x="2346" y="2415"/>
              <a:ext cx="259" cy="288"/>
              <a:chOff x="2675" y="1769"/>
              <a:chExt cx="259" cy="288"/>
            </a:xfrm>
          </p:grpSpPr>
          <p:pic>
            <p:nvPicPr>
              <p:cNvPr id="15510" name="Picture 1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11" name="Text Box 1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507" name="Group 19"/>
            <p:cNvGrpSpPr>
              <a:grpSpLocks/>
            </p:cNvGrpSpPr>
            <p:nvPr/>
          </p:nvGrpSpPr>
          <p:grpSpPr bwMode="auto">
            <a:xfrm>
              <a:off x="2346" y="2759"/>
              <a:ext cx="259" cy="288"/>
              <a:chOff x="2675" y="1769"/>
              <a:chExt cx="259" cy="288"/>
            </a:xfrm>
          </p:grpSpPr>
          <p:pic>
            <p:nvPicPr>
              <p:cNvPr id="15508" name="Picture 2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09" name="Text Box 2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5369" name="Group 22"/>
          <p:cNvGrpSpPr>
            <a:grpSpLocks/>
          </p:cNvGrpSpPr>
          <p:nvPr/>
        </p:nvGrpSpPr>
        <p:grpSpPr bwMode="auto">
          <a:xfrm>
            <a:off x="2941638" y="3289300"/>
            <a:ext cx="392112" cy="1547813"/>
            <a:chOff x="2121" y="2072"/>
            <a:chExt cx="247" cy="975"/>
          </a:xfrm>
        </p:grpSpPr>
        <p:grpSp>
          <p:nvGrpSpPr>
            <p:cNvPr id="15496" name="Group 23"/>
            <p:cNvGrpSpPr>
              <a:grpSpLocks/>
            </p:cNvGrpSpPr>
            <p:nvPr/>
          </p:nvGrpSpPr>
          <p:grpSpPr bwMode="auto">
            <a:xfrm>
              <a:off x="2121" y="2072"/>
              <a:ext cx="247" cy="288"/>
              <a:chOff x="2277" y="1781"/>
              <a:chExt cx="247" cy="288"/>
            </a:xfrm>
          </p:grpSpPr>
          <p:pic>
            <p:nvPicPr>
              <p:cNvPr id="15503" name="Picture 24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04" name="Text Box 25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97" name="Group 26"/>
            <p:cNvGrpSpPr>
              <a:grpSpLocks/>
            </p:cNvGrpSpPr>
            <p:nvPr/>
          </p:nvGrpSpPr>
          <p:grpSpPr bwMode="auto">
            <a:xfrm>
              <a:off x="2121" y="2415"/>
              <a:ext cx="247" cy="288"/>
              <a:chOff x="2277" y="1781"/>
              <a:chExt cx="247" cy="288"/>
            </a:xfrm>
          </p:grpSpPr>
          <p:pic>
            <p:nvPicPr>
              <p:cNvPr id="15501" name="Picture 27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02" name="Text Box 2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98" name="Group 29"/>
            <p:cNvGrpSpPr>
              <a:grpSpLocks/>
            </p:cNvGrpSpPr>
            <p:nvPr/>
          </p:nvGrpSpPr>
          <p:grpSpPr bwMode="auto">
            <a:xfrm>
              <a:off x="2121" y="2759"/>
              <a:ext cx="247" cy="288"/>
              <a:chOff x="2277" y="1781"/>
              <a:chExt cx="247" cy="288"/>
            </a:xfrm>
          </p:grpSpPr>
          <p:pic>
            <p:nvPicPr>
              <p:cNvPr id="15499" name="Picture 30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500" name="Text Box 3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5370" name="Group 32"/>
          <p:cNvGrpSpPr>
            <a:grpSpLocks/>
          </p:cNvGrpSpPr>
          <p:nvPr/>
        </p:nvGrpSpPr>
        <p:grpSpPr bwMode="auto">
          <a:xfrm>
            <a:off x="2379663" y="3289300"/>
            <a:ext cx="392112" cy="1547813"/>
            <a:chOff x="1782" y="2072"/>
            <a:chExt cx="247" cy="975"/>
          </a:xfrm>
        </p:grpSpPr>
        <p:grpSp>
          <p:nvGrpSpPr>
            <p:cNvPr id="15487" name="Group 33"/>
            <p:cNvGrpSpPr>
              <a:grpSpLocks/>
            </p:cNvGrpSpPr>
            <p:nvPr/>
          </p:nvGrpSpPr>
          <p:grpSpPr bwMode="auto">
            <a:xfrm>
              <a:off x="1782" y="2072"/>
              <a:ext cx="247" cy="288"/>
              <a:chOff x="2277" y="1781"/>
              <a:chExt cx="247" cy="288"/>
            </a:xfrm>
          </p:grpSpPr>
          <p:pic>
            <p:nvPicPr>
              <p:cNvPr id="15494" name="Picture 34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95" name="Text Box 35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88" name="Group 36"/>
            <p:cNvGrpSpPr>
              <a:grpSpLocks/>
            </p:cNvGrpSpPr>
            <p:nvPr/>
          </p:nvGrpSpPr>
          <p:grpSpPr bwMode="auto">
            <a:xfrm>
              <a:off x="1782" y="2415"/>
              <a:ext cx="247" cy="288"/>
              <a:chOff x="2277" y="1781"/>
              <a:chExt cx="247" cy="288"/>
            </a:xfrm>
          </p:grpSpPr>
          <p:pic>
            <p:nvPicPr>
              <p:cNvPr id="15492" name="Picture 37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93" name="Text Box 3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89" name="Group 39"/>
            <p:cNvGrpSpPr>
              <a:grpSpLocks/>
            </p:cNvGrpSpPr>
            <p:nvPr/>
          </p:nvGrpSpPr>
          <p:grpSpPr bwMode="auto">
            <a:xfrm>
              <a:off x="1782" y="2759"/>
              <a:ext cx="247" cy="288"/>
              <a:chOff x="2277" y="1781"/>
              <a:chExt cx="247" cy="288"/>
            </a:xfrm>
          </p:grpSpPr>
          <p:pic>
            <p:nvPicPr>
              <p:cNvPr id="15490" name="Picture 40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91" name="Text Box 4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5371" name="Group 42"/>
          <p:cNvGrpSpPr>
            <a:grpSpLocks/>
          </p:cNvGrpSpPr>
          <p:nvPr/>
        </p:nvGrpSpPr>
        <p:grpSpPr bwMode="auto">
          <a:xfrm>
            <a:off x="2711450" y="3302000"/>
            <a:ext cx="74613" cy="1144588"/>
            <a:chOff x="2038" y="2080"/>
            <a:chExt cx="47" cy="721"/>
          </a:xfrm>
        </p:grpSpPr>
        <p:sp>
          <p:nvSpPr>
            <p:cNvPr id="15484" name="Oval 43"/>
            <p:cNvSpPr>
              <a:spLocks noChangeArrowheads="1"/>
            </p:cNvSpPr>
            <p:nvPr/>
          </p:nvSpPr>
          <p:spPr bwMode="auto">
            <a:xfrm>
              <a:off x="203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85" name="Oval 44"/>
            <p:cNvSpPr>
              <a:spLocks noChangeArrowheads="1"/>
            </p:cNvSpPr>
            <p:nvPr/>
          </p:nvSpPr>
          <p:spPr bwMode="auto">
            <a:xfrm>
              <a:off x="203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86" name="Oval 45"/>
            <p:cNvSpPr>
              <a:spLocks noChangeArrowheads="1"/>
            </p:cNvSpPr>
            <p:nvPr/>
          </p:nvSpPr>
          <p:spPr bwMode="auto">
            <a:xfrm>
              <a:off x="203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72" name="Rectangle 202"/>
          <p:cNvSpPr>
            <a:spLocks noChangeArrowheads="1"/>
          </p:cNvSpPr>
          <p:nvPr/>
        </p:nvSpPr>
        <p:spPr bwMode="auto">
          <a:xfrm>
            <a:off x="3919538" y="3219450"/>
            <a:ext cx="690562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6489" name="Rectangle 201"/>
          <p:cNvSpPr>
            <a:spLocks noChangeArrowheads="1"/>
          </p:cNvSpPr>
          <p:nvPr/>
        </p:nvSpPr>
        <p:spPr bwMode="auto">
          <a:xfrm>
            <a:off x="4591050" y="3219450"/>
            <a:ext cx="504825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5374" name="Rectangle 47"/>
          <p:cNvSpPr>
            <a:spLocks noChangeArrowheads="1"/>
          </p:cNvSpPr>
          <p:nvPr/>
        </p:nvSpPr>
        <p:spPr bwMode="auto">
          <a:xfrm>
            <a:off x="5087938" y="3219450"/>
            <a:ext cx="504825" cy="166846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5375" name="Group 48"/>
          <p:cNvGrpSpPr>
            <a:grpSpLocks/>
          </p:cNvGrpSpPr>
          <p:nvPr/>
        </p:nvGrpSpPr>
        <p:grpSpPr bwMode="auto">
          <a:xfrm>
            <a:off x="4041775" y="3289300"/>
            <a:ext cx="411163" cy="1547813"/>
            <a:chOff x="2594" y="2072"/>
            <a:chExt cx="259" cy="975"/>
          </a:xfrm>
        </p:grpSpPr>
        <p:grpSp>
          <p:nvGrpSpPr>
            <p:cNvPr id="15475" name="Group 49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5482" name="Picture 5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83" name="Text Box 5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476" name="Group 52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5480" name="Picture 53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81" name="Text Box 54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477" name="Group 55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5478" name="Picture 56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79" name="Text Box 57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5376" name="Group 58"/>
          <p:cNvGrpSpPr>
            <a:grpSpLocks/>
          </p:cNvGrpSpPr>
          <p:nvPr/>
        </p:nvGrpSpPr>
        <p:grpSpPr bwMode="auto">
          <a:xfrm>
            <a:off x="4386263" y="3259138"/>
            <a:ext cx="112712" cy="1252537"/>
            <a:chOff x="2805" y="2053"/>
            <a:chExt cx="71" cy="789"/>
          </a:xfrm>
        </p:grpSpPr>
        <p:sp>
          <p:nvSpPr>
            <p:cNvPr id="15472" name="Oval 59"/>
            <p:cNvSpPr>
              <a:spLocks noChangeArrowheads="1"/>
            </p:cNvSpPr>
            <p:nvPr/>
          </p:nvSpPr>
          <p:spPr bwMode="auto">
            <a:xfrm>
              <a:off x="2805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73" name="Oval 60"/>
            <p:cNvSpPr>
              <a:spLocks noChangeArrowheads="1"/>
            </p:cNvSpPr>
            <p:nvPr/>
          </p:nvSpPr>
          <p:spPr bwMode="auto">
            <a:xfrm>
              <a:off x="2805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74" name="Oval 61"/>
            <p:cNvSpPr>
              <a:spLocks noChangeArrowheads="1"/>
            </p:cNvSpPr>
            <p:nvPr/>
          </p:nvSpPr>
          <p:spPr bwMode="auto">
            <a:xfrm>
              <a:off x="2805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377" name="Group 62"/>
          <p:cNvGrpSpPr>
            <a:grpSpLocks/>
          </p:cNvGrpSpPr>
          <p:nvPr/>
        </p:nvGrpSpPr>
        <p:grpSpPr bwMode="auto">
          <a:xfrm>
            <a:off x="5108575" y="3289300"/>
            <a:ext cx="411163" cy="1547813"/>
            <a:chOff x="3142" y="2072"/>
            <a:chExt cx="259" cy="975"/>
          </a:xfrm>
        </p:grpSpPr>
        <p:grpSp>
          <p:nvGrpSpPr>
            <p:cNvPr id="15463" name="Group 63"/>
            <p:cNvGrpSpPr>
              <a:grpSpLocks/>
            </p:cNvGrpSpPr>
            <p:nvPr/>
          </p:nvGrpSpPr>
          <p:grpSpPr bwMode="auto">
            <a:xfrm>
              <a:off x="3142" y="2072"/>
              <a:ext cx="259" cy="288"/>
              <a:chOff x="2675" y="1769"/>
              <a:chExt cx="259" cy="288"/>
            </a:xfrm>
          </p:grpSpPr>
          <p:pic>
            <p:nvPicPr>
              <p:cNvPr id="15470" name="Picture 6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71" name="Text Box 6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464" name="Group 66"/>
            <p:cNvGrpSpPr>
              <a:grpSpLocks/>
            </p:cNvGrpSpPr>
            <p:nvPr/>
          </p:nvGrpSpPr>
          <p:grpSpPr bwMode="auto">
            <a:xfrm>
              <a:off x="3142" y="2415"/>
              <a:ext cx="259" cy="288"/>
              <a:chOff x="2675" y="1769"/>
              <a:chExt cx="259" cy="288"/>
            </a:xfrm>
          </p:grpSpPr>
          <p:pic>
            <p:nvPicPr>
              <p:cNvPr id="15468" name="Picture 6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69" name="Text Box 6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465" name="Group 69"/>
            <p:cNvGrpSpPr>
              <a:grpSpLocks/>
            </p:cNvGrpSpPr>
            <p:nvPr/>
          </p:nvGrpSpPr>
          <p:grpSpPr bwMode="auto">
            <a:xfrm>
              <a:off x="3142" y="2759"/>
              <a:ext cx="259" cy="288"/>
              <a:chOff x="2675" y="1769"/>
              <a:chExt cx="259" cy="288"/>
            </a:xfrm>
          </p:grpSpPr>
          <p:pic>
            <p:nvPicPr>
              <p:cNvPr id="15466" name="Picture 7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67" name="Text Box 7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5378" name="Rectangle 72"/>
          <p:cNvSpPr>
            <a:spLocks noChangeArrowheads="1"/>
          </p:cNvSpPr>
          <p:nvPr/>
        </p:nvSpPr>
        <p:spPr bwMode="auto">
          <a:xfrm>
            <a:off x="5600700" y="3221038"/>
            <a:ext cx="503238" cy="166687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396491" name="Rectangle 203"/>
          <p:cNvSpPr>
            <a:spLocks noChangeArrowheads="1"/>
          </p:cNvSpPr>
          <p:nvPr/>
        </p:nvSpPr>
        <p:spPr bwMode="auto">
          <a:xfrm>
            <a:off x="6094413" y="3221038"/>
            <a:ext cx="563562" cy="1666875"/>
          </a:xfrm>
          <a:prstGeom prst="rect">
            <a:avLst/>
          </a:prstGeom>
          <a:solidFill>
            <a:srgbClr val="66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5380" name="Freeform 73"/>
          <p:cNvSpPr>
            <a:spLocks/>
          </p:cNvSpPr>
          <p:nvPr/>
        </p:nvSpPr>
        <p:spPr bwMode="auto">
          <a:xfrm>
            <a:off x="6654800" y="3219450"/>
            <a:ext cx="1006475" cy="1668463"/>
          </a:xfrm>
          <a:custGeom>
            <a:avLst/>
            <a:gdLst>
              <a:gd name="T0" fmla="*/ 673100 w 634"/>
              <a:gd name="T1" fmla="*/ 0 h 1051"/>
              <a:gd name="T2" fmla="*/ 0 w 634"/>
              <a:gd name="T3" fmla="*/ 6350 h 1051"/>
              <a:gd name="T4" fmla="*/ 0 w 634"/>
              <a:gd name="T5" fmla="*/ 1666875 h 1051"/>
              <a:gd name="T6" fmla="*/ 1006475 w 634"/>
              <a:gd name="T7" fmla="*/ 1668463 h 1051"/>
              <a:gd name="T8" fmla="*/ 887413 w 634"/>
              <a:gd name="T9" fmla="*/ 1474788 h 1051"/>
              <a:gd name="T10" fmla="*/ 723900 w 634"/>
              <a:gd name="T11" fmla="*/ 1377950 h 1051"/>
              <a:gd name="T12" fmla="*/ 636588 w 634"/>
              <a:gd name="T13" fmla="*/ 1243013 h 1051"/>
              <a:gd name="T14" fmla="*/ 661988 w 634"/>
              <a:gd name="T15" fmla="*/ 1004888 h 1051"/>
              <a:gd name="T16" fmla="*/ 723900 w 634"/>
              <a:gd name="T17" fmla="*/ 869950 h 1051"/>
              <a:gd name="T18" fmla="*/ 792163 w 634"/>
              <a:gd name="T19" fmla="*/ 720725 h 1051"/>
              <a:gd name="T20" fmla="*/ 781050 w 634"/>
              <a:gd name="T21" fmla="*/ 509588 h 1051"/>
              <a:gd name="T22" fmla="*/ 736600 w 634"/>
              <a:gd name="T23" fmla="*/ 347663 h 1051"/>
              <a:gd name="T24" fmla="*/ 668338 w 634"/>
              <a:gd name="T25" fmla="*/ 284163 h 1051"/>
              <a:gd name="T26" fmla="*/ 630238 w 634"/>
              <a:gd name="T27" fmla="*/ 219075 h 1051"/>
              <a:gd name="T28" fmla="*/ 598488 w 634"/>
              <a:gd name="T29" fmla="*/ 90488 h 1051"/>
              <a:gd name="T30" fmla="*/ 673100 w 634"/>
              <a:gd name="T31" fmla="*/ 0 h 105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634" h="1051">
                <a:moveTo>
                  <a:pt x="424" y="0"/>
                </a:moveTo>
                <a:lnTo>
                  <a:pt x="0" y="4"/>
                </a:lnTo>
                <a:lnTo>
                  <a:pt x="0" y="1050"/>
                </a:lnTo>
                <a:lnTo>
                  <a:pt x="634" y="1051"/>
                </a:lnTo>
                <a:cubicBezTo>
                  <a:pt x="610" y="996"/>
                  <a:pt x="595" y="977"/>
                  <a:pt x="559" y="929"/>
                </a:cubicBezTo>
                <a:cubicBezTo>
                  <a:pt x="557" y="927"/>
                  <a:pt x="462" y="869"/>
                  <a:pt x="456" y="868"/>
                </a:cubicBezTo>
                <a:cubicBezTo>
                  <a:pt x="443" y="854"/>
                  <a:pt x="414" y="790"/>
                  <a:pt x="401" y="783"/>
                </a:cubicBezTo>
                <a:cubicBezTo>
                  <a:pt x="389" y="708"/>
                  <a:pt x="393" y="705"/>
                  <a:pt x="417" y="633"/>
                </a:cubicBezTo>
                <a:cubicBezTo>
                  <a:pt x="421" y="619"/>
                  <a:pt x="450" y="561"/>
                  <a:pt x="456" y="548"/>
                </a:cubicBezTo>
                <a:cubicBezTo>
                  <a:pt x="489" y="502"/>
                  <a:pt x="478" y="507"/>
                  <a:pt x="499" y="454"/>
                </a:cubicBezTo>
                <a:cubicBezTo>
                  <a:pt x="508" y="435"/>
                  <a:pt x="492" y="354"/>
                  <a:pt x="492" y="321"/>
                </a:cubicBezTo>
                <a:cubicBezTo>
                  <a:pt x="470" y="273"/>
                  <a:pt x="489" y="264"/>
                  <a:pt x="464" y="219"/>
                </a:cubicBezTo>
                <a:cubicBezTo>
                  <a:pt x="459" y="211"/>
                  <a:pt x="421" y="179"/>
                  <a:pt x="421" y="179"/>
                </a:cubicBezTo>
                <a:cubicBezTo>
                  <a:pt x="418" y="170"/>
                  <a:pt x="400" y="146"/>
                  <a:pt x="397" y="138"/>
                </a:cubicBezTo>
                <a:cubicBezTo>
                  <a:pt x="392" y="128"/>
                  <a:pt x="373" y="80"/>
                  <a:pt x="377" y="57"/>
                </a:cubicBezTo>
                <a:lnTo>
                  <a:pt x="424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5381" name="Group 74"/>
          <p:cNvGrpSpPr>
            <a:grpSpLocks/>
          </p:cNvGrpSpPr>
          <p:nvPr/>
        </p:nvGrpSpPr>
        <p:grpSpPr bwMode="auto">
          <a:xfrm>
            <a:off x="1819275" y="3289300"/>
            <a:ext cx="392113" cy="1547813"/>
            <a:chOff x="1473" y="2072"/>
            <a:chExt cx="247" cy="975"/>
          </a:xfrm>
        </p:grpSpPr>
        <p:grpSp>
          <p:nvGrpSpPr>
            <p:cNvPr id="15454" name="Group 75"/>
            <p:cNvGrpSpPr>
              <a:grpSpLocks/>
            </p:cNvGrpSpPr>
            <p:nvPr/>
          </p:nvGrpSpPr>
          <p:grpSpPr bwMode="auto">
            <a:xfrm>
              <a:off x="1473" y="2072"/>
              <a:ext cx="247" cy="288"/>
              <a:chOff x="2277" y="1781"/>
              <a:chExt cx="247" cy="288"/>
            </a:xfrm>
          </p:grpSpPr>
          <p:pic>
            <p:nvPicPr>
              <p:cNvPr id="15461" name="Picture 76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62" name="Text Box 77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55" name="Group 78"/>
            <p:cNvGrpSpPr>
              <a:grpSpLocks/>
            </p:cNvGrpSpPr>
            <p:nvPr/>
          </p:nvGrpSpPr>
          <p:grpSpPr bwMode="auto">
            <a:xfrm>
              <a:off x="1473" y="2415"/>
              <a:ext cx="247" cy="288"/>
              <a:chOff x="2277" y="1781"/>
              <a:chExt cx="247" cy="288"/>
            </a:xfrm>
          </p:grpSpPr>
          <p:pic>
            <p:nvPicPr>
              <p:cNvPr id="15459" name="Picture 79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60" name="Text Box 8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56" name="Group 81"/>
            <p:cNvGrpSpPr>
              <a:grpSpLocks/>
            </p:cNvGrpSpPr>
            <p:nvPr/>
          </p:nvGrpSpPr>
          <p:grpSpPr bwMode="auto">
            <a:xfrm>
              <a:off x="1473" y="2759"/>
              <a:ext cx="247" cy="288"/>
              <a:chOff x="2277" y="1781"/>
              <a:chExt cx="247" cy="288"/>
            </a:xfrm>
          </p:grpSpPr>
          <p:pic>
            <p:nvPicPr>
              <p:cNvPr id="15457" name="Picture 82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58" name="Text Box 8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5382" name="Group 84"/>
          <p:cNvGrpSpPr>
            <a:grpSpLocks/>
          </p:cNvGrpSpPr>
          <p:nvPr/>
        </p:nvGrpSpPr>
        <p:grpSpPr bwMode="auto">
          <a:xfrm>
            <a:off x="2135188" y="3302000"/>
            <a:ext cx="74612" cy="1144588"/>
            <a:chOff x="1729" y="2080"/>
            <a:chExt cx="47" cy="721"/>
          </a:xfrm>
        </p:grpSpPr>
        <p:sp>
          <p:nvSpPr>
            <p:cNvPr id="15451" name="Oval 85"/>
            <p:cNvSpPr>
              <a:spLocks noChangeArrowheads="1"/>
            </p:cNvSpPr>
            <p:nvPr/>
          </p:nvSpPr>
          <p:spPr bwMode="auto">
            <a:xfrm>
              <a:off x="1729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52" name="Oval 86"/>
            <p:cNvSpPr>
              <a:spLocks noChangeArrowheads="1"/>
            </p:cNvSpPr>
            <p:nvPr/>
          </p:nvSpPr>
          <p:spPr bwMode="auto">
            <a:xfrm>
              <a:off x="1729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53" name="Oval 87"/>
            <p:cNvSpPr>
              <a:spLocks noChangeArrowheads="1"/>
            </p:cNvSpPr>
            <p:nvPr/>
          </p:nvSpPr>
          <p:spPr bwMode="auto">
            <a:xfrm>
              <a:off x="1729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383" name="Group 88"/>
          <p:cNvGrpSpPr>
            <a:grpSpLocks/>
          </p:cNvGrpSpPr>
          <p:nvPr/>
        </p:nvGrpSpPr>
        <p:grpSpPr bwMode="auto">
          <a:xfrm>
            <a:off x="5654675" y="3289300"/>
            <a:ext cx="392113" cy="1547813"/>
            <a:chOff x="3406" y="2072"/>
            <a:chExt cx="247" cy="975"/>
          </a:xfrm>
        </p:grpSpPr>
        <p:grpSp>
          <p:nvGrpSpPr>
            <p:cNvPr id="15442" name="Group 89"/>
            <p:cNvGrpSpPr>
              <a:grpSpLocks/>
            </p:cNvGrpSpPr>
            <p:nvPr/>
          </p:nvGrpSpPr>
          <p:grpSpPr bwMode="auto">
            <a:xfrm>
              <a:off x="3406" y="2072"/>
              <a:ext cx="247" cy="288"/>
              <a:chOff x="2277" y="1781"/>
              <a:chExt cx="247" cy="288"/>
            </a:xfrm>
          </p:grpSpPr>
          <p:pic>
            <p:nvPicPr>
              <p:cNvPr id="15449" name="Picture 90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50" name="Text Box 9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43" name="Group 92"/>
            <p:cNvGrpSpPr>
              <a:grpSpLocks/>
            </p:cNvGrpSpPr>
            <p:nvPr/>
          </p:nvGrpSpPr>
          <p:grpSpPr bwMode="auto">
            <a:xfrm>
              <a:off x="3406" y="2415"/>
              <a:ext cx="247" cy="288"/>
              <a:chOff x="2277" y="1781"/>
              <a:chExt cx="247" cy="288"/>
            </a:xfrm>
          </p:grpSpPr>
          <p:pic>
            <p:nvPicPr>
              <p:cNvPr id="15447" name="Picture 93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48" name="Text Box 9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44" name="Group 95"/>
            <p:cNvGrpSpPr>
              <a:grpSpLocks/>
            </p:cNvGrpSpPr>
            <p:nvPr/>
          </p:nvGrpSpPr>
          <p:grpSpPr bwMode="auto">
            <a:xfrm>
              <a:off x="3406" y="2759"/>
              <a:ext cx="247" cy="288"/>
              <a:chOff x="2277" y="1781"/>
              <a:chExt cx="247" cy="288"/>
            </a:xfrm>
          </p:grpSpPr>
          <p:pic>
            <p:nvPicPr>
              <p:cNvPr id="15445" name="Picture 96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46" name="Text Box 97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5384" name="Rectangle 98"/>
          <p:cNvSpPr>
            <a:spLocks noChangeArrowheads="1"/>
          </p:cNvSpPr>
          <p:nvPr/>
        </p:nvSpPr>
        <p:spPr bwMode="auto">
          <a:xfrm>
            <a:off x="4313238" y="2900363"/>
            <a:ext cx="627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15385" name="Rectangle 99"/>
          <p:cNvSpPr>
            <a:spLocks noChangeArrowheads="1"/>
          </p:cNvSpPr>
          <p:nvPr/>
        </p:nvSpPr>
        <p:spPr bwMode="auto">
          <a:xfrm>
            <a:off x="6275388" y="2900363"/>
            <a:ext cx="11509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Collecteur</a:t>
            </a:r>
          </a:p>
        </p:txBody>
      </p:sp>
      <p:grpSp>
        <p:nvGrpSpPr>
          <p:cNvPr id="15386" name="Group 100"/>
          <p:cNvGrpSpPr>
            <a:grpSpLocks/>
          </p:cNvGrpSpPr>
          <p:nvPr/>
        </p:nvGrpSpPr>
        <p:grpSpPr bwMode="auto">
          <a:xfrm>
            <a:off x="6238875" y="3289300"/>
            <a:ext cx="392113" cy="1547813"/>
            <a:chOff x="3760" y="2072"/>
            <a:chExt cx="247" cy="975"/>
          </a:xfrm>
        </p:grpSpPr>
        <p:grpSp>
          <p:nvGrpSpPr>
            <p:cNvPr id="15433" name="Group 101"/>
            <p:cNvGrpSpPr>
              <a:grpSpLocks/>
            </p:cNvGrpSpPr>
            <p:nvPr/>
          </p:nvGrpSpPr>
          <p:grpSpPr bwMode="auto">
            <a:xfrm>
              <a:off x="3760" y="2072"/>
              <a:ext cx="247" cy="288"/>
              <a:chOff x="2277" y="1781"/>
              <a:chExt cx="247" cy="288"/>
            </a:xfrm>
          </p:grpSpPr>
          <p:pic>
            <p:nvPicPr>
              <p:cNvPr id="15440" name="Picture 102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41" name="Text Box 10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34" name="Group 104"/>
            <p:cNvGrpSpPr>
              <a:grpSpLocks/>
            </p:cNvGrpSpPr>
            <p:nvPr/>
          </p:nvGrpSpPr>
          <p:grpSpPr bwMode="auto">
            <a:xfrm>
              <a:off x="3760" y="2415"/>
              <a:ext cx="247" cy="288"/>
              <a:chOff x="2277" y="1781"/>
              <a:chExt cx="247" cy="288"/>
            </a:xfrm>
          </p:grpSpPr>
          <p:pic>
            <p:nvPicPr>
              <p:cNvPr id="15438" name="Picture 105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39" name="Text Box 10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35" name="Group 107"/>
            <p:cNvGrpSpPr>
              <a:grpSpLocks/>
            </p:cNvGrpSpPr>
            <p:nvPr/>
          </p:nvGrpSpPr>
          <p:grpSpPr bwMode="auto">
            <a:xfrm>
              <a:off x="3760" y="2759"/>
              <a:ext cx="247" cy="288"/>
              <a:chOff x="2277" y="1781"/>
              <a:chExt cx="247" cy="288"/>
            </a:xfrm>
          </p:grpSpPr>
          <p:pic>
            <p:nvPicPr>
              <p:cNvPr id="15436" name="Picture 108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37" name="Text Box 109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396398" name="Group 110"/>
          <p:cNvGrpSpPr>
            <a:grpSpLocks/>
          </p:cNvGrpSpPr>
          <p:nvPr/>
        </p:nvGrpSpPr>
        <p:grpSpPr bwMode="auto">
          <a:xfrm>
            <a:off x="6289675" y="3302000"/>
            <a:ext cx="74613" cy="1144588"/>
            <a:chOff x="3731" y="2080"/>
            <a:chExt cx="47" cy="721"/>
          </a:xfrm>
        </p:grpSpPr>
        <p:sp>
          <p:nvSpPr>
            <p:cNvPr id="15430" name="Oval 111"/>
            <p:cNvSpPr>
              <a:spLocks noChangeArrowheads="1"/>
            </p:cNvSpPr>
            <p:nvPr/>
          </p:nvSpPr>
          <p:spPr bwMode="auto">
            <a:xfrm>
              <a:off x="3731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31" name="Oval 112"/>
            <p:cNvSpPr>
              <a:spLocks noChangeArrowheads="1"/>
            </p:cNvSpPr>
            <p:nvPr/>
          </p:nvSpPr>
          <p:spPr bwMode="auto">
            <a:xfrm>
              <a:off x="3731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32" name="Oval 113"/>
            <p:cNvSpPr>
              <a:spLocks noChangeArrowheads="1"/>
            </p:cNvSpPr>
            <p:nvPr/>
          </p:nvSpPr>
          <p:spPr bwMode="auto">
            <a:xfrm>
              <a:off x="3731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388" name="Group 114"/>
          <p:cNvGrpSpPr>
            <a:grpSpLocks/>
          </p:cNvGrpSpPr>
          <p:nvPr/>
        </p:nvGrpSpPr>
        <p:grpSpPr bwMode="auto">
          <a:xfrm>
            <a:off x="6824663" y="3289300"/>
            <a:ext cx="392112" cy="1547813"/>
            <a:chOff x="4077" y="2072"/>
            <a:chExt cx="247" cy="975"/>
          </a:xfrm>
        </p:grpSpPr>
        <p:grpSp>
          <p:nvGrpSpPr>
            <p:cNvPr id="15421" name="Group 115"/>
            <p:cNvGrpSpPr>
              <a:grpSpLocks/>
            </p:cNvGrpSpPr>
            <p:nvPr/>
          </p:nvGrpSpPr>
          <p:grpSpPr bwMode="auto">
            <a:xfrm>
              <a:off x="4077" y="2072"/>
              <a:ext cx="247" cy="288"/>
              <a:chOff x="2277" y="1781"/>
              <a:chExt cx="247" cy="288"/>
            </a:xfrm>
          </p:grpSpPr>
          <p:pic>
            <p:nvPicPr>
              <p:cNvPr id="15428" name="Picture 116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29" name="Text Box 117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22" name="Group 118"/>
            <p:cNvGrpSpPr>
              <a:grpSpLocks/>
            </p:cNvGrpSpPr>
            <p:nvPr/>
          </p:nvGrpSpPr>
          <p:grpSpPr bwMode="auto">
            <a:xfrm>
              <a:off x="4077" y="2415"/>
              <a:ext cx="247" cy="288"/>
              <a:chOff x="2277" y="1781"/>
              <a:chExt cx="247" cy="288"/>
            </a:xfrm>
          </p:grpSpPr>
          <p:pic>
            <p:nvPicPr>
              <p:cNvPr id="15426" name="Picture 119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27" name="Text Box 12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5423" name="Group 121"/>
            <p:cNvGrpSpPr>
              <a:grpSpLocks/>
            </p:cNvGrpSpPr>
            <p:nvPr/>
          </p:nvGrpSpPr>
          <p:grpSpPr bwMode="auto">
            <a:xfrm>
              <a:off x="4077" y="2759"/>
              <a:ext cx="247" cy="288"/>
              <a:chOff x="2277" y="1781"/>
              <a:chExt cx="247" cy="288"/>
            </a:xfrm>
          </p:grpSpPr>
          <p:pic>
            <p:nvPicPr>
              <p:cNvPr id="15424" name="Picture 122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25" name="Text Box 12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5389" name="Group 124"/>
          <p:cNvGrpSpPr>
            <a:grpSpLocks/>
          </p:cNvGrpSpPr>
          <p:nvPr/>
        </p:nvGrpSpPr>
        <p:grpSpPr bwMode="auto">
          <a:xfrm>
            <a:off x="6831013" y="3302000"/>
            <a:ext cx="74612" cy="1144588"/>
            <a:chOff x="4048" y="2080"/>
            <a:chExt cx="47" cy="721"/>
          </a:xfrm>
        </p:grpSpPr>
        <p:sp>
          <p:nvSpPr>
            <p:cNvPr id="15418" name="Oval 125"/>
            <p:cNvSpPr>
              <a:spLocks noChangeArrowheads="1"/>
            </p:cNvSpPr>
            <p:nvPr/>
          </p:nvSpPr>
          <p:spPr bwMode="auto">
            <a:xfrm>
              <a:off x="404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19" name="Oval 126"/>
            <p:cNvSpPr>
              <a:spLocks noChangeArrowheads="1"/>
            </p:cNvSpPr>
            <p:nvPr/>
          </p:nvSpPr>
          <p:spPr bwMode="auto">
            <a:xfrm>
              <a:off x="404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20" name="Oval 127"/>
            <p:cNvSpPr>
              <a:spLocks noChangeArrowheads="1"/>
            </p:cNvSpPr>
            <p:nvPr/>
          </p:nvSpPr>
          <p:spPr bwMode="auto">
            <a:xfrm>
              <a:off x="404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90" name="Rectangle 131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396430" name="Group 142"/>
          <p:cNvGrpSpPr>
            <a:grpSpLocks/>
          </p:cNvGrpSpPr>
          <p:nvPr/>
        </p:nvGrpSpPr>
        <p:grpSpPr bwMode="auto">
          <a:xfrm>
            <a:off x="3251200" y="3302000"/>
            <a:ext cx="74613" cy="1144588"/>
            <a:chOff x="2038" y="2080"/>
            <a:chExt cx="47" cy="721"/>
          </a:xfrm>
        </p:grpSpPr>
        <p:sp>
          <p:nvSpPr>
            <p:cNvPr id="15415" name="Oval 143"/>
            <p:cNvSpPr>
              <a:spLocks noChangeArrowheads="1"/>
            </p:cNvSpPr>
            <p:nvPr/>
          </p:nvSpPr>
          <p:spPr bwMode="auto">
            <a:xfrm>
              <a:off x="203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16" name="Oval 144"/>
            <p:cNvSpPr>
              <a:spLocks noChangeArrowheads="1"/>
            </p:cNvSpPr>
            <p:nvPr/>
          </p:nvSpPr>
          <p:spPr bwMode="auto">
            <a:xfrm>
              <a:off x="203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17" name="Oval 145"/>
            <p:cNvSpPr>
              <a:spLocks noChangeArrowheads="1"/>
            </p:cNvSpPr>
            <p:nvPr/>
          </p:nvSpPr>
          <p:spPr bwMode="auto">
            <a:xfrm>
              <a:off x="203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6442" name="Group 154"/>
          <p:cNvGrpSpPr>
            <a:grpSpLocks/>
          </p:cNvGrpSpPr>
          <p:nvPr/>
        </p:nvGrpSpPr>
        <p:grpSpPr bwMode="auto">
          <a:xfrm>
            <a:off x="3773488" y="3259138"/>
            <a:ext cx="112712" cy="1252537"/>
            <a:chOff x="3063" y="2053"/>
            <a:chExt cx="71" cy="789"/>
          </a:xfrm>
        </p:grpSpPr>
        <p:sp>
          <p:nvSpPr>
            <p:cNvPr id="15412" name="Oval 155"/>
            <p:cNvSpPr>
              <a:spLocks noChangeArrowheads="1"/>
            </p:cNvSpPr>
            <p:nvPr/>
          </p:nvSpPr>
          <p:spPr bwMode="auto">
            <a:xfrm>
              <a:off x="3063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13" name="Oval 156"/>
            <p:cNvSpPr>
              <a:spLocks noChangeArrowheads="1"/>
            </p:cNvSpPr>
            <p:nvPr/>
          </p:nvSpPr>
          <p:spPr bwMode="auto">
            <a:xfrm>
              <a:off x="3063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14" name="Oval 157"/>
            <p:cNvSpPr>
              <a:spLocks noChangeArrowheads="1"/>
            </p:cNvSpPr>
            <p:nvPr/>
          </p:nvSpPr>
          <p:spPr bwMode="auto">
            <a:xfrm>
              <a:off x="3063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5393" name="Group 159"/>
          <p:cNvGrpSpPr>
            <a:grpSpLocks/>
          </p:cNvGrpSpPr>
          <p:nvPr/>
        </p:nvGrpSpPr>
        <p:grpSpPr bwMode="auto">
          <a:xfrm>
            <a:off x="4592638" y="3289300"/>
            <a:ext cx="411162" cy="1547813"/>
            <a:chOff x="2594" y="2072"/>
            <a:chExt cx="259" cy="975"/>
          </a:xfrm>
        </p:grpSpPr>
        <p:grpSp>
          <p:nvGrpSpPr>
            <p:cNvPr id="15403" name="Group 160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5410" name="Picture 16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11" name="Text Box 16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404" name="Group 163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5408" name="Picture 16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09" name="Text Box 16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5405" name="Group 166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5406" name="Picture 16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407" name="Text Box 16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396457" name="Group 169"/>
          <p:cNvGrpSpPr>
            <a:grpSpLocks/>
          </p:cNvGrpSpPr>
          <p:nvPr/>
        </p:nvGrpSpPr>
        <p:grpSpPr bwMode="auto">
          <a:xfrm>
            <a:off x="4926013" y="3259138"/>
            <a:ext cx="112712" cy="1252537"/>
            <a:chOff x="2805" y="2053"/>
            <a:chExt cx="71" cy="789"/>
          </a:xfrm>
        </p:grpSpPr>
        <p:sp>
          <p:nvSpPr>
            <p:cNvPr id="15400" name="Oval 170"/>
            <p:cNvSpPr>
              <a:spLocks noChangeArrowheads="1"/>
            </p:cNvSpPr>
            <p:nvPr/>
          </p:nvSpPr>
          <p:spPr bwMode="auto">
            <a:xfrm>
              <a:off x="2805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01" name="Oval 171"/>
            <p:cNvSpPr>
              <a:spLocks noChangeArrowheads="1"/>
            </p:cNvSpPr>
            <p:nvPr/>
          </p:nvSpPr>
          <p:spPr bwMode="auto">
            <a:xfrm>
              <a:off x="2805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402" name="Oval 172"/>
            <p:cNvSpPr>
              <a:spLocks noChangeArrowheads="1"/>
            </p:cNvSpPr>
            <p:nvPr/>
          </p:nvSpPr>
          <p:spPr bwMode="auto">
            <a:xfrm>
              <a:off x="2805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95" name="Text Box 176"/>
          <p:cNvSpPr txBox="1">
            <a:spLocks noChangeArrowheads="1"/>
          </p:cNvSpPr>
          <p:nvPr/>
        </p:nvSpPr>
        <p:spPr bwMode="auto">
          <a:xfrm>
            <a:off x="1406525" y="717550"/>
            <a:ext cx="61737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du bipolaire</a:t>
            </a:r>
            <a:endParaRPr lang="fr-FR" altLang="fr-FR"/>
          </a:p>
        </p:txBody>
      </p:sp>
      <p:sp>
        <p:nvSpPr>
          <p:cNvPr id="15396" name="Text Box 177"/>
          <p:cNvSpPr txBox="1">
            <a:spLocks noChangeArrowheads="1"/>
          </p:cNvSpPr>
          <p:nvPr/>
        </p:nvSpPr>
        <p:spPr bwMode="auto">
          <a:xfrm>
            <a:off x="1116013" y="1992313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On polarise la jonction </a:t>
            </a:r>
            <a:r>
              <a:rPr lang="fr-FR" altLang="fr-FR" sz="2400">
                <a:solidFill>
                  <a:srgbClr val="FF3300"/>
                </a:solidFill>
              </a:rPr>
              <a:t>BE</a:t>
            </a:r>
            <a:r>
              <a:rPr lang="fr-FR" altLang="fr-FR" sz="2000"/>
              <a:t> en </a:t>
            </a:r>
            <a:r>
              <a:rPr lang="fr-FR" altLang="fr-FR" sz="2400">
                <a:solidFill>
                  <a:srgbClr val="FF3300"/>
                </a:solidFill>
              </a:rPr>
              <a:t>direct</a:t>
            </a:r>
            <a:r>
              <a:rPr lang="fr-FR" altLang="fr-FR" sz="2000"/>
              <a:t> et </a:t>
            </a:r>
            <a:r>
              <a:rPr lang="fr-FR" altLang="fr-FR" sz="2400">
                <a:solidFill>
                  <a:srgbClr val="FF3300"/>
                </a:solidFill>
              </a:rPr>
              <a:t>BC</a:t>
            </a:r>
            <a:r>
              <a:rPr lang="fr-FR" altLang="fr-FR" sz="2000"/>
              <a:t> en </a:t>
            </a:r>
            <a:r>
              <a:rPr lang="fr-FR" altLang="fr-FR" sz="2400">
                <a:solidFill>
                  <a:srgbClr val="FF3300"/>
                </a:solidFill>
              </a:rPr>
              <a:t>inverse</a:t>
            </a:r>
          </a:p>
        </p:txBody>
      </p:sp>
      <p:sp>
        <p:nvSpPr>
          <p:cNvPr id="396487" name="Text Box 199"/>
          <p:cNvSpPr txBox="1">
            <a:spLocks noChangeArrowheads="1"/>
          </p:cNvSpPr>
          <p:nvPr/>
        </p:nvSpPr>
        <p:spPr bwMode="auto">
          <a:xfrm>
            <a:off x="1947863" y="5146675"/>
            <a:ext cx="8620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 b="1">
                <a:sym typeface="Symbol" pitchFamily="18" charset="2"/>
              </a:rPr>
              <a:t> </a:t>
            </a:r>
            <a:r>
              <a:rPr lang="fr-FR" altLang="fr-FR">
                <a:sym typeface="Symbol" pitchFamily="18" charset="2"/>
              </a:rPr>
              <a:t>0,6v</a:t>
            </a:r>
            <a:endParaRPr lang="fr-FR" altLang="fr-FR"/>
          </a:p>
        </p:txBody>
      </p:sp>
      <p:sp>
        <p:nvSpPr>
          <p:cNvPr id="396488" name="Text Box 200"/>
          <p:cNvSpPr txBox="1">
            <a:spLocks noChangeArrowheads="1"/>
          </p:cNvSpPr>
          <p:nvPr/>
        </p:nvSpPr>
        <p:spPr bwMode="auto">
          <a:xfrm>
            <a:off x="5575300" y="4965700"/>
            <a:ext cx="1123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ym typeface="Symbol" pitchFamily="18" charset="2"/>
              </a:rPr>
              <a:t>Plusieurs</a:t>
            </a:r>
          </a:p>
          <a:p>
            <a:pPr algn="ctr">
              <a:spcBef>
                <a:spcPct val="0"/>
              </a:spcBef>
            </a:pPr>
            <a:r>
              <a:rPr lang="fr-FR" altLang="fr-FR">
                <a:sym typeface="Symbol" pitchFamily="18" charset="2"/>
              </a:rPr>
              <a:t>volts</a:t>
            </a:r>
            <a:endParaRPr lang="fr-FR" altLang="fr-FR"/>
          </a:p>
        </p:txBody>
      </p:sp>
      <p:sp>
        <p:nvSpPr>
          <p:cNvPr id="396492" name="Line 204"/>
          <p:cNvSpPr>
            <a:spLocks noChangeShapeType="1"/>
          </p:cNvSpPr>
          <p:nvPr/>
        </p:nvSpPr>
        <p:spPr bwMode="auto">
          <a:xfrm rot="10800000">
            <a:off x="7508875" y="3935413"/>
            <a:ext cx="868363" cy="1587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396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396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396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396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9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9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9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396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FA1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396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396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00" fill="hold"/>
                                        <p:tgtEl>
                                          <p:spTgt spid="396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FFCC"/>
                                      </p:to>
                                    </p:animClr>
                                    <p:set>
                                      <p:cBhvr>
                                        <p:cTn id="46" dur="1000" fill="hold"/>
                                        <p:tgtEl>
                                          <p:spTgt spid="396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396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396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96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487" grpId="0"/>
      <p:bldP spid="396488" grpId="0"/>
      <p:bldP spid="39649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3"/>
          <p:cNvSpPr>
            <a:spLocks noChangeShapeType="1"/>
          </p:cNvSpPr>
          <p:nvPr/>
        </p:nvSpPr>
        <p:spPr bwMode="auto">
          <a:xfrm rot="16200000" flipV="1">
            <a:off x="3078956" y="4968082"/>
            <a:ext cx="2563813" cy="1270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6387" name="Freeform 5"/>
          <p:cNvSpPr>
            <a:spLocks/>
          </p:cNvSpPr>
          <p:nvPr/>
        </p:nvSpPr>
        <p:spPr bwMode="auto">
          <a:xfrm>
            <a:off x="1098550" y="3929063"/>
            <a:ext cx="1016000" cy="2327275"/>
          </a:xfrm>
          <a:custGeom>
            <a:avLst/>
            <a:gdLst>
              <a:gd name="T0" fmla="*/ 1016000 w 640"/>
              <a:gd name="T1" fmla="*/ 0 h 1466"/>
              <a:gd name="T2" fmla="*/ 11113 w 640"/>
              <a:gd name="T3" fmla="*/ 0 h 1466"/>
              <a:gd name="T4" fmla="*/ 0 w 640"/>
              <a:gd name="T5" fmla="*/ 2327275 h 1466"/>
              <a:gd name="T6" fmla="*/ 639763 w 640"/>
              <a:gd name="T7" fmla="*/ 2322513 h 146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40" h="1466">
                <a:moveTo>
                  <a:pt x="640" y="0"/>
                </a:moveTo>
                <a:lnTo>
                  <a:pt x="7" y="0"/>
                </a:lnTo>
                <a:lnTo>
                  <a:pt x="0" y="1466"/>
                </a:lnTo>
                <a:lnTo>
                  <a:pt x="403" y="1463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16388" name="Freeform 161"/>
          <p:cNvSpPr>
            <a:spLocks/>
          </p:cNvSpPr>
          <p:nvPr/>
        </p:nvSpPr>
        <p:spPr bwMode="auto">
          <a:xfrm>
            <a:off x="1346200" y="3221038"/>
            <a:ext cx="2117725" cy="1666875"/>
          </a:xfrm>
          <a:custGeom>
            <a:avLst/>
            <a:gdLst>
              <a:gd name="T0" fmla="*/ 369888 w 1334"/>
              <a:gd name="T1" fmla="*/ 0 h 1050"/>
              <a:gd name="T2" fmla="*/ 2117725 w 1334"/>
              <a:gd name="T3" fmla="*/ 4763 h 1050"/>
              <a:gd name="T4" fmla="*/ 2108200 w 1334"/>
              <a:gd name="T5" fmla="*/ 1660525 h 1050"/>
              <a:gd name="T6" fmla="*/ 0 w 1334"/>
              <a:gd name="T7" fmla="*/ 1666875 h 1050"/>
              <a:gd name="T8" fmla="*/ 133350 w 1334"/>
              <a:gd name="T9" fmla="*/ 1473200 h 1050"/>
              <a:gd name="T10" fmla="*/ 314325 w 1334"/>
              <a:gd name="T11" fmla="*/ 1376363 h 1050"/>
              <a:gd name="T12" fmla="*/ 411163 w 1334"/>
              <a:gd name="T13" fmla="*/ 1243013 h 1050"/>
              <a:gd name="T14" fmla="*/ 384175 w 1334"/>
              <a:gd name="T15" fmla="*/ 1003300 h 1050"/>
              <a:gd name="T16" fmla="*/ 314325 w 1334"/>
              <a:gd name="T17" fmla="*/ 869950 h 1050"/>
              <a:gd name="T18" fmla="*/ 238125 w 1334"/>
              <a:gd name="T19" fmla="*/ 720725 h 1050"/>
              <a:gd name="T20" fmla="*/ 250825 w 1334"/>
              <a:gd name="T21" fmla="*/ 508000 h 1050"/>
              <a:gd name="T22" fmla="*/ 300038 w 1334"/>
              <a:gd name="T23" fmla="*/ 347663 h 1050"/>
              <a:gd name="T24" fmla="*/ 376238 w 1334"/>
              <a:gd name="T25" fmla="*/ 282575 h 1050"/>
              <a:gd name="T26" fmla="*/ 419100 w 1334"/>
              <a:gd name="T27" fmla="*/ 219075 h 1050"/>
              <a:gd name="T28" fmla="*/ 454025 w 1334"/>
              <a:gd name="T29" fmla="*/ 90488 h 1050"/>
              <a:gd name="T30" fmla="*/ 369888 w 1334"/>
              <a:gd name="T31" fmla="*/ 0 h 10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334" h="1050">
                <a:moveTo>
                  <a:pt x="233" y="0"/>
                </a:moveTo>
                <a:lnTo>
                  <a:pt x="1334" y="3"/>
                </a:lnTo>
                <a:lnTo>
                  <a:pt x="1328" y="1046"/>
                </a:lnTo>
                <a:lnTo>
                  <a:pt x="0" y="1050"/>
                </a:lnTo>
                <a:cubicBezTo>
                  <a:pt x="27" y="995"/>
                  <a:pt x="43" y="976"/>
                  <a:pt x="84" y="928"/>
                </a:cubicBezTo>
                <a:cubicBezTo>
                  <a:pt x="86" y="926"/>
                  <a:pt x="191" y="868"/>
                  <a:pt x="198" y="867"/>
                </a:cubicBezTo>
                <a:cubicBezTo>
                  <a:pt x="213" y="853"/>
                  <a:pt x="245" y="789"/>
                  <a:pt x="259" y="783"/>
                </a:cubicBezTo>
                <a:cubicBezTo>
                  <a:pt x="272" y="707"/>
                  <a:pt x="268" y="705"/>
                  <a:pt x="242" y="632"/>
                </a:cubicBezTo>
                <a:cubicBezTo>
                  <a:pt x="237" y="619"/>
                  <a:pt x="204" y="560"/>
                  <a:pt x="198" y="548"/>
                </a:cubicBezTo>
                <a:cubicBezTo>
                  <a:pt x="161" y="502"/>
                  <a:pt x="174" y="507"/>
                  <a:pt x="150" y="454"/>
                </a:cubicBezTo>
                <a:cubicBezTo>
                  <a:pt x="141" y="434"/>
                  <a:pt x="158" y="354"/>
                  <a:pt x="158" y="320"/>
                </a:cubicBezTo>
                <a:cubicBezTo>
                  <a:pt x="182" y="273"/>
                  <a:pt x="162" y="264"/>
                  <a:pt x="189" y="219"/>
                </a:cubicBezTo>
                <a:cubicBezTo>
                  <a:pt x="194" y="211"/>
                  <a:pt x="237" y="178"/>
                  <a:pt x="237" y="178"/>
                </a:cubicBezTo>
                <a:cubicBezTo>
                  <a:pt x="240" y="170"/>
                  <a:pt x="260" y="146"/>
                  <a:pt x="264" y="138"/>
                </a:cubicBezTo>
                <a:cubicBezTo>
                  <a:pt x="269" y="127"/>
                  <a:pt x="291" y="80"/>
                  <a:pt x="286" y="57"/>
                </a:cubicBezTo>
                <a:lnTo>
                  <a:pt x="23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6389" name="Freeform 9"/>
          <p:cNvSpPr>
            <a:spLocks/>
          </p:cNvSpPr>
          <p:nvPr/>
        </p:nvSpPr>
        <p:spPr bwMode="auto">
          <a:xfrm>
            <a:off x="6835775" y="3935413"/>
            <a:ext cx="1570038" cy="2324100"/>
          </a:xfrm>
          <a:custGeom>
            <a:avLst/>
            <a:gdLst>
              <a:gd name="T0" fmla="*/ 558800 w 989"/>
              <a:gd name="T1" fmla="*/ 0 h 1449"/>
              <a:gd name="T2" fmla="*/ 1570038 w 989"/>
              <a:gd name="T3" fmla="*/ 0 h 1449"/>
              <a:gd name="T4" fmla="*/ 1554163 w 989"/>
              <a:gd name="T5" fmla="*/ 2324100 h 1449"/>
              <a:gd name="T6" fmla="*/ 0 w 989"/>
              <a:gd name="T7" fmla="*/ 2319288 h 144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89" h="1449">
                <a:moveTo>
                  <a:pt x="352" y="0"/>
                </a:moveTo>
                <a:lnTo>
                  <a:pt x="989" y="0"/>
                </a:lnTo>
                <a:lnTo>
                  <a:pt x="979" y="1449"/>
                </a:lnTo>
                <a:lnTo>
                  <a:pt x="0" y="1446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16390" name="Rectangle 14"/>
          <p:cNvSpPr>
            <a:spLocks noChangeArrowheads="1"/>
          </p:cNvSpPr>
          <p:nvPr/>
        </p:nvSpPr>
        <p:spPr bwMode="auto">
          <a:xfrm>
            <a:off x="1893888" y="2900363"/>
            <a:ext cx="1085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Emetteur</a:t>
            </a:r>
          </a:p>
        </p:txBody>
      </p:sp>
      <p:grpSp>
        <p:nvGrpSpPr>
          <p:cNvPr id="16391" name="Group 25"/>
          <p:cNvGrpSpPr>
            <a:grpSpLocks/>
          </p:cNvGrpSpPr>
          <p:nvPr/>
        </p:nvGrpSpPr>
        <p:grpSpPr bwMode="auto">
          <a:xfrm>
            <a:off x="2941638" y="3289300"/>
            <a:ext cx="392112" cy="1547813"/>
            <a:chOff x="2121" y="2072"/>
            <a:chExt cx="247" cy="975"/>
          </a:xfrm>
        </p:grpSpPr>
        <p:grpSp>
          <p:nvGrpSpPr>
            <p:cNvPr id="16523" name="Group 26"/>
            <p:cNvGrpSpPr>
              <a:grpSpLocks/>
            </p:cNvGrpSpPr>
            <p:nvPr/>
          </p:nvGrpSpPr>
          <p:grpSpPr bwMode="auto">
            <a:xfrm>
              <a:off x="2121" y="2072"/>
              <a:ext cx="247" cy="288"/>
              <a:chOff x="2277" y="1781"/>
              <a:chExt cx="247" cy="288"/>
            </a:xfrm>
          </p:grpSpPr>
          <p:pic>
            <p:nvPicPr>
              <p:cNvPr id="16530" name="Picture 2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31" name="Text Box 2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524" name="Group 29"/>
            <p:cNvGrpSpPr>
              <a:grpSpLocks/>
            </p:cNvGrpSpPr>
            <p:nvPr/>
          </p:nvGrpSpPr>
          <p:grpSpPr bwMode="auto">
            <a:xfrm>
              <a:off x="2121" y="2415"/>
              <a:ext cx="247" cy="288"/>
              <a:chOff x="2277" y="1781"/>
              <a:chExt cx="247" cy="288"/>
            </a:xfrm>
          </p:grpSpPr>
          <p:pic>
            <p:nvPicPr>
              <p:cNvPr id="16528" name="Picture 3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29" name="Text Box 3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525" name="Group 32"/>
            <p:cNvGrpSpPr>
              <a:grpSpLocks/>
            </p:cNvGrpSpPr>
            <p:nvPr/>
          </p:nvGrpSpPr>
          <p:grpSpPr bwMode="auto">
            <a:xfrm>
              <a:off x="2121" y="2759"/>
              <a:ext cx="247" cy="288"/>
              <a:chOff x="2277" y="1781"/>
              <a:chExt cx="247" cy="288"/>
            </a:xfrm>
          </p:grpSpPr>
          <p:pic>
            <p:nvPicPr>
              <p:cNvPr id="16526" name="Picture 3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27" name="Text Box 3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6392" name="Group 35"/>
          <p:cNvGrpSpPr>
            <a:grpSpLocks/>
          </p:cNvGrpSpPr>
          <p:nvPr/>
        </p:nvGrpSpPr>
        <p:grpSpPr bwMode="auto">
          <a:xfrm>
            <a:off x="2379663" y="3289300"/>
            <a:ext cx="392112" cy="1547813"/>
            <a:chOff x="1782" y="2072"/>
            <a:chExt cx="247" cy="975"/>
          </a:xfrm>
        </p:grpSpPr>
        <p:grpSp>
          <p:nvGrpSpPr>
            <p:cNvPr id="16514" name="Group 36"/>
            <p:cNvGrpSpPr>
              <a:grpSpLocks/>
            </p:cNvGrpSpPr>
            <p:nvPr/>
          </p:nvGrpSpPr>
          <p:grpSpPr bwMode="auto">
            <a:xfrm>
              <a:off x="1782" y="2072"/>
              <a:ext cx="247" cy="288"/>
              <a:chOff x="2277" y="1781"/>
              <a:chExt cx="247" cy="288"/>
            </a:xfrm>
          </p:grpSpPr>
          <p:pic>
            <p:nvPicPr>
              <p:cNvPr id="16521" name="Picture 3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22" name="Text Box 3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515" name="Group 39"/>
            <p:cNvGrpSpPr>
              <a:grpSpLocks/>
            </p:cNvGrpSpPr>
            <p:nvPr/>
          </p:nvGrpSpPr>
          <p:grpSpPr bwMode="auto">
            <a:xfrm>
              <a:off x="1782" y="2415"/>
              <a:ext cx="247" cy="288"/>
              <a:chOff x="2277" y="1781"/>
              <a:chExt cx="247" cy="288"/>
            </a:xfrm>
          </p:grpSpPr>
          <p:pic>
            <p:nvPicPr>
              <p:cNvPr id="16519" name="Picture 4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20" name="Text Box 4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516" name="Group 42"/>
            <p:cNvGrpSpPr>
              <a:grpSpLocks/>
            </p:cNvGrpSpPr>
            <p:nvPr/>
          </p:nvGrpSpPr>
          <p:grpSpPr bwMode="auto">
            <a:xfrm>
              <a:off x="1782" y="2759"/>
              <a:ext cx="247" cy="288"/>
              <a:chOff x="2277" y="1781"/>
              <a:chExt cx="247" cy="288"/>
            </a:xfrm>
          </p:grpSpPr>
          <p:pic>
            <p:nvPicPr>
              <p:cNvPr id="16517" name="Picture 4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18" name="Text Box 4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6393" name="Rectangle 49"/>
          <p:cNvSpPr>
            <a:spLocks noChangeArrowheads="1"/>
          </p:cNvSpPr>
          <p:nvPr/>
        </p:nvSpPr>
        <p:spPr bwMode="auto">
          <a:xfrm>
            <a:off x="3441700" y="3219450"/>
            <a:ext cx="1168400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6394" name="Rectangle 51"/>
          <p:cNvSpPr>
            <a:spLocks noChangeArrowheads="1"/>
          </p:cNvSpPr>
          <p:nvPr/>
        </p:nvSpPr>
        <p:spPr bwMode="auto">
          <a:xfrm>
            <a:off x="4595813" y="3219450"/>
            <a:ext cx="996950" cy="166846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6395" name="Group 52"/>
          <p:cNvGrpSpPr>
            <a:grpSpLocks/>
          </p:cNvGrpSpPr>
          <p:nvPr/>
        </p:nvGrpSpPr>
        <p:grpSpPr bwMode="auto">
          <a:xfrm>
            <a:off x="4041775" y="3289300"/>
            <a:ext cx="411163" cy="1547813"/>
            <a:chOff x="2594" y="2072"/>
            <a:chExt cx="259" cy="975"/>
          </a:xfrm>
        </p:grpSpPr>
        <p:grpSp>
          <p:nvGrpSpPr>
            <p:cNvPr id="16505" name="Group 53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6512" name="Picture 5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13" name="Text Box 5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506" name="Group 56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6510" name="Picture 5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11" name="Text Box 5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507" name="Group 59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6508" name="Picture 6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09" name="Text Box 6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6396" name="Group 62"/>
          <p:cNvGrpSpPr>
            <a:grpSpLocks/>
          </p:cNvGrpSpPr>
          <p:nvPr/>
        </p:nvGrpSpPr>
        <p:grpSpPr bwMode="auto">
          <a:xfrm>
            <a:off x="4386263" y="3259138"/>
            <a:ext cx="112712" cy="1252537"/>
            <a:chOff x="2805" y="2053"/>
            <a:chExt cx="71" cy="789"/>
          </a:xfrm>
        </p:grpSpPr>
        <p:sp>
          <p:nvSpPr>
            <p:cNvPr id="16502" name="Oval 63"/>
            <p:cNvSpPr>
              <a:spLocks noChangeArrowheads="1"/>
            </p:cNvSpPr>
            <p:nvPr/>
          </p:nvSpPr>
          <p:spPr bwMode="auto">
            <a:xfrm>
              <a:off x="2805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503" name="Oval 64"/>
            <p:cNvSpPr>
              <a:spLocks noChangeArrowheads="1"/>
            </p:cNvSpPr>
            <p:nvPr/>
          </p:nvSpPr>
          <p:spPr bwMode="auto">
            <a:xfrm>
              <a:off x="2805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504" name="Oval 65"/>
            <p:cNvSpPr>
              <a:spLocks noChangeArrowheads="1"/>
            </p:cNvSpPr>
            <p:nvPr/>
          </p:nvSpPr>
          <p:spPr bwMode="auto">
            <a:xfrm>
              <a:off x="2805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6397" name="Group 66"/>
          <p:cNvGrpSpPr>
            <a:grpSpLocks/>
          </p:cNvGrpSpPr>
          <p:nvPr/>
        </p:nvGrpSpPr>
        <p:grpSpPr bwMode="auto">
          <a:xfrm>
            <a:off x="5108575" y="3289300"/>
            <a:ext cx="411163" cy="1547813"/>
            <a:chOff x="3142" y="2072"/>
            <a:chExt cx="259" cy="975"/>
          </a:xfrm>
        </p:grpSpPr>
        <p:grpSp>
          <p:nvGrpSpPr>
            <p:cNvPr id="16493" name="Group 67"/>
            <p:cNvGrpSpPr>
              <a:grpSpLocks/>
            </p:cNvGrpSpPr>
            <p:nvPr/>
          </p:nvGrpSpPr>
          <p:grpSpPr bwMode="auto">
            <a:xfrm>
              <a:off x="3142" y="2072"/>
              <a:ext cx="259" cy="288"/>
              <a:chOff x="2675" y="1769"/>
              <a:chExt cx="259" cy="288"/>
            </a:xfrm>
          </p:grpSpPr>
          <p:pic>
            <p:nvPicPr>
              <p:cNvPr id="16500" name="Picture 68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01" name="Text Box 69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494" name="Group 70"/>
            <p:cNvGrpSpPr>
              <a:grpSpLocks/>
            </p:cNvGrpSpPr>
            <p:nvPr/>
          </p:nvGrpSpPr>
          <p:grpSpPr bwMode="auto">
            <a:xfrm>
              <a:off x="3142" y="2415"/>
              <a:ext cx="259" cy="288"/>
              <a:chOff x="2675" y="1769"/>
              <a:chExt cx="259" cy="288"/>
            </a:xfrm>
          </p:grpSpPr>
          <p:pic>
            <p:nvPicPr>
              <p:cNvPr id="16498" name="Picture 7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99" name="Text Box 7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495" name="Group 73"/>
            <p:cNvGrpSpPr>
              <a:grpSpLocks/>
            </p:cNvGrpSpPr>
            <p:nvPr/>
          </p:nvGrpSpPr>
          <p:grpSpPr bwMode="auto">
            <a:xfrm>
              <a:off x="3142" y="2759"/>
              <a:ext cx="259" cy="288"/>
              <a:chOff x="2675" y="1769"/>
              <a:chExt cx="259" cy="288"/>
            </a:xfrm>
          </p:grpSpPr>
          <p:pic>
            <p:nvPicPr>
              <p:cNvPr id="16496" name="Picture 7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97" name="Text Box 7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6398" name="Rectangle 76"/>
          <p:cNvSpPr>
            <a:spLocks noChangeArrowheads="1"/>
          </p:cNvSpPr>
          <p:nvPr/>
        </p:nvSpPr>
        <p:spPr bwMode="auto">
          <a:xfrm>
            <a:off x="5600700" y="3221038"/>
            <a:ext cx="1052513" cy="166687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6399" name="Freeform 78"/>
          <p:cNvSpPr>
            <a:spLocks/>
          </p:cNvSpPr>
          <p:nvPr/>
        </p:nvSpPr>
        <p:spPr bwMode="auto">
          <a:xfrm>
            <a:off x="6654800" y="3219450"/>
            <a:ext cx="1006475" cy="1668463"/>
          </a:xfrm>
          <a:custGeom>
            <a:avLst/>
            <a:gdLst>
              <a:gd name="T0" fmla="*/ 673100 w 634"/>
              <a:gd name="T1" fmla="*/ 0 h 1051"/>
              <a:gd name="T2" fmla="*/ 0 w 634"/>
              <a:gd name="T3" fmla="*/ 6350 h 1051"/>
              <a:gd name="T4" fmla="*/ 0 w 634"/>
              <a:gd name="T5" fmla="*/ 1666875 h 1051"/>
              <a:gd name="T6" fmla="*/ 1006475 w 634"/>
              <a:gd name="T7" fmla="*/ 1668463 h 1051"/>
              <a:gd name="T8" fmla="*/ 887413 w 634"/>
              <a:gd name="T9" fmla="*/ 1474788 h 1051"/>
              <a:gd name="T10" fmla="*/ 723900 w 634"/>
              <a:gd name="T11" fmla="*/ 1377950 h 1051"/>
              <a:gd name="T12" fmla="*/ 636588 w 634"/>
              <a:gd name="T13" fmla="*/ 1243013 h 1051"/>
              <a:gd name="T14" fmla="*/ 661988 w 634"/>
              <a:gd name="T15" fmla="*/ 1004888 h 1051"/>
              <a:gd name="T16" fmla="*/ 723900 w 634"/>
              <a:gd name="T17" fmla="*/ 869950 h 1051"/>
              <a:gd name="T18" fmla="*/ 792163 w 634"/>
              <a:gd name="T19" fmla="*/ 720725 h 1051"/>
              <a:gd name="T20" fmla="*/ 781050 w 634"/>
              <a:gd name="T21" fmla="*/ 509588 h 1051"/>
              <a:gd name="T22" fmla="*/ 736600 w 634"/>
              <a:gd name="T23" fmla="*/ 347663 h 1051"/>
              <a:gd name="T24" fmla="*/ 668338 w 634"/>
              <a:gd name="T25" fmla="*/ 284163 h 1051"/>
              <a:gd name="T26" fmla="*/ 630238 w 634"/>
              <a:gd name="T27" fmla="*/ 219075 h 1051"/>
              <a:gd name="T28" fmla="*/ 598488 w 634"/>
              <a:gd name="T29" fmla="*/ 90488 h 1051"/>
              <a:gd name="T30" fmla="*/ 673100 w 634"/>
              <a:gd name="T31" fmla="*/ 0 h 105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634" h="1051">
                <a:moveTo>
                  <a:pt x="424" y="0"/>
                </a:moveTo>
                <a:lnTo>
                  <a:pt x="0" y="4"/>
                </a:lnTo>
                <a:lnTo>
                  <a:pt x="0" y="1050"/>
                </a:lnTo>
                <a:lnTo>
                  <a:pt x="634" y="1051"/>
                </a:lnTo>
                <a:cubicBezTo>
                  <a:pt x="610" y="996"/>
                  <a:pt x="595" y="977"/>
                  <a:pt x="559" y="929"/>
                </a:cubicBezTo>
                <a:cubicBezTo>
                  <a:pt x="557" y="927"/>
                  <a:pt x="462" y="869"/>
                  <a:pt x="456" y="868"/>
                </a:cubicBezTo>
                <a:cubicBezTo>
                  <a:pt x="443" y="854"/>
                  <a:pt x="414" y="790"/>
                  <a:pt x="401" y="783"/>
                </a:cubicBezTo>
                <a:cubicBezTo>
                  <a:pt x="389" y="708"/>
                  <a:pt x="393" y="705"/>
                  <a:pt x="417" y="633"/>
                </a:cubicBezTo>
                <a:cubicBezTo>
                  <a:pt x="421" y="619"/>
                  <a:pt x="450" y="561"/>
                  <a:pt x="456" y="548"/>
                </a:cubicBezTo>
                <a:cubicBezTo>
                  <a:pt x="489" y="502"/>
                  <a:pt x="478" y="507"/>
                  <a:pt x="499" y="454"/>
                </a:cubicBezTo>
                <a:cubicBezTo>
                  <a:pt x="508" y="435"/>
                  <a:pt x="492" y="354"/>
                  <a:pt x="492" y="321"/>
                </a:cubicBezTo>
                <a:cubicBezTo>
                  <a:pt x="470" y="273"/>
                  <a:pt x="489" y="264"/>
                  <a:pt x="464" y="219"/>
                </a:cubicBezTo>
                <a:cubicBezTo>
                  <a:pt x="459" y="211"/>
                  <a:pt x="421" y="179"/>
                  <a:pt x="421" y="179"/>
                </a:cubicBezTo>
                <a:cubicBezTo>
                  <a:pt x="418" y="170"/>
                  <a:pt x="400" y="146"/>
                  <a:pt x="397" y="138"/>
                </a:cubicBezTo>
                <a:cubicBezTo>
                  <a:pt x="392" y="128"/>
                  <a:pt x="373" y="80"/>
                  <a:pt x="377" y="57"/>
                </a:cubicBezTo>
                <a:lnTo>
                  <a:pt x="424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6400" name="Group 79"/>
          <p:cNvGrpSpPr>
            <a:grpSpLocks/>
          </p:cNvGrpSpPr>
          <p:nvPr/>
        </p:nvGrpSpPr>
        <p:grpSpPr bwMode="auto">
          <a:xfrm>
            <a:off x="1819275" y="3289300"/>
            <a:ext cx="392113" cy="1547813"/>
            <a:chOff x="1473" y="2072"/>
            <a:chExt cx="247" cy="975"/>
          </a:xfrm>
        </p:grpSpPr>
        <p:grpSp>
          <p:nvGrpSpPr>
            <p:cNvPr id="16484" name="Group 80"/>
            <p:cNvGrpSpPr>
              <a:grpSpLocks/>
            </p:cNvGrpSpPr>
            <p:nvPr/>
          </p:nvGrpSpPr>
          <p:grpSpPr bwMode="auto">
            <a:xfrm>
              <a:off x="1473" y="2072"/>
              <a:ext cx="247" cy="288"/>
              <a:chOff x="2277" y="1781"/>
              <a:chExt cx="247" cy="288"/>
            </a:xfrm>
          </p:grpSpPr>
          <p:pic>
            <p:nvPicPr>
              <p:cNvPr id="16491" name="Picture 81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92" name="Text Box 8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85" name="Group 83"/>
            <p:cNvGrpSpPr>
              <a:grpSpLocks/>
            </p:cNvGrpSpPr>
            <p:nvPr/>
          </p:nvGrpSpPr>
          <p:grpSpPr bwMode="auto">
            <a:xfrm>
              <a:off x="1473" y="2415"/>
              <a:ext cx="247" cy="288"/>
              <a:chOff x="2277" y="1781"/>
              <a:chExt cx="247" cy="288"/>
            </a:xfrm>
          </p:grpSpPr>
          <p:pic>
            <p:nvPicPr>
              <p:cNvPr id="16489" name="Picture 84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90" name="Text Box 85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86" name="Group 86"/>
            <p:cNvGrpSpPr>
              <a:grpSpLocks/>
            </p:cNvGrpSpPr>
            <p:nvPr/>
          </p:nvGrpSpPr>
          <p:grpSpPr bwMode="auto">
            <a:xfrm>
              <a:off x="1473" y="2759"/>
              <a:ext cx="247" cy="288"/>
              <a:chOff x="2277" y="1781"/>
              <a:chExt cx="247" cy="288"/>
            </a:xfrm>
          </p:grpSpPr>
          <p:pic>
            <p:nvPicPr>
              <p:cNvPr id="16487" name="Picture 8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88" name="Text Box 8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6401" name="Group 93"/>
          <p:cNvGrpSpPr>
            <a:grpSpLocks/>
          </p:cNvGrpSpPr>
          <p:nvPr/>
        </p:nvGrpSpPr>
        <p:grpSpPr bwMode="auto">
          <a:xfrm>
            <a:off x="5654675" y="3289300"/>
            <a:ext cx="392113" cy="1547813"/>
            <a:chOff x="3406" y="2072"/>
            <a:chExt cx="247" cy="975"/>
          </a:xfrm>
        </p:grpSpPr>
        <p:grpSp>
          <p:nvGrpSpPr>
            <p:cNvPr id="16475" name="Group 94"/>
            <p:cNvGrpSpPr>
              <a:grpSpLocks/>
            </p:cNvGrpSpPr>
            <p:nvPr/>
          </p:nvGrpSpPr>
          <p:grpSpPr bwMode="auto">
            <a:xfrm>
              <a:off x="3406" y="2072"/>
              <a:ext cx="247" cy="288"/>
              <a:chOff x="2277" y="1781"/>
              <a:chExt cx="247" cy="288"/>
            </a:xfrm>
          </p:grpSpPr>
          <p:pic>
            <p:nvPicPr>
              <p:cNvPr id="16482" name="Picture 9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83" name="Text Box 9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76" name="Group 97"/>
            <p:cNvGrpSpPr>
              <a:grpSpLocks/>
            </p:cNvGrpSpPr>
            <p:nvPr/>
          </p:nvGrpSpPr>
          <p:grpSpPr bwMode="auto">
            <a:xfrm>
              <a:off x="3406" y="2415"/>
              <a:ext cx="247" cy="288"/>
              <a:chOff x="2277" y="1781"/>
              <a:chExt cx="247" cy="288"/>
            </a:xfrm>
          </p:grpSpPr>
          <p:pic>
            <p:nvPicPr>
              <p:cNvPr id="16480" name="Picture 98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81" name="Text Box 99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77" name="Group 100"/>
            <p:cNvGrpSpPr>
              <a:grpSpLocks/>
            </p:cNvGrpSpPr>
            <p:nvPr/>
          </p:nvGrpSpPr>
          <p:grpSpPr bwMode="auto">
            <a:xfrm>
              <a:off x="3406" y="2759"/>
              <a:ext cx="247" cy="288"/>
              <a:chOff x="2277" y="1781"/>
              <a:chExt cx="247" cy="288"/>
            </a:xfrm>
          </p:grpSpPr>
          <p:pic>
            <p:nvPicPr>
              <p:cNvPr id="16478" name="Picture 101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79" name="Text Box 10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6402" name="Rectangle 103"/>
          <p:cNvSpPr>
            <a:spLocks noChangeArrowheads="1"/>
          </p:cNvSpPr>
          <p:nvPr/>
        </p:nvSpPr>
        <p:spPr bwMode="auto">
          <a:xfrm>
            <a:off x="4313238" y="2900363"/>
            <a:ext cx="627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16403" name="Rectangle 104"/>
          <p:cNvSpPr>
            <a:spLocks noChangeArrowheads="1"/>
          </p:cNvSpPr>
          <p:nvPr/>
        </p:nvSpPr>
        <p:spPr bwMode="auto">
          <a:xfrm>
            <a:off x="6275388" y="2900363"/>
            <a:ext cx="11509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Collecteur</a:t>
            </a:r>
          </a:p>
        </p:txBody>
      </p:sp>
      <p:grpSp>
        <p:nvGrpSpPr>
          <p:cNvPr id="16404" name="Group 105"/>
          <p:cNvGrpSpPr>
            <a:grpSpLocks/>
          </p:cNvGrpSpPr>
          <p:nvPr/>
        </p:nvGrpSpPr>
        <p:grpSpPr bwMode="auto">
          <a:xfrm>
            <a:off x="6238875" y="3289300"/>
            <a:ext cx="392113" cy="1547813"/>
            <a:chOff x="3760" y="2072"/>
            <a:chExt cx="247" cy="975"/>
          </a:xfrm>
        </p:grpSpPr>
        <p:grpSp>
          <p:nvGrpSpPr>
            <p:cNvPr id="16466" name="Group 106"/>
            <p:cNvGrpSpPr>
              <a:grpSpLocks/>
            </p:cNvGrpSpPr>
            <p:nvPr/>
          </p:nvGrpSpPr>
          <p:grpSpPr bwMode="auto">
            <a:xfrm>
              <a:off x="3760" y="2072"/>
              <a:ext cx="247" cy="288"/>
              <a:chOff x="2277" y="1781"/>
              <a:chExt cx="247" cy="288"/>
            </a:xfrm>
          </p:grpSpPr>
          <p:pic>
            <p:nvPicPr>
              <p:cNvPr id="16473" name="Picture 10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74" name="Text Box 10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67" name="Group 109"/>
            <p:cNvGrpSpPr>
              <a:grpSpLocks/>
            </p:cNvGrpSpPr>
            <p:nvPr/>
          </p:nvGrpSpPr>
          <p:grpSpPr bwMode="auto">
            <a:xfrm>
              <a:off x="3760" y="2415"/>
              <a:ext cx="247" cy="288"/>
              <a:chOff x="2277" y="1781"/>
              <a:chExt cx="247" cy="288"/>
            </a:xfrm>
          </p:grpSpPr>
          <p:pic>
            <p:nvPicPr>
              <p:cNvPr id="16471" name="Picture 11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72" name="Text Box 11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68" name="Group 112"/>
            <p:cNvGrpSpPr>
              <a:grpSpLocks/>
            </p:cNvGrpSpPr>
            <p:nvPr/>
          </p:nvGrpSpPr>
          <p:grpSpPr bwMode="auto">
            <a:xfrm>
              <a:off x="3760" y="2759"/>
              <a:ext cx="247" cy="288"/>
              <a:chOff x="2277" y="1781"/>
              <a:chExt cx="247" cy="288"/>
            </a:xfrm>
          </p:grpSpPr>
          <p:pic>
            <p:nvPicPr>
              <p:cNvPr id="16469" name="Picture 11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70" name="Text Box 11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6405" name="Group 119"/>
          <p:cNvGrpSpPr>
            <a:grpSpLocks/>
          </p:cNvGrpSpPr>
          <p:nvPr/>
        </p:nvGrpSpPr>
        <p:grpSpPr bwMode="auto">
          <a:xfrm>
            <a:off x="6824663" y="3289300"/>
            <a:ext cx="392112" cy="1547813"/>
            <a:chOff x="4077" y="2072"/>
            <a:chExt cx="247" cy="975"/>
          </a:xfrm>
        </p:grpSpPr>
        <p:grpSp>
          <p:nvGrpSpPr>
            <p:cNvPr id="16457" name="Group 120"/>
            <p:cNvGrpSpPr>
              <a:grpSpLocks/>
            </p:cNvGrpSpPr>
            <p:nvPr/>
          </p:nvGrpSpPr>
          <p:grpSpPr bwMode="auto">
            <a:xfrm>
              <a:off x="4077" y="2072"/>
              <a:ext cx="247" cy="288"/>
              <a:chOff x="2277" y="1781"/>
              <a:chExt cx="247" cy="288"/>
            </a:xfrm>
          </p:grpSpPr>
          <p:pic>
            <p:nvPicPr>
              <p:cNvPr id="16464" name="Picture 121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65" name="Text Box 122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58" name="Group 123"/>
            <p:cNvGrpSpPr>
              <a:grpSpLocks/>
            </p:cNvGrpSpPr>
            <p:nvPr/>
          </p:nvGrpSpPr>
          <p:grpSpPr bwMode="auto">
            <a:xfrm>
              <a:off x="4077" y="2415"/>
              <a:ext cx="247" cy="288"/>
              <a:chOff x="2277" y="1781"/>
              <a:chExt cx="247" cy="288"/>
            </a:xfrm>
          </p:grpSpPr>
          <p:pic>
            <p:nvPicPr>
              <p:cNvPr id="16462" name="Picture 124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63" name="Text Box 125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6459" name="Group 126"/>
            <p:cNvGrpSpPr>
              <a:grpSpLocks/>
            </p:cNvGrpSpPr>
            <p:nvPr/>
          </p:nvGrpSpPr>
          <p:grpSpPr bwMode="auto">
            <a:xfrm>
              <a:off x="4077" y="2759"/>
              <a:ext cx="247" cy="288"/>
              <a:chOff x="2277" y="1781"/>
              <a:chExt cx="247" cy="288"/>
            </a:xfrm>
          </p:grpSpPr>
          <p:pic>
            <p:nvPicPr>
              <p:cNvPr id="16460" name="Picture 12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61" name="Text Box 12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6406" name="Group 129"/>
          <p:cNvGrpSpPr>
            <a:grpSpLocks/>
          </p:cNvGrpSpPr>
          <p:nvPr/>
        </p:nvGrpSpPr>
        <p:grpSpPr bwMode="auto">
          <a:xfrm>
            <a:off x="6831013" y="3302000"/>
            <a:ext cx="74612" cy="1144588"/>
            <a:chOff x="4048" y="2080"/>
            <a:chExt cx="47" cy="721"/>
          </a:xfrm>
        </p:grpSpPr>
        <p:sp>
          <p:nvSpPr>
            <p:cNvPr id="16454" name="Oval 130"/>
            <p:cNvSpPr>
              <a:spLocks noChangeArrowheads="1"/>
            </p:cNvSpPr>
            <p:nvPr/>
          </p:nvSpPr>
          <p:spPr bwMode="auto">
            <a:xfrm>
              <a:off x="404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55" name="Oval 131"/>
            <p:cNvSpPr>
              <a:spLocks noChangeArrowheads="1"/>
            </p:cNvSpPr>
            <p:nvPr/>
          </p:nvSpPr>
          <p:spPr bwMode="auto">
            <a:xfrm>
              <a:off x="404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56" name="Oval 132"/>
            <p:cNvSpPr>
              <a:spLocks noChangeArrowheads="1"/>
            </p:cNvSpPr>
            <p:nvPr/>
          </p:nvSpPr>
          <p:spPr bwMode="auto">
            <a:xfrm>
              <a:off x="404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407" name="Rectangle 133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16408" name="Group 142"/>
          <p:cNvGrpSpPr>
            <a:grpSpLocks/>
          </p:cNvGrpSpPr>
          <p:nvPr/>
        </p:nvGrpSpPr>
        <p:grpSpPr bwMode="auto">
          <a:xfrm>
            <a:off x="4592638" y="3289300"/>
            <a:ext cx="411162" cy="1547813"/>
            <a:chOff x="2594" y="2072"/>
            <a:chExt cx="259" cy="975"/>
          </a:xfrm>
        </p:grpSpPr>
        <p:grpSp>
          <p:nvGrpSpPr>
            <p:cNvPr id="16445" name="Group 143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6452" name="Picture 14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53" name="Text Box 14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446" name="Group 146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6450" name="Picture 14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51" name="Text Box 14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447" name="Group 149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6448" name="Picture 15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49" name="Text Box 15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6409" name="Text Box 156"/>
          <p:cNvSpPr txBox="1">
            <a:spLocks noChangeArrowheads="1"/>
          </p:cNvSpPr>
          <p:nvPr/>
        </p:nvSpPr>
        <p:spPr bwMode="auto">
          <a:xfrm>
            <a:off x="1406525" y="717550"/>
            <a:ext cx="3692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Effet transistor</a:t>
            </a:r>
            <a:endParaRPr lang="fr-FR" altLang="fr-FR"/>
          </a:p>
        </p:txBody>
      </p:sp>
      <p:sp>
        <p:nvSpPr>
          <p:cNvPr id="16410" name="Text Box 157"/>
          <p:cNvSpPr txBox="1">
            <a:spLocks noChangeArrowheads="1"/>
          </p:cNvSpPr>
          <p:nvPr/>
        </p:nvSpPr>
        <p:spPr bwMode="auto">
          <a:xfrm>
            <a:off x="1116013" y="1992313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Les </a:t>
            </a:r>
            <a:r>
              <a:rPr lang="fr-FR" altLang="fr-FR" sz="2400">
                <a:solidFill>
                  <a:srgbClr val="FF0000"/>
                </a:solidFill>
              </a:rPr>
              <a:t>électrons</a:t>
            </a:r>
            <a:r>
              <a:rPr lang="fr-FR" altLang="fr-FR" sz="2000"/>
              <a:t> injectés traversent la </a:t>
            </a:r>
            <a:r>
              <a:rPr lang="fr-FR" altLang="fr-FR" sz="2400">
                <a:solidFill>
                  <a:srgbClr val="FF0000"/>
                </a:solidFill>
              </a:rPr>
              <a:t>jonction BC</a:t>
            </a:r>
          </a:p>
        </p:txBody>
      </p:sp>
      <p:sp>
        <p:nvSpPr>
          <p:cNvPr id="16411" name="Line 158"/>
          <p:cNvSpPr>
            <a:spLocks noChangeShapeType="1"/>
          </p:cNvSpPr>
          <p:nvPr/>
        </p:nvSpPr>
        <p:spPr bwMode="auto">
          <a:xfrm rot="10800000">
            <a:off x="7508875" y="3935413"/>
            <a:ext cx="868363" cy="1587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16412" name="Group 15"/>
          <p:cNvGrpSpPr>
            <a:grpSpLocks/>
          </p:cNvGrpSpPr>
          <p:nvPr/>
        </p:nvGrpSpPr>
        <p:grpSpPr bwMode="auto">
          <a:xfrm>
            <a:off x="3465513" y="3289300"/>
            <a:ext cx="411162" cy="1547813"/>
            <a:chOff x="2346" y="2072"/>
            <a:chExt cx="259" cy="975"/>
          </a:xfrm>
        </p:grpSpPr>
        <p:grpSp>
          <p:nvGrpSpPr>
            <p:cNvPr id="16436" name="Group 16"/>
            <p:cNvGrpSpPr>
              <a:grpSpLocks/>
            </p:cNvGrpSpPr>
            <p:nvPr/>
          </p:nvGrpSpPr>
          <p:grpSpPr bwMode="auto">
            <a:xfrm>
              <a:off x="2346" y="2072"/>
              <a:ext cx="259" cy="288"/>
              <a:chOff x="2675" y="1769"/>
              <a:chExt cx="259" cy="288"/>
            </a:xfrm>
          </p:grpSpPr>
          <p:pic>
            <p:nvPicPr>
              <p:cNvPr id="16443" name="Picture 1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44" name="Text Box 1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437" name="Group 19"/>
            <p:cNvGrpSpPr>
              <a:grpSpLocks/>
            </p:cNvGrpSpPr>
            <p:nvPr/>
          </p:nvGrpSpPr>
          <p:grpSpPr bwMode="auto">
            <a:xfrm>
              <a:off x="2346" y="2415"/>
              <a:ext cx="259" cy="288"/>
              <a:chOff x="2675" y="1769"/>
              <a:chExt cx="259" cy="288"/>
            </a:xfrm>
          </p:grpSpPr>
          <p:pic>
            <p:nvPicPr>
              <p:cNvPr id="16441" name="Picture 2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42" name="Text Box 2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6438" name="Group 22"/>
            <p:cNvGrpSpPr>
              <a:grpSpLocks/>
            </p:cNvGrpSpPr>
            <p:nvPr/>
          </p:nvGrpSpPr>
          <p:grpSpPr bwMode="auto">
            <a:xfrm>
              <a:off x="2346" y="2759"/>
              <a:ext cx="259" cy="288"/>
              <a:chOff x="2675" y="1769"/>
              <a:chExt cx="259" cy="288"/>
            </a:xfrm>
          </p:grpSpPr>
          <p:pic>
            <p:nvPicPr>
              <p:cNvPr id="16439" name="Picture 23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440" name="Text Box 24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6413" name="Group 138"/>
          <p:cNvGrpSpPr>
            <a:grpSpLocks/>
          </p:cNvGrpSpPr>
          <p:nvPr/>
        </p:nvGrpSpPr>
        <p:grpSpPr bwMode="auto">
          <a:xfrm>
            <a:off x="3773488" y="3259138"/>
            <a:ext cx="112712" cy="1252537"/>
            <a:chOff x="3063" y="2053"/>
            <a:chExt cx="71" cy="789"/>
          </a:xfrm>
        </p:grpSpPr>
        <p:sp>
          <p:nvSpPr>
            <p:cNvPr id="16433" name="Oval 139"/>
            <p:cNvSpPr>
              <a:spLocks noChangeArrowheads="1"/>
            </p:cNvSpPr>
            <p:nvPr/>
          </p:nvSpPr>
          <p:spPr bwMode="auto">
            <a:xfrm>
              <a:off x="3063" y="2411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34" name="Oval 140"/>
            <p:cNvSpPr>
              <a:spLocks noChangeArrowheads="1"/>
            </p:cNvSpPr>
            <p:nvPr/>
          </p:nvSpPr>
          <p:spPr bwMode="auto">
            <a:xfrm>
              <a:off x="3063" y="2772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435" name="Oval 141"/>
            <p:cNvSpPr>
              <a:spLocks noChangeArrowheads="1"/>
            </p:cNvSpPr>
            <p:nvPr/>
          </p:nvSpPr>
          <p:spPr bwMode="auto">
            <a:xfrm>
              <a:off x="3063" y="2053"/>
              <a:ext cx="71" cy="7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414" name="Line 175"/>
          <p:cNvSpPr>
            <a:spLocks noChangeShapeType="1"/>
          </p:cNvSpPr>
          <p:nvPr/>
        </p:nvSpPr>
        <p:spPr bwMode="auto">
          <a:xfrm flipV="1">
            <a:off x="3057525" y="6254750"/>
            <a:ext cx="1314450" cy="1588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16415" name="Picture 177" descr="vpol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7825" y="5659438"/>
            <a:ext cx="151447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16" name="Line 179"/>
          <p:cNvSpPr>
            <a:spLocks noChangeShapeType="1"/>
          </p:cNvSpPr>
          <p:nvPr/>
        </p:nvSpPr>
        <p:spPr bwMode="auto">
          <a:xfrm flipV="1">
            <a:off x="4037013" y="6254750"/>
            <a:ext cx="1466850" cy="1588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16417" name="Picture 181" descr="vpol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22900" y="5659438"/>
            <a:ext cx="151447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7358" name="Oval 46"/>
          <p:cNvSpPr>
            <a:spLocks noChangeArrowheads="1"/>
          </p:cNvSpPr>
          <p:nvPr/>
        </p:nvSpPr>
        <p:spPr bwMode="auto">
          <a:xfrm>
            <a:off x="2711450" y="33020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359" name="Oval 47"/>
          <p:cNvSpPr>
            <a:spLocks noChangeArrowheads="1"/>
          </p:cNvSpPr>
          <p:nvPr/>
        </p:nvSpPr>
        <p:spPr bwMode="auto">
          <a:xfrm>
            <a:off x="2711450" y="38369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360" name="Oval 48"/>
          <p:cNvSpPr>
            <a:spLocks noChangeArrowheads="1"/>
          </p:cNvSpPr>
          <p:nvPr/>
        </p:nvSpPr>
        <p:spPr bwMode="auto">
          <a:xfrm>
            <a:off x="2711450" y="4371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402" name="Oval 90"/>
          <p:cNvSpPr>
            <a:spLocks noChangeArrowheads="1"/>
          </p:cNvSpPr>
          <p:nvPr/>
        </p:nvSpPr>
        <p:spPr bwMode="auto">
          <a:xfrm>
            <a:off x="2135188" y="330200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403" name="Oval 91"/>
          <p:cNvSpPr>
            <a:spLocks noChangeArrowheads="1"/>
          </p:cNvSpPr>
          <p:nvPr/>
        </p:nvSpPr>
        <p:spPr bwMode="auto">
          <a:xfrm>
            <a:off x="2135188" y="383698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404" name="Oval 92"/>
          <p:cNvSpPr>
            <a:spLocks noChangeArrowheads="1"/>
          </p:cNvSpPr>
          <p:nvPr/>
        </p:nvSpPr>
        <p:spPr bwMode="auto">
          <a:xfrm>
            <a:off x="2135188" y="43719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447" name="Oval 135"/>
          <p:cNvSpPr>
            <a:spLocks noChangeArrowheads="1"/>
          </p:cNvSpPr>
          <p:nvPr/>
        </p:nvSpPr>
        <p:spPr bwMode="auto">
          <a:xfrm>
            <a:off x="3251200" y="33020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449" name="Oval 137"/>
          <p:cNvSpPr>
            <a:spLocks noChangeArrowheads="1"/>
          </p:cNvSpPr>
          <p:nvPr/>
        </p:nvSpPr>
        <p:spPr bwMode="auto">
          <a:xfrm>
            <a:off x="3251200" y="4371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7448" name="Oval 136"/>
          <p:cNvSpPr>
            <a:spLocks noChangeArrowheads="1"/>
          </p:cNvSpPr>
          <p:nvPr/>
        </p:nvSpPr>
        <p:spPr bwMode="auto">
          <a:xfrm>
            <a:off x="3251200" y="38369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97499" name="Group 187"/>
          <p:cNvGrpSpPr>
            <a:grpSpLocks/>
          </p:cNvGrpSpPr>
          <p:nvPr/>
        </p:nvGrpSpPr>
        <p:grpSpPr bwMode="auto">
          <a:xfrm>
            <a:off x="7824788" y="4913313"/>
            <a:ext cx="719137" cy="719137"/>
            <a:chOff x="4929" y="3060"/>
            <a:chExt cx="453" cy="453"/>
          </a:xfrm>
        </p:grpSpPr>
        <p:sp>
          <p:nvSpPr>
            <p:cNvPr id="16431" name="AutoShape 183"/>
            <p:cNvSpPr>
              <a:spLocks noChangeArrowheads="1"/>
            </p:cNvSpPr>
            <p:nvPr/>
          </p:nvSpPr>
          <p:spPr bwMode="auto">
            <a:xfrm rot="10800000">
              <a:off x="5203" y="3060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6432" name="Text Box 184"/>
            <p:cNvSpPr txBox="1">
              <a:spLocks noChangeArrowheads="1"/>
            </p:cNvSpPr>
            <p:nvPr/>
          </p:nvSpPr>
          <p:spPr bwMode="auto">
            <a:xfrm>
              <a:off x="4929" y="3143"/>
              <a:ext cx="408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/>
                <a:t>Ic</a:t>
              </a:r>
            </a:p>
          </p:txBody>
        </p:sp>
      </p:grpSp>
      <p:grpSp>
        <p:nvGrpSpPr>
          <p:cNvPr id="397498" name="Group 186"/>
          <p:cNvGrpSpPr>
            <a:grpSpLocks/>
          </p:cNvGrpSpPr>
          <p:nvPr/>
        </p:nvGrpSpPr>
        <p:grpSpPr bwMode="auto">
          <a:xfrm>
            <a:off x="957263" y="4913313"/>
            <a:ext cx="960437" cy="719137"/>
            <a:chOff x="603" y="3130"/>
            <a:chExt cx="605" cy="453"/>
          </a:xfrm>
        </p:grpSpPr>
        <p:sp>
          <p:nvSpPr>
            <p:cNvPr id="16429" name="AutoShape 182"/>
            <p:cNvSpPr>
              <a:spLocks noChangeArrowheads="1"/>
            </p:cNvSpPr>
            <p:nvPr/>
          </p:nvSpPr>
          <p:spPr bwMode="auto">
            <a:xfrm>
              <a:off x="603" y="3130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6430" name="Text Box 185"/>
            <p:cNvSpPr txBox="1">
              <a:spLocks noChangeArrowheads="1"/>
            </p:cNvSpPr>
            <p:nvPr/>
          </p:nvSpPr>
          <p:spPr bwMode="auto">
            <a:xfrm>
              <a:off x="780" y="3213"/>
              <a:ext cx="428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/>
                <a:t>Ie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98262E-7 L 0.45243 0.00649 L 0.55903 0.00649 L 0.55712 0.34577 L -0.23941 0.34137 L -0.23611 0.00649 L 8.33333E-7 -4.98262E-7 Z " pathEditMode="relative" ptsTypes="AAAAAAA">
                                      <p:cBhvr>
                                        <p:cTn id="6" dur="5000" fill="hold"/>
                                        <p:tgtEl>
                                          <p:spTgt spid="397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05556E-6 -5.24913E-6 L 0.46077 0.08528 L 0.56077 0.08968 L 0.55886 0.42456 L -0.23767 0.42224 L -0.23767 0.08528 L -0.18351 0.08319 L -3.05556E-6 -5.24913E-6 Z " pathEditMode="relative" ptsTypes="AAAAAAAA">
                                      <p:cBhvr>
                                        <p:cTn id="8" dur="5000" fill="hold"/>
                                        <p:tgtEl>
                                          <p:spTgt spid="397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8.33333E-7 -5.74739E-6 L 0.45729 -0.07231 L 0.55903 -0.07231 L 0.55712 0.26906 L -0.23941 0.26465 L -0.23611 -0.07231 L -0.18698 -0.07231 L 8.33333E-7 -5.74739E-6 Z " pathEditMode="relative" ptsTypes="AAAAAAAA">
                                      <p:cBhvr>
                                        <p:cTn id="10" dur="5000" fill="hold"/>
                                        <p:tgtEl>
                                          <p:spTgt spid="397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66667E-6 -4.98262E-7 L 0.6165 0.00857 L 0.6165 0.34345 L -0.18194 0.34345 L -0.18021 0.00857 L -1.66667E-6 -4.98262E-7 Z " pathEditMode="relative" ptsTypes="AAAAAA">
                                      <p:cBhvr>
                                        <p:cTn id="15" dur="5000" fill="hold"/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66667E-6 -5.24913E-6 L 0.50504 0.08528 L 0.61806 0.08528 L 0.61476 0.42456 L -0.18194 0.42224 L -0.17864 0.08528 L -0.11632 0.08528 L -1.66667E-6 -5.24913E-6 Z " pathEditMode="relative" ptsTypes="AAAAAAAA">
                                      <p:cBhvr>
                                        <p:cTn id="17" dur="5000" fill="hold"/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repeatCount="indefinite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8.33333E-7 -1.49479E-6 L 0.50156 -0.07439 L 0.61806 -0.07439 L 0.61319 0.26489 L -0.17865 0.26257 L -0.17708 -0.07439 L -0.11319 -0.07879 L 8.33333E-7 -1.49479E-6 Z " pathEditMode="relative" ptsTypes="AAAAAAAA">
                                      <p:cBhvr>
                                        <p:cTn id="19" dur="5000" fill="hold"/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repeatCount="indefinite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1.11111E-6 -3.00116E-6 L 0.68351 0.00881 L 0.68021 0.34577 L -0.11805 0.34809 L -0.11319 0.01089 L -1.11111E-6 -3.00116E-6 Z " pathEditMode="relative" ptsTypes="AAAAAA">
                                      <p:cBhvr>
                                        <p:cTn id="21" dur="5000" fill="hold"/>
                                        <p:tgtEl>
                                          <p:spTgt spid="397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repeatCount="indefinite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1.11111E-6 -5.74739E-6 L 0.55903 -0.07231 L 0.68351 -0.07231 L 0.68021 0.26257 L -0.11805 0.26697 L -0.11476 -0.07231 L -0.04271 -0.07671 L -1.11111E-6 -5.74739E-6 Z " pathEditMode="relative" ptsTypes="AAAAAAAA">
                                      <p:cBhvr>
                                        <p:cTn id="23" dur="5000" fill="hold"/>
                                        <p:tgtEl>
                                          <p:spTgt spid="3974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 3.59212E-7 L 0.54601 0.08111 L 0.67865 0.0832 L 0.67882 0.42526 L -0.11806 0.42248 L -0.11632 0.0832 L -0.05243 0.08111 L 0.0 3.59212E-7 Z " pathEditMode="relative" rAng="0" ptsTypes="AAAAAAAA">
                                      <p:cBhvr>
                                        <p:cTn id="28" dur="5000" fill="hold"/>
                                        <p:tgtEl>
                                          <p:spTgt spid="3974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" y="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58" grpId="0" animBg="1"/>
      <p:bldP spid="397359" grpId="0" animBg="1"/>
      <p:bldP spid="397360" grpId="0" animBg="1"/>
      <p:bldP spid="397402" grpId="0" animBg="1"/>
      <p:bldP spid="397403" grpId="0" animBg="1"/>
      <p:bldP spid="397404" grpId="0" animBg="1"/>
      <p:bldP spid="397447" grpId="0" animBg="1"/>
      <p:bldP spid="397449" grpId="0" animBg="1"/>
      <p:bldP spid="39744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>
            <a:spLocks noChangeShapeType="1"/>
          </p:cNvSpPr>
          <p:nvPr/>
        </p:nvSpPr>
        <p:spPr bwMode="auto">
          <a:xfrm rot="16200000" flipV="1">
            <a:off x="3078956" y="4968082"/>
            <a:ext cx="2563813" cy="1270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7411" name="Freeform 3"/>
          <p:cNvSpPr>
            <a:spLocks/>
          </p:cNvSpPr>
          <p:nvPr/>
        </p:nvSpPr>
        <p:spPr bwMode="auto">
          <a:xfrm>
            <a:off x="1098550" y="3929063"/>
            <a:ext cx="1016000" cy="2327275"/>
          </a:xfrm>
          <a:custGeom>
            <a:avLst/>
            <a:gdLst>
              <a:gd name="T0" fmla="*/ 1016000 w 640"/>
              <a:gd name="T1" fmla="*/ 0 h 1466"/>
              <a:gd name="T2" fmla="*/ 11113 w 640"/>
              <a:gd name="T3" fmla="*/ 0 h 1466"/>
              <a:gd name="T4" fmla="*/ 0 w 640"/>
              <a:gd name="T5" fmla="*/ 2327275 h 1466"/>
              <a:gd name="T6" fmla="*/ 639763 w 640"/>
              <a:gd name="T7" fmla="*/ 2322513 h 146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40" h="1466">
                <a:moveTo>
                  <a:pt x="640" y="0"/>
                </a:moveTo>
                <a:lnTo>
                  <a:pt x="7" y="0"/>
                </a:lnTo>
                <a:lnTo>
                  <a:pt x="0" y="1466"/>
                </a:lnTo>
                <a:lnTo>
                  <a:pt x="403" y="1463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17412" name="Freeform 4"/>
          <p:cNvSpPr>
            <a:spLocks/>
          </p:cNvSpPr>
          <p:nvPr/>
        </p:nvSpPr>
        <p:spPr bwMode="auto">
          <a:xfrm>
            <a:off x="1346200" y="3221038"/>
            <a:ext cx="2117725" cy="1666875"/>
          </a:xfrm>
          <a:custGeom>
            <a:avLst/>
            <a:gdLst>
              <a:gd name="T0" fmla="*/ 369888 w 1334"/>
              <a:gd name="T1" fmla="*/ 0 h 1050"/>
              <a:gd name="T2" fmla="*/ 2117725 w 1334"/>
              <a:gd name="T3" fmla="*/ 4763 h 1050"/>
              <a:gd name="T4" fmla="*/ 2108200 w 1334"/>
              <a:gd name="T5" fmla="*/ 1660525 h 1050"/>
              <a:gd name="T6" fmla="*/ 0 w 1334"/>
              <a:gd name="T7" fmla="*/ 1666875 h 1050"/>
              <a:gd name="T8" fmla="*/ 133350 w 1334"/>
              <a:gd name="T9" fmla="*/ 1473200 h 1050"/>
              <a:gd name="T10" fmla="*/ 314325 w 1334"/>
              <a:gd name="T11" fmla="*/ 1376363 h 1050"/>
              <a:gd name="T12" fmla="*/ 411163 w 1334"/>
              <a:gd name="T13" fmla="*/ 1243013 h 1050"/>
              <a:gd name="T14" fmla="*/ 384175 w 1334"/>
              <a:gd name="T15" fmla="*/ 1003300 h 1050"/>
              <a:gd name="T16" fmla="*/ 314325 w 1334"/>
              <a:gd name="T17" fmla="*/ 869950 h 1050"/>
              <a:gd name="T18" fmla="*/ 238125 w 1334"/>
              <a:gd name="T19" fmla="*/ 720725 h 1050"/>
              <a:gd name="T20" fmla="*/ 250825 w 1334"/>
              <a:gd name="T21" fmla="*/ 508000 h 1050"/>
              <a:gd name="T22" fmla="*/ 300038 w 1334"/>
              <a:gd name="T23" fmla="*/ 347663 h 1050"/>
              <a:gd name="T24" fmla="*/ 376238 w 1334"/>
              <a:gd name="T25" fmla="*/ 282575 h 1050"/>
              <a:gd name="T26" fmla="*/ 419100 w 1334"/>
              <a:gd name="T27" fmla="*/ 219075 h 1050"/>
              <a:gd name="T28" fmla="*/ 454025 w 1334"/>
              <a:gd name="T29" fmla="*/ 90488 h 1050"/>
              <a:gd name="T30" fmla="*/ 369888 w 1334"/>
              <a:gd name="T31" fmla="*/ 0 h 10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334" h="1050">
                <a:moveTo>
                  <a:pt x="233" y="0"/>
                </a:moveTo>
                <a:lnTo>
                  <a:pt x="1334" y="3"/>
                </a:lnTo>
                <a:lnTo>
                  <a:pt x="1328" y="1046"/>
                </a:lnTo>
                <a:lnTo>
                  <a:pt x="0" y="1050"/>
                </a:lnTo>
                <a:cubicBezTo>
                  <a:pt x="27" y="995"/>
                  <a:pt x="43" y="976"/>
                  <a:pt x="84" y="928"/>
                </a:cubicBezTo>
                <a:cubicBezTo>
                  <a:pt x="86" y="926"/>
                  <a:pt x="191" y="868"/>
                  <a:pt x="198" y="867"/>
                </a:cubicBezTo>
                <a:cubicBezTo>
                  <a:pt x="213" y="853"/>
                  <a:pt x="245" y="789"/>
                  <a:pt x="259" y="783"/>
                </a:cubicBezTo>
                <a:cubicBezTo>
                  <a:pt x="272" y="707"/>
                  <a:pt x="268" y="705"/>
                  <a:pt x="242" y="632"/>
                </a:cubicBezTo>
                <a:cubicBezTo>
                  <a:pt x="237" y="619"/>
                  <a:pt x="204" y="560"/>
                  <a:pt x="198" y="548"/>
                </a:cubicBezTo>
                <a:cubicBezTo>
                  <a:pt x="161" y="502"/>
                  <a:pt x="174" y="507"/>
                  <a:pt x="150" y="454"/>
                </a:cubicBezTo>
                <a:cubicBezTo>
                  <a:pt x="141" y="434"/>
                  <a:pt x="158" y="354"/>
                  <a:pt x="158" y="320"/>
                </a:cubicBezTo>
                <a:cubicBezTo>
                  <a:pt x="182" y="273"/>
                  <a:pt x="162" y="264"/>
                  <a:pt x="189" y="219"/>
                </a:cubicBezTo>
                <a:cubicBezTo>
                  <a:pt x="194" y="211"/>
                  <a:pt x="237" y="178"/>
                  <a:pt x="237" y="178"/>
                </a:cubicBezTo>
                <a:cubicBezTo>
                  <a:pt x="240" y="170"/>
                  <a:pt x="260" y="146"/>
                  <a:pt x="264" y="138"/>
                </a:cubicBezTo>
                <a:cubicBezTo>
                  <a:pt x="269" y="127"/>
                  <a:pt x="291" y="80"/>
                  <a:pt x="286" y="57"/>
                </a:cubicBezTo>
                <a:lnTo>
                  <a:pt x="23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7413" name="Freeform 5"/>
          <p:cNvSpPr>
            <a:spLocks/>
          </p:cNvSpPr>
          <p:nvPr/>
        </p:nvSpPr>
        <p:spPr bwMode="auto">
          <a:xfrm>
            <a:off x="6835775" y="3935413"/>
            <a:ext cx="1570038" cy="2324100"/>
          </a:xfrm>
          <a:custGeom>
            <a:avLst/>
            <a:gdLst>
              <a:gd name="T0" fmla="*/ 558800 w 989"/>
              <a:gd name="T1" fmla="*/ 0 h 1449"/>
              <a:gd name="T2" fmla="*/ 1570038 w 989"/>
              <a:gd name="T3" fmla="*/ 0 h 1449"/>
              <a:gd name="T4" fmla="*/ 1554163 w 989"/>
              <a:gd name="T5" fmla="*/ 2324100 h 1449"/>
              <a:gd name="T6" fmla="*/ 0 w 989"/>
              <a:gd name="T7" fmla="*/ 2319288 h 144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89" h="1449">
                <a:moveTo>
                  <a:pt x="352" y="0"/>
                </a:moveTo>
                <a:lnTo>
                  <a:pt x="989" y="0"/>
                </a:lnTo>
                <a:lnTo>
                  <a:pt x="979" y="1449"/>
                </a:lnTo>
                <a:lnTo>
                  <a:pt x="0" y="1446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893888" y="2900363"/>
            <a:ext cx="1085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Emetteur</a:t>
            </a:r>
          </a:p>
        </p:txBody>
      </p:sp>
      <p:grpSp>
        <p:nvGrpSpPr>
          <p:cNvPr id="17415" name="Group 7"/>
          <p:cNvGrpSpPr>
            <a:grpSpLocks/>
          </p:cNvGrpSpPr>
          <p:nvPr/>
        </p:nvGrpSpPr>
        <p:grpSpPr bwMode="auto">
          <a:xfrm>
            <a:off x="2941638" y="3289300"/>
            <a:ext cx="392112" cy="1547813"/>
            <a:chOff x="2121" y="2072"/>
            <a:chExt cx="247" cy="975"/>
          </a:xfrm>
        </p:grpSpPr>
        <p:grpSp>
          <p:nvGrpSpPr>
            <p:cNvPr id="17545" name="Group 8"/>
            <p:cNvGrpSpPr>
              <a:grpSpLocks/>
            </p:cNvGrpSpPr>
            <p:nvPr/>
          </p:nvGrpSpPr>
          <p:grpSpPr bwMode="auto">
            <a:xfrm>
              <a:off x="2121" y="2072"/>
              <a:ext cx="247" cy="288"/>
              <a:chOff x="2277" y="1781"/>
              <a:chExt cx="247" cy="288"/>
            </a:xfrm>
          </p:grpSpPr>
          <p:pic>
            <p:nvPicPr>
              <p:cNvPr id="17552" name="Picture 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53" name="Text Box 1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46" name="Group 11"/>
            <p:cNvGrpSpPr>
              <a:grpSpLocks/>
            </p:cNvGrpSpPr>
            <p:nvPr/>
          </p:nvGrpSpPr>
          <p:grpSpPr bwMode="auto">
            <a:xfrm>
              <a:off x="2121" y="2415"/>
              <a:ext cx="247" cy="288"/>
              <a:chOff x="2277" y="1781"/>
              <a:chExt cx="247" cy="288"/>
            </a:xfrm>
          </p:grpSpPr>
          <p:pic>
            <p:nvPicPr>
              <p:cNvPr id="17550" name="Picture 1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51" name="Text Box 1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47" name="Group 14"/>
            <p:cNvGrpSpPr>
              <a:grpSpLocks/>
            </p:cNvGrpSpPr>
            <p:nvPr/>
          </p:nvGrpSpPr>
          <p:grpSpPr bwMode="auto">
            <a:xfrm>
              <a:off x="2121" y="2759"/>
              <a:ext cx="247" cy="288"/>
              <a:chOff x="2277" y="1781"/>
              <a:chExt cx="247" cy="288"/>
            </a:xfrm>
          </p:grpSpPr>
          <p:pic>
            <p:nvPicPr>
              <p:cNvPr id="17548" name="Picture 1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49" name="Text Box 1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7416" name="Group 17"/>
          <p:cNvGrpSpPr>
            <a:grpSpLocks/>
          </p:cNvGrpSpPr>
          <p:nvPr/>
        </p:nvGrpSpPr>
        <p:grpSpPr bwMode="auto">
          <a:xfrm>
            <a:off x="2379663" y="3289300"/>
            <a:ext cx="392112" cy="1547813"/>
            <a:chOff x="1782" y="2072"/>
            <a:chExt cx="247" cy="975"/>
          </a:xfrm>
        </p:grpSpPr>
        <p:grpSp>
          <p:nvGrpSpPr>
            <p:cNvPr id="17536" name="Group 18"/>
            <p:cNvGrpSpPr>
              <a:grpSpLocks/>
            </p:cNvGrpSpPr>
            <p:nvPr/>
          </p:nvGrpSpPr>
          <p:grpSpPr bwMode="auto">
            <a:xfrm>
              <a:off x="1782" y="2072"/>
              <a:ext cx="247" cy="288"/>
              <a:chOff x="2277" y="1781"/>
              <a:chExt cx="247" cy="288"/>
            </a:xfrm>
          </p:grpSpPr>
          <p:pic>
            <p:nvPicPr>
              <p:cNvPr id="17543" name="Picture 1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44" name="Text Box 2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37" name="Group 21"/>
            <p:cNvGrpSpPr>
              <a:grpSpLocks/>
            </p:cNvGrpSpPr>
            <p:nvPr/>
          </p:nvGrpSpPr>
          <p:grpSpPr bwMode="auto">
            <a:xfrm>
              <a:off x="1782" y="2415"/>
              <a:ext cx="247" cy="288"/>
              <a:chOff x="2277" y="1781"/>
              <a:chExt cx="247" cy="288"/>
            </a:xfrm>
          </p:grpSpPr>
          <p:pic>
            <p:nvPicPr>
              <p:cNvPr id="17541" name="Picture 2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42" name="Text Box 2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38" name="Group 24"/>
            <p:cNvGrpSpPr>
              <a:grpSpLocks/>
            </p:cNvGrpSpPr>
            <p:nvPr/>
          </p:nvGrpSpPr>
          <p:grpSpPr bwMode="auto">
            <a:xfrm>
              <a:off x="1782" y="2759"/>
              <a:ext cx="247" cy="288"/>
              <a:chOff x="2277" y="1781"/>
              <a:chExt cx="247" cy="288"/>
            </a:xfrm>
          </p:grpSpPr>
          <p:pic>
            <p:nvPicPr>
              <p:cNvPr id="17539" name="Picture 2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40" name="Text Box 2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7417" name="Rectangle 27"/>
          <p:cNvSpPr>
            <a:spLocks noChangeArrowheads="1"/>
          </p:cNvSpPr>
          <p:nvPr/>
        </p:nvSpPr>
        <p:spPr bwMode="auto">
          <a:xfrm>
            <a:off x="3441700" y="3219450"/>
            <a:ext cx="1168400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7418" name="Rectangle 28"/>
          <p:cNvSpPr>
            <a:spLocks noChangeArrowheads="1"/>
          </p:cNvSpPr>
          <p:nvPr/>
        </p:nvSpPr>
        <p:spPr bwMode="auto">
          <a:xfrm>
            <a:off x="4595813" y="3219450"/>
            <a:ext cx="996950" cy="166846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7419" name="Group 29"/>
          <p:cNvGrpSpPr>
            <a:grpSpLocks/>
          </p:cNvGrpSpPr>
          <p:nvPr/>
        </p:nvGrpSpPr>
        <p:grpSpPr bwMode="auto">
          <a:xfrm>
            <a:off x="4041775" y="3289300"/>
            <a:ext cx="411163" cy="1547813"/>
            <a:chOff x="2594" y="2072"/>
            <a:chExt cx="259" cy="975"/>
          </a:xfrm>
        </p:grpSpPr>
        <p:grpSp>
          <p:nvGrpSpPr>
            <p:cNvPr id="17527" name="Group 30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7534" name="Picture 3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35" name="Text Box 3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528" name="Group 33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7532" name="Picture 3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33" name="Text Box 3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529" name="Group 36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7530" name="Picture 3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31" name="Text Box 3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7420" name="Oval 40"/>
          <p:cNvSpPr>
            <a:spLocks noChangeArrowheads="1"/>
          </p:cNvSpPr>
          <p:nvPr/>
        </p:nvSpPr>
        <p:spPr bwMode="auto">
          <a:xfrm>
            <a:off x="4386263" y="3827463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01" name="Oval 41"/>
          <p:cNvSpPr>
            <a:spLocks noChangeArrowheads="1"/>
          </p:cNvSpPr>
          <p:nvPr/>
        </p:nvSpPr>
        <p:spPr bwMode="auto">
          <a:xfrm>
            <a:off x="4386263" y="44005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22" name="Oval 42"/>
          <p:cNvSpPr>
            <a:spLocks noChangeArrowheads="1"/>
          </p:cNvSpPr>
          <p:nvPr/>
        </p:nvSpPr>
        <p:spPr bwMode="auto">
          <a:xfrm>
            <a:off x="4386263" y="32591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7423" name="Group 43"/>
          <p:cNvGrpSpPr>
            <a:grpSpLocks/>
          </p:cNvGrpSpPr>
          <p:nvPr/>
        </p:nvGrpSpPr>
        <p:grpSpPr bwMode="auto">
          <a:xfrm>
            <a:off x="5108575" y="3289300"/>
            <a:ext cx="411163" cy="1547813"/>
            <a:chOff x="3142" y="2072"/>
            <a:chExt cx="259" cy="975"/>
          </a:xfrm>
        </p:grpSpPr>
        <p:grpSp>
          <p:nvGrpSpPr>
            <p:cNvPr id="17518" name="Group 44"/>
            <p:cNvGrpSpPr>
              <a:grpSpLocks/>
            </p:cNvGrpSpPr>
            <p:nvPr/>
          </p:nvGrpSpPr>
          <p:grpSpPr bwMode="auto">
            <a:xfrm>
              <a:off x="3142" y="2072"/>
              <a:ext cx="259" cy="288"/>
              <a:chOff x="2675" y="1769"/>
              <a:chExt cx="259" cy="288"/>
            </a:xfrm>
          </p:grpSpPr>
          <p:pic>
            <p:nvPicPr>
              <p:cNvPr id="17525" name="Picture 45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26" name="Text Box 46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519" name="Group 47"/>
            <p:cNvGrpSpPr>
              <a:grpSpLocks/>
            </p:cNvGrpSpPr>
            <p:nvPr/>
          </p:nvGrpSpPr>
          <p:grpSpPr bwMode="auto">
            <a:xfrm>
              <a:off x="3142" y="2415"/>
              <a:ext cx="259" cy="288"/>
              <a:chOff x="2675" y="1769"/>
              <a:chExt cx="259" cy="288"/>
            </a:xfrm>
          </p:grpSpPr>
          <p:pic>
            <p:nvPicPr>
              <p:cNvPr id="17523" name="Picture 48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24" name="Text Box 49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520" name="Group 50"/>
            <p:cNvGrpSpPr>
              <a:grpSpLocks/>
            </p:cNvGrpSpPr>
            <p:nvPr/>
          </p:nvGrpSpPr>
          <p:grpSpPr bwMode="auto">
            <a:xfrm>
              <a:off x="3142" y="2759"/>
              <a:ext cx="259" cy="288"/>
              <a:chOff x="2675" y="1769"/>
              <a:chExt cx="259" cy="288"/>
            </a:xfrm>
          </p:grpSpPr>
          <p:pic>
            <p:nvPicPr>
              <p:cNvPr id="17521" name="Picture 5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22" name="Text Box 5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7424" name="Rectangle 53"/>
          <p:cNvSpPr>
            <a:spLocks noChangeArrowheads="1"/>
          </p:cNvSpPr>
          <p:nvPr/>
        </p:nvSpPr>
        <p:spPr bwMode="auto">
          <a:xfrm>
            <a:off x="5600700" y="3221038"/>
            <a:ext cx="1052513" cy="166687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7425" name="Freeform 54"/>
          <p:cNvSpPr>
            <a:spLocks/>
          </p:cNvSpPr>
          <p:nvPr/>
        </p:nvSpPr>
        <p:spPr bwMode="auto">
          <a:xfrm>
            <a:off x="6654800" y="3219450"/>
            <a:ext cx="1006475" cy="1668463"/>
          </a:xfrm>
          <a:custGeom>
            <a:avLst/>
            <a:gdLst>
              <a:gd name="T0" fmla="*/ 673100 w 634"/>
              <a:gd name="T1" fmla="*/ 0 h 1051"/>
              <a:gd name="T2" fmla="*/ 0 w 634"/>
              <a:gd name="T3" fmla="*/ 6350 h 1051"/>
              <a:gd name="T4" fmla="*/ 0 w 634"/>
              <a:gd name="T5" fmla="*/ 1666875 h 1051"/>
              <a:gd name="T6" fmla="*/ 1006475 w 634"/>
              <a:gd name="T7" fmla="*/ 1668463 h 1051"/>
              <a:gd name="T8" fmla="*/ 887413 w 634"/>
              <a:gd name="T9" fmla="*/ 1474788 h 1051"/>
              <a:gd name="T10" fmla="*/ 723900 w 634"/>
              <a:gd name="T11" fmla="*/ 1377950 h 1051"/>
              <a:gd name="T12" fmla="*/ 636588 w 634"/>
              <a:gd name="T13" fmla="*/ 1243013 h 1051"/>
              <a:gd name="T14" fmla="*/ 661988 w 634"/>
              <a:gd name="T15" fmla="*/ 1004888 h 1051"/>
              <a:gd name="T16" fmla="*/ 723900 w 634"/>
              <a:gd name="T17" fmla="*/ 869950 h 1051"/>
              <a:gd name="T18" fmla="*/ 792163 w 634"/>
              <a:gd name="T19" fmla="*/ 720725 h 1051"/>
              <a:gd name="T20" fmla="*/ 781050 w 634"/>
              <a:gd name="T21" fmla="*/ 509588 h 1051"/>
              <a:gd name="T22" fmla="*/ 736600 w 634"/>
              <a:gd name="T23" fmla="*/ 347663 h 1051"/>
              <a:gd name="T24" fmla="*/ 668338 w 634"/>
              <a:gd name="T25" fmla="*/ 284163 h 1051"/>
              <a:gd name="T26" fmla="*/ 630238 w 634"/>
              <a:gd name="T27" fmla="*/ 219075 h 1051"/>
              <a:gd name="T28" fmla="*/ 598488 w 634"/>
              <a:gd name="T29" fmla="*/ 90488 h 1051"/>
              <a:gd name="T30" fmla="*/ 673100 w 634"/>
              <a:gd name="T31" fmla="*/ 0 h 105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634" h="1051">
                <a:moveTo>
                  <a:pt x="424" y="0"/>
                </a:moveTo>
                <a:lnTo>
                  <a:pt x="0" y="4"/>
                </a:lnTo>
                <a:lnTo>
                  <a:pt x="0" y="1050"/>
                </a:lnTo>
                <a:lnTo>
                  <a:pt x="634" y="1051"/>
                </a:lnTo>
                <a:cubicBezTo>
                  <a:pt x="610" y="996"/>
                  <a:pt x="595" y="977"/>
                  <a:pt x="559" y="929"/>
                </a:cubicBezTo>
                <a:cubicBezTo>
                  <a:pt x="557" y="927"/>
                  <a:pt x="462" y="869"/>
                  <a:pt x="456" y="868"/>
                </a:cubicBezTo>
                <a:cubicBezTo>
                  <a:pt x="443" y="854"/>
                  <a:pt x="414" y="790"/>
                  <a:pt x="401" y="783"/>
                </a:cubicBezTo>
                <a:cubicBezTo>
                  <a:pt x="389" y="708"/>
                  <a:pt x="393" y="705"/>
                  <a:pt x="417" y="633"/>
                </a:cubicBezTo>
                <a:cubicBezTo>
                  <a:pt x="421" y="619"/>
                  <a:pt x="450" y="561"/>
                  <a:pt x="456" y="548"/>
                </a:cubicBezTo>
                <a:cubicBezTo>
                  <a:pt x="489" y="502"/>
                  <a:pt x="478" y="507"/>
                  <a:pt x="499" y="454"/>
                </a:cubicBezTo>
                <a:cubicBezTo>
                  <a:pt x="508" y="435"/>
                  <a:pt x="492" y="354"/>
                  <a:pt x="492" y="321"/>
                </a:cubicBezTo>
                <a:cubicBezTo>
                  <a:pt x="470" y="273"/>
                  <a:pt x="489" y="264"/>
                  <a:pt x="464" y="219"/>
                </a:cubicBezTo>
                <a:cubicBezTo>
                  <a:pt x="459" y="211"/>
                  <a:pt x="421" y="179"/>
                  <a:pt x="421" y="179"/>
                </a:cubicBezTo>
                <a:cubicBezTo>
                  <a:pt x="418" y="170"/>
                  <a:pt x="400" y="146"/>
                  <a:pt x="397" y="138"/>
                </a:cubicBezTo>
                <a:cubicBezTo>
                  <a:pt x="392" y="128"/>
                  <a:pt x="373" y="80"/>
                  <a:pt x="377" y="57"/>
                </a:cubicBezTo>
                <a:lnTo>
                  <a:pt x="424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7426" name="Group 55"/>
          <p:cNvGrpSpPr>
            <a:grpSpLocks/>
          </p:cNvGrpSpPr>
          <p:nvPr/>
        </p:nvGrpSpPr>
        <p:grpSpPr bwMode="auto">
          <a:xfrm>
            <a:off x="1819275" y="3289300"/>
            <a:ext cx="392113" cy="1547813"/>
            <a:chOff x="1473" y="2072"/>
            <a:chExt cx="247" cy="975"/>
          </a:xfrm>
        </p:grpSpPr>
        <p:grpSp>
          <p:nvGrpSpPr>
            <p:cNvPr id="17509" name="Group 56"/>
            <p:cNvGrpSpPr>
              <a:grpSpLocks/>
            </p:cNvGrpSpPr>
            <p:nvPr/>
          </p:nvGrpSpPr>
          <p:grpSpPr bwMode="auto">
            <a:xfrm>
              <a:off x="1473" y="2072"/>
              <a:ext cx="247" cy="288"/>
              <a:chOff x="2277" y="1781"/>
              <a:chExt cx="247" cy="288"/>
            </a:xfrm>
          </p:grpSpPr>
          <p:pic>
            <p:nvPicPr>
              <p:cNvPr id="17516" name="Picture 5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17" name="Text Box 5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10" name="Group 59"/>
            <p:cNvGrpSpPr>
              <a:grpSpLocks/>
            </p:cNvGrpSpPr>
            <p:nvPr/>
          </p:nvGrpSpPr>
          <p:grpSpPr bwMode="auto">
            <a:xfrm>
              <a:off x="1473" y="2415"/>
              <a:ext cx="247" cy="288"/>
              <a:chOff x="2277" y="1781"/>
              <a:chExt cx="247" cy="288"/>
            </a:xfrm>
          </p:grpSpPr>
          <p:pic>
            <p:nvPicPr>
              <p:cNvPr id="17514" name="Picture 6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15" name="Text Box 6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11" name="Group 62"/>
            <p:cNvGrpSpPr>
              <a:grpSpLocks/>
            </p:cNvGrpSpPr>
            <p:nvPr/>
          </p:nvGrpSpPr>
          <p:grpSpPr bwMode="auto">
            <a:xfrm>
              <a:off x="1473" y="2759"/>
              <a:ext cx="247" cy="288"/>
              <a:chOff x="2277" y="1781"/>
              <a:chExt cx="247" cy="288"/>
            </a:xfrm>
          </p:grpSpPr>
          <p:pic>
            <p:nvPicPr>
              <p:cNvPr id="17512" name="Picture 6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13" name="Text Box 6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7427" name="Group 65"/>
          <p:cNvGrpSpPr>
            <a:grpSpLocks/>
          </p:cNvGrpSpPr>
          <p:nvPr/>
        </p:nvGrpSpPr>
        <p:grpSpPr bwMode="auto">
          <a:xfrm>
            <a:off x="5654675" y="3289300"/>
            <a:ext cx="392113" cy="1547813"/>
            <a:chOff x="3406" y="2072"/>
            <a:chExt cx="247" cy="975"/>
          </a:xfrm>
        </p:grpSpPr>
        <p:grpSp>
          <p:nvGrpSpPr>
            <p:cNvPr id="17500" name="Group 66"/>
            <p:cNvGrpSpPr>
              <a:grpSpLocks/>
            </p:cNvGrpSpPr>
            <p:nvPr/>
          </p:nvGrpSpPr>
          <p:grpSpPr bwMode="auto">
            <a:xfrm>
              <a:off x="3406" y="2072"/>
              <a:ext cx="247" cy="288"/>
              <a:chOff x="2277" y="1781"/>
              <a:chExt cx="247" cy="288"/>
            </a:xfrm>
          </p:grpSpPr>
          <p:pic>
            <p:nvPicPr>
              <p:cNvPr id="17507" name="Picture 6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08" name="Text Box 6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01" name="Group 69"/>
            <p:cNvGrpSpPr>
              <a:grpSpLocks/>
            </p:cNvGrpSpPr>
            <p:nvPr/>
          </p:nvGrpSpPr>
          <p:grpSpPr bwMode="auto">
            <a:xfrm>
              <a:off x="3406" y="2415"/>
              <a:ext cx="247" cy="288"/>
              <a:chOff x="2277" y="1781"/>
              <a:chExt cx="247" cy="288"/>
            </a:xfrm>
          </p:grpSpPr>
          <p:pic>
            <p:nvPicPr>
              <p:cNvPr id="17505" name="Picture 7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06" name="Text Box 7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502" name="Group 72"/>
            <p:cNvGrpSpPr>
              <a:grpSpLocks/>
            </p:cNvGrpSpPr>
            <p:nvPr/>
          </p:nvGrpSpPr>
          <p:grpSpPr bwMode="auto">
            <a:xfrm>
              <a:off x="3406" y="2759"/>
              <a:ext cx="247" cy="288"/>
              <a:chOff x="2277" y="1781"/>
              <a:chExt cx="247" cy="288"/>
            </a:xfrm>
          </p:grpSpPr>
          <p:pic>
            <p:nvPicPr>
              <p:cNvPr id="17503" name="Picture 7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504" name="Text Box 7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7428" name="Rectangle 75"/>
          <p:cNvSpPr>
            <a:spLocks noChangeArrowheads="1"/>
          </p:cNvSpPr>
          <p:nvPr/>
        </p:nvSpPr>
        <p:spPr bwMode="auto">
          <a:xfrm>
            <a:off x="4313238" y="2900363"/>
            <a:ext cx="627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17429" name="Rectangle 76"/>
          <p:cNvSpPr>
            <a:spLocks noChangeArrowheads="1"/>
          </p:cNvSpPr>
          <p:nvPr/>
        </p:nvSpPr>
        <p:spPr bwMode="auto">
          <a:xfrm>
            <a:off x="6275388" y="2900363"/>
            <a:ext cx="11509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Collecteur</a:t>
            </a:r>
          </a:p>
        </p:txBody>
      </p:sp>
      <p:grpSp>
        <p:nvGrpSpPr>
          <p:cNvPr id="17430" name="Group 77"/>
          <p:cNvGrpSpPr>
            <a:grpSpLocks/>
          </p:cNvGrpSpPr>
          <p:nvPr/>
        </p:nvGrpSpPr>
        <p:grpSpPr bwMode="auto">
          <a:xfrm>
            <a:off x="6238875" y="3289300"/>
            <a:ext cx="392113" cy="1547813"/>
            <a:chOff x="3760" y="2072"/>
            <a:chExt cx="247" cy="975"/>
          </a:xfrm>
        </p:grpSpPr>
        <p:grpSp>
          <p:nvGrpSpPr>
            <p:cNvPr id="17491" name="Group 78"/>
            <p:cNvGrpSpPr>
              <a:grpSpLocks/>
            </p:cNvGrpSpPr>
            <p:nvPr/>
          </p:nvGrpSpPr>
          <p:grpSpPr bwMode="auto">
            <a:xfrm>
              <a:off x="3760" y="2072"/>
              <a:ext cx="247" cy="288"/>
              <a:chOff x="2277" y="1781"/>
              <a:chExt cx="247" cy="288"/>
            </a:xfrm>
          </p:grpSpPr>
          <p:pic>
            <p:nvPicPr>
              <p:cNvPr id="17498" name="Picture 7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99" name="Text Box 8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492" name="Group 81"/>
            <p:cNvGrpSpPr>
              <a:grpSpLocks/>
            </p:cNvGrpSpPr>
            <p:nvPr/>
          </p:nvGrpSpPr>
          <p:grpSpPr bwMode="auto">
            <a:xfrm>
              <a:off x="3760" y="2415"/>
              <a:ext cx="247" cy="288"/>
              <a:chOff x="2277" y="1781"/>
              <a:chExt cx="247" cy="288"/>
            </a:xfrm>
          </p:grpSpPr>
          <p:pic>
            <p:nvPicPr>
              <p:cNvPr id="17496" name="Picture 8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97" name="Text Box 8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493" name="Group 84"/>
            <p:cNvGrpSpPr>
              <a:grpSpLocks/>
            </p:cNvGrpSpPr>
            <p:nvPr/>
          </p:nvGrpSpPr>
          <p:grpSpPr bwMode="auto">
            <a:xfrm>
              <a:off x="3760" y="2759"/>
              <a:ext cx="247" cy="288"/>
              <a:chOff x="2277" y="1781"/>
              <a:chExt cx="247" cy="288"/>
            </a:xfrm>
          </p:grpSpPr>
          <p:pic>
            <p:nvPicPr>
              <p:cNvPr id="17494" name="Picture 8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95" name="Text Box 8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7431" name="Group 87"/>
          <p:cNvGrpSpPr>
            <a:grpSpLocks/>
          </p:cNvGrpSpPr>
          <p:nvPr/>
        </p:nvGrpSpPr>
        <p:grpSpPr bwMode="auto">
          <a:xfrm>
            <a:off x="6824663" y="3289300"/>
            <a:ext cx="392112" cy="1547813"/>
            <a:chOff x="4077" y="2072"/>
            <a:chExt cx="247" cy="975"/>
          </a:xfrm>
        </p:grpSpPr>
        <p:grpSp>
          <p:nvGrpSpPr>
            <p:cNvPr id="17482" name="Group 88"/>
            <p:cNvGrpSpPr>
              <a:grpSpLocks/>
            </p:cNvGrpSpPr>
            <p:nvPr/>
          </p:nvGrpSpPr>
          <p:grpSpPr bwMode="auto">
            <a:xfrm>
              <a:off x="4077" y="2072"/>
              <a:ext cx="247" cy="288"/>
              <a:chOff x="2277" y="1781"/>
              <a:chExt cx="247" cy="288"/>
            </a:xfrm>
          </p:grpSpPr>
          <p:pic>
            <p:nvPicPr>
              <p:cNvPr id="17489" name="Picture 8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90" name="Text Box 9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483" name="Group 91"/>
            <p:cNvGrpSpPr>
              <a:grpSpLocks/>
            </p:cNvGrpSpPr>
            <p:nvPr/>
          </p:nvGrpSpPr>
          <p:grpSpPr bwMode="auto">
            <a:xfrm>
              <a:off x="4077" y="2415"/>
              <a:ext cx="247" cy="288"/>
              <a:chOff x="2277" y="1781"/>
              <a:chExt cx="247" cy="288"/>
            </a:xfrm>
          </p:grpSpPr>
          <p:pic>
            <p:nvPicPr>
              <p:cNvPr id="17487" name="Picture 9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88" name="Text Box 9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7484" name="Group 94"/>
            <p:cNvGrpSpPr>
              <a:grpSpLocks/>
            </p:cNvGrpSpPr>
            <p:nvPr/>
          </p:nvGrpSpPr>
          <p:grpSpPr bwMode="auto">
            <a:xfrm>
              <a:off x="4077" y="2759"/>
              <a:ext cx="247" cy="288"/>
              <a:chOff x="2277" y="1781"/>
              <a:chExt cx="247" cy="288"/>
            </a:xfrm>
          </p:grpSpPr>
          <p:pic>
            <p:nvPicPr>
              <p:cNvPr id="17485" name="Picture 9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86" name="Text Box 9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7432" name="Group 97"/>
          <p:cNvGrpSpPr>
            <a:grpSpLocks/>
          </p:cNvGrpSpPr>
          <p:nvPr/>
        </p:nvGrpSpPr>
        <p:grpSpPr bwMode="auto">
          <a:xfrm>
            <a:off x="6831013" y="3302000"/>
            <a:ext cx="74612" cy="1144588"/>
            <a:chOff x="4048" y="2080"/>
            <a:chExt cx="47" cy="721"/>
          </a:xfrm>
        </p:grpSpPr>
        <p:sp>
          <p:nvSpPr>
            <p:cNvPr id="17479" name="Oval 98"/>
            <p:cNvSpPr>
              <a:spLocks noChangeArrowheads="1"/>
            </p:cNvSpPr>
            <p:nvPr/>
          </p:nvSpPr>
          <p:spPr bwMode="auto">
            <a:xfrm>
              <a:off x="404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80" name="Oval 99"/>
            <p:cNvSpPr>
              <a:spLocks noChangeArrowheads="1"/>
            </p:cNvSpPr>
            <p:nvPr/>
          </p:nvSpPr>
          <p:spPr bwMode="auto">
            <a:xfrm>
              <a:off x="404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81" name="Oval 100"/>
            <p:cNvSpPr>
              <a:spLocks noChangeArrowheads="1"/>
            </p:cNvSpPr>
            <p:nvPr/>
          </p:nvSpPr>
          <p:spPr bwMode="auto">
            <a:xfrm>
              <a:off x="404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33" name="Rectangle 101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17434" name="Group 102"/>
          <p:cNvGrpSpPr>
            <a:grpSpLocks/>
          </p:cNvGrpSpPr>
          <p:nvPr/>
        </p:nvGrpSpPr>
        <p:grpSpPr bwMode="auto">
          <a:xfrm>
            <a:off x="4592638" y="3289300"/>
            <a:ext cx="411162" cy="1547813"/>
            <a:chOff x="2594" y="2072"/>
            <a:chExt cx="259" cy="975"/>
          </a:xfrm>
        </p:grpSpPr>
        <p:grpSp>
          <p:nvGrpSpPr>
            <p:cNvPr id="17470" name="Group 103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7477" name="Picture 10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78" name="Text Box 10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471" name="Group 106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7475" name="Picture 10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76" name="Text Box 10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472" name="Group 109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7473" name="Picture 11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74" name="Text Box 11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7435" name="Text Box 112"/>
          <p:cNvSpPr txBox="1">
            <a:spLocks noChangeArrowheads="1"/>
          </p:cNvSpPr>
          <p:nvPr/>
        </p:nvSpPr>
        <p:spPr bwMode="auto">
          <a:xfrm>
            <a:off x="1406525" y="717550"/>
            <a:ext cx="44719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Au niveau de la base</a:t>
            </a:r>
            <a:endParaRPr lang="fr-FR" altLang="fr-FR"/>
          </a:p>
        </p:txBody>
      </p:sp>
      <p:sp>
        <p:nvSpPr>
          <p:cNvPr id="17436" name="Text Box 113"/>
          <p:cNvSpPr txBox="1">
            <a:spLocks noChangeArrowheads="1"/>
          </p:cNvSpPr>
          <p:nvPr/>
        </p:nvSpPr>
        <p:spPr bwMode="auto">
          <a:xfrm>
            <a:off x="1116013" y="1992313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Recombinaison</a:t>
            </a:r>
            <a:r>
              <a:rPr lang="fr-FR" altLang="fr-FR" sz="2000"/>
              <a:t> de certaines paires </a:t>
            </a:r>
            <a:r>
              <a:rPr lang="fr-FR" altLang="fr-FR" sz="2400">
                <a:solidFill>
                  <a:srgbClr val="FF0000"/>
                </a:solidFill>
              </a:rPr>
              <a:t>électrons - trous</a:t>
            </a:r>
          </a:p>
        </p:txBody>
      </p:sp>
      <p:sp>
        <p:nvSpPr>
          <p:cNvPr id="17437" name="Line 114"/>
          <p:cNvSpPr>
            <a:spLocks noChangeShapeType="1"/>
          </p:cNvSpPr>
          <p:nvPr/>
        </p:nvSpPr>
        <p:spPr bwMode="auto">
          <a:xfrm rot="10800000">
            <a:off x="7508875" y="3935413"/>
            <a:ext cx="868363" cy="1587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17438" name="Group 115"/>
          <p:cNvGrpSpPr>
            <a:grpSpLocks/>
          </p:cNvGrpSpPr>
          <p:nvPr/>
        </p:nvGrpSpPr>
        <p:grpSpPr bwMode="auto">
          <a:xfrm>
            <a:off x="3465513" y="3289300"/>
            <a:ext cx="411162" cy="1547813"/>
            <a:chOff x="2346" y="2072"/>
            <a:chExt cx="259" cy="975"/>
          </a:xfrm>
        </p:grpSpPr>
        <p:grpSp>
          <p:nvGrpSpPr>
            <p:cNvPr id="17461" name="Group 116"/>
            <p:cNvGrpSpPr>
              <a:grpSpLocks/>
            </p:cNvGrpSpPr>
            <p:nvPr/>
          </p:nvGrpSpPr>
          <p:grpSpPr bwMode="auto">
            <a:xfrm>
              <a:off x="2346" y="2072"/>
              <a:ext cx="259" cy="288"/>
              <a:chOff x="2675" y="1769"/>
              <a:chExt cx="259" cy="288"/>
            </a:xfrm>
          </p:grpSpPr>
          <p:pic>
            <p:nvPicPr>
              <p:cNvPr id="17468" name="Picture 11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69" name="Text Box 11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462" name="Group 119"/>
            <p:cNvGrpSpPr>
              <a:grpSpLocks/>
            </p:cNvGrpSpPr>
            <p:nvPr/>
          </p:nvGrpSpPr>
          <p:grpSpPr bwMode="auto">
            <a:xfrm>
              <a:off x="2346" y="2415"/>
              <a:ext cx="259" cy="288"/>
              <a:chOff x="2675" y="1769"/>
              <a:chExt cx="259" cy="288"/>
            </a:xfrm>
          </p:grpSpPr>
          <p:pic>
            <p:nvPicPr>
              <p:cNvPr id="17466" name="Picture 12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67" name="Text Box 12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7463" name="Group 122"/>
            <p:cNvGrpSpPr>
              <a:grpSpLocks/>
            </p:cNvGrpSpPr>
            <p:nvPr/>
          </p:nvGrpSpPr>
          <p:grpSpPr bwMode="auto">
            <a:xfrm>
              <a:off x="2346" y="2759"/>
              <a:ext cx="259" cy="288"/>
              <a:chOff x="2675" y="1769"/>
              <a:chExt cx="259" cy="288"/>
            </a:xfrm>
          </p:grpSpPr>
          <p:pic>
            <p:nvPicPr>
              <p:cNvPr id="17464" name="Picture 123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465" name="Text Box 124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399486" name="Oval 126"/>
          <p:cNvSpPr>
            <a:spLocks noChangeArrowheads="1"/>
          </p:cNvSpPr>
          <p:nvPr/>
        </p:nvSpPr>
        <p:spPr bwMode="auto">
          <a:xfrm>
            <a:off x="3773488" y="3827463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40" name="Oval 127"/>
          <p:cNvSpPr>
            <a:spLocks noChangeArrowheads="1"/>
          </p:cNvSpPr>
          <p:nvPr/>
        </p:nvSpPr>
        <p:spPr bwMode="auto">
          <a:xfrm>
            <a:off x="3773488" y="44005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88" name="Oval 128"/>
          <p:cNvSpPr>
            <a:spLocks noChangeArrowheads="1"/>
          </p:cNvSpPr>
          <p:nvPr/>
        </p:nvSpPr>
        <p:spPr bwMode="auto">
          <a:xfrm>
            <a:off x="3773488" y="32591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42" name="Line 129"/>
          <p:cNvSpPr>
            <a:spLocks noChangeShapeType="1"/>
          </p:cNvSpPr>
          <p:nvPr/>
        </p:nvSpPr>
        <p:spPr bwMode="auto">
          <a:xfrm flipV="1">
            <a:off x="3057525" y="6254750"/>
            <a:ext cx="1314450" cy="1588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17443" name="Picture 130" descr="vpol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7825" y="5659438"/>
            <a:ext cx="151447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44" name="Line 131"/>
          <p:cNvSpPr>
            <a:spLocks noChangeShapeType="1"/>
          </p:cNvSpPr>
          <p:nvPr/>
        </p:nvSpPr>
        <p:spPr bwMode="auto">
          <a:xfrm flipV="1">
            <a:off x="4037013" y="6254750"/>
            <a:ext cx="1466850" cy="1588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17445" name="Picture 132" descr="vpol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22900" y="5659438"/>
            <a:ext cx="151447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46" name="Oval 133"/>
          <p:cNvSpPr>
            <a:spLocks noChangeArrowheads="1"/>
          </p:cNvSpPr>
          <p:nvPr/>
        </p:nvSpPr>
        <p:spPr bwMode="auto">
          <a:xfrm>
            <a:off x="2711450" y="33020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47" name="Oval 134"/>
          <p:cNvSpPr>
            <a:spLocks noChangeArrowheads="1"/>
          </p:cNvSpPr>
          <p:nvPr/>
        </p:nvSpPr>
        <p:spPr bwMode="auto">
          <a:xfrm>
            <a:off x="2711450" y="38369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48" name="Oval 135"/>
          <p:cNvSpPr>
            <a:spLocks noChangeArrowheads="1"/>
          </p:cNvSpPr>
          <p:nvPr/>
        </p:nvSpPr>
        <p:spPr bwMode="auto">
          <a:xfrm>
            <a:off x="2711450" y="4371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49" name="Oval 136"/>
          <p:cNvSpPr>
            <a:spLocks noChangeArrowheads="1"/>
          </p:cNvSpPr>
          <p:nvPr/>
        </p:nvSpPr>
        <p:spPr bwMode="auto">
          <a:xfrm>
            <a:off x="2135188" y="330200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50" name="Oval 137"/>
          <p:cNvSpPr>
            <a:spLocks noChangeArrowheads="1"/>
          </p:cNvSpPr>
          <p:nvPr/>
        </p:nvSpPr>
        <p:spPr bwMode="auto">
          <a:xfrm>
            <a:off x="2135188" y="383698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7451" name="Oval 138"/>
          <p:cNvSpPr>
            <a:spLocks noChangeArrowheads="1"/>
          </p:cNvSpPr>
          <p:nvPr/>
        </p:nvSpPr>
        <p:spPr bwMode="auto">
          <a:xfrm>
            <a:off x="2135188" y="43719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99" name="Oval 139"/>
          <p:cNvSpPr>
            <a:spLocks noChangeArrowheads="1"/>
          </p:cNvSpPr>
          <p:nvPr/>
        </p:nvSpPr>
        <p:spPr bwMode="auto">
          <a:xfrm>
            <a:off x="3251200" y="33020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500" name="Oval 140"/>
          <p:cNvSpPr>
            <a:spLocks noChangeArrowheads="1"/>
          </p:cNvSpPr>
          <p:nvPr/>
        </p:nvSpPr>
        <p:spPr bwMode="auto">
          <a:xfrm>
            <a:off x="3251200" y="4371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501" name="Oval 141"/>
          <p:cNvSpPr>
            <a:spLocks noChangeArrowheads="1"/>
          </p:cNvSpPr>
          <p:nvPr/>
        </p:nvSpPr>
        <p:spPr bwMode="auto">
          <a:xfrm>
            <a:off x="3251200" y="38369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502" name="Oval 142"/>
          <p:cNvSpPr>
            <a:spLocks noChangeArrowheads="1"/>
          </p:cNvSpPr>
          <p:nvPr/>
        </p:nvSpPr>
        <p:spPr bwMode="auto">
          <a:xfrm>
            <a:off x="4200525" y="48847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99506" name="Group 146"/>
          <p:cNvGrpSpPr>
            <a:grpSpLocks/>
          </p:cNvGrpSpPr>
          <p:nvPr/>
        </p:nvGrpSpPr>
        <p:grpSpPr bwMode="auto">
          <a:xfrm>
            <a:off x="3783013" y="4994275"/>
            <a:ext cx="719137" cy="719138"/>
            <a:chOff x="2984" y="3218"/>
            <a:chExt cx="453" cy="453"/>
          </a:xfrm>
        </p:grpSpPr>
        <p:sp>
          <p:nvSpPr>
            <p:cNvPr id="17459" name="AutoShape 144"/>
            <p:cNvSpPr>
              <a:spLocks noChangeArrowheads="1"/>
            </p:cNvSpPr>
            <p:nvPr/>
          </p:nvSpPr>
          <p:spPr bwMode="auto">
            <a:xfrm>
              <a:off x="3258" y="3218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7460" name="Text Box 145"/>
            <p:cNvSpPr txBox="1">
              <a:spLocks noChangeArrowheads="1"/>
            </p:cNvSpPr>
            <p:nvPr/>
          </p:nvSpPr>
          <p:spPr bwMode="auto">
            <a:xfrm>
              <a:off x="2984" y="3301"/>
              <a:ext cx="408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/>
                <a:t>Ib</a:t>
              </a:r>
            </a:p>
          </p:txBody>
        </p:sp>
      </p:grpSp>
      <p:sp>
        <p:nvSpPr>
          <p:cNvPr id="399507" name="Oval 147"/>
          <p:cNvSpPr>
            <a:spLocks noChangeArrowheads="1"/>
          </p:cNvSpPr>
          <p:nvPr/>
        </p:nvSpPr>
        <p:spPr bwMode="auto">
          <a:xfrm>
            <a:off x="4413250" y="4860925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509" name="Oval 149"/>
          <p:cNvSpPr>
            <a:spLocks noChangeArrowheads="1"/>
          </p:cNvSpPr>
          <p:nvPr/>
        </p:nvSpPr>
        <p:spPr bwMode="auto">
          <a:xfrm>
            <a:off x="4305300" y="4951413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7.40741E-6 C 0.00763 -0.00624 0.01545 -0.01226 0.0217 -0.01481 C 0.02795 -0.01735 0.03159 -0.01735 0.03784 -0.01481 C 0.04409 -0.01226 0.05538 -0.00254 0.05902 7.40741E-6 " pathEditMode="relative" ptsTypes="aaaA">
                                      <p:cBhvr>
                                        <p:cTn id="6" dur="1000" fill="hold"/>
                                        <p:tgtEl>
                                          <p:spTgt spid="399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99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99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69 C 0.0158 -0.00694 0.03194 -0.01296 0.04548 -0.01551 C 0.05903 -0.01805 0.07292 -0.01689 0.08108 -0.0162 C 0.08923 -0.01551 0.08733 -0.01458 0.09496 -0.01088 C 0.1026 -0.00717 0.11458 -0.00069 0.12656 0.00602 " pathEditMode="relative" ptsTypes="aaaaA">
                                      <p:cBhvr>
                                        <p:cTn id="15" dur="1000" fill="hold"/>
                                        <p:tgtEl>
                                          <p:spTgt spid="399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99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99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8.51852E-6 C 0.00642 0.00439 0.01302 0.00879 0.01997 0.01111 C 0.02691 0.01342 0.03542 0.01643 0.04167 0.01411 C 0.04792 0.0118 0.05261 0.00439 0.05729 -0.00278 " pathEditMode="relative" ptsTypes="aaaA">
                                      <p:cBhvr>
                                        <p:cTn id="24" dur="1000" fill="hold"/>
                                        <p:tgtEl>
                                          <p:spTgt spid="399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99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399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9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7037E-7 C -0.00035 -0.00995 -0.00069 -0.01968 -0.00156 -0.03194 C -0.00243 -0.04421 -0.00278 -0.0625 -0.00486 -0.07407 C -0.00694 -0.08565 -0.01111 -0.09352 -0.01441 -0.10162 C -0.01771 -0.10972 -0.02118 -0.11667 -0.0243 -0.12292 C -0.02743 -0.12917 -0.02951 -0.13426 -0.03316 -0.13958 C -0.0368 -0.14491 -0.04375 -0.15139 -0.04653 -0.1544 " pathEditMode="relative" rAng="0" ptsTypes="aaaaaaa">
                                      <p:cBhvr>
                                        <p:cTn id="42" dur="1000" fill="hold"/>
                                        <p:tgtEl>
                                          <p:spTgt spid="3995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" y="-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33333E-6 C 0.00139 -0.01759 0.00295 -0.03495 0.00243 -0.04676 C 0.00191 -0.05856 -0.0007 -0.06504 -0.0033 -0.07129 " pathEditMode="relative" ptsTypes="aaA">
                                      <p:cBhvr>
                                        <p:cTn id="48" dur="1000" fill="hold"/>
                                        <p:tgtEl>
                                          <p:spTgt spid="3995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C -0.00695 -0.00972 -0.01389 -0.01945 -0.01927 -0.02871 C -0.02465 -0.03796 -0.02969 -0.04121 -0.03247 -0.05556 C -0.03524 -0.06991 -0.03629 -0.09699 -0.03594 -0.11435 C -0.03559 -0.13171 -0.03073 -0.14583 -0.03004 -0.15996 C -0.02934 -0.17408 -0.02934 -0.18681 -0.03177 -0.19884 C -0.0342 -0.21088 -0.03993 -0.22384 -0.04427 -0.23218 C -0.04861 -0.24051 -0.05313 -0.24468 -0.05747 -0.24884 " pathEditMode="relative" ptsTypes="aaaaaaaA">
                                      <p:cBhvr>
                                        <p:cTn id="54" dur="1000" fill="hold"/>
                                        <p:tgtEl>
                                          <p:spTgt spid="3995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1" grpId="0" animBg="1"/>
      <p:bldP spid="399486" grpId="0" animBg="1"/>
      <p:bldP spid="399488" grpId="0" animBg="1"/>
      <p:bldP spid="399499" grpId="0" animBg="1"/>
      <p:bldP spid="399499" grpId="1" animBg="1"/>
      <p:bldP spid="399500" grpId="0" animBg="1"/>
      <p:bldP spid="399500" grpId="1" animBg="1"/>
      <p:bldP spid="399501" grpId="0" animBg="1"/>
      <p:bldP spid="399501" grpId="1" animBg="1"/>
      <p:bldP spid="399502" grpId="0" animBg="1"/>
      <p:bldP spid="399502" grpId="1" animBg="1"/>
      <p:bldP spid="399507" grpId="0" animBg="1"/>
      <p:bldP spid="399507" grpId="1" animBg="1"/>
      <p:bldP spid="399509" grpId="0" animBg="1"/>
      <p:bldP spid="399509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2"/>
          <p:cNvSpPr>
            <a:spLocks noChangeShapeType="1"/>
          </p:cNvSpPr>
          <p:nvPr/>
        </p:nvSpPr>
        <p:spPr bwMode="auto">
          <a:xfrm rot="16200000" flipV="1">
            <a:off x="3078956" y="4968082"/>
            <a:ext cx="2563813" cy="1270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8435" name="Freeform 3"/>
          <p:cNvSpPr>
            <a:spLocks/>
          </p:cNvSpPr>
          <p:nvPr/>
        </p:nvSpPr>
        <p:spPr bwMode="auto">
          <a:xfrm>
            <a:off x="1098550" y="3929063"/>
            <a:ext cx="1016000" cy="2327275"/>
          </a:xfrm>
          <a:custGeom>
            <a:avLst/>
            <a:gdLst>
              <a:gd name="T0" fmla="*/ 1016000 w 640"/>
              <a:gd name="T1" fmla="*/ 0 h 1466"/>
              <a:gd name="T2" fmla="*/ 11113 w 640"/>
              <a:gd name="T3" fmla="*/ 0 h 1466"/>
              <a:gd name="T4" fmla="*/ 0 w 640"/>
              <a:gd name="T5" fmla="*/ 2327275 h 1466"/>
              <a:gd name="T6" fmla="*/ 639763 w 640"/>
              <a:gd name="T7" fmla="*/ 2322513 h 146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40" h="1466">
                <a:moveTo>
                  <a:pt x="640" y="0"/>
                </a:moveTo>
                <a:lnTo>
                  <a:pt x="7" y="0"/>
                </a:lnTo>
                <a:lnTo>
                  <a:pt x="0" y="1466"/>
                </a:lnTo>
                <a:lnTo>
                  <a:pt x="403" y="1463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18436" name="Freeform 4"/>
          <p:cNvSpPr>
            <a:spLocks/>
          </p:cNvSpPr>
          <p:nvPr/>
        </p:nvSpPr>
        <p:spPr bwMode="auto">
          <a:xfrm>
            <a:off x="1346200" y="3221038"/>
            <a:ext cx="2117725" cy="1666875"/>
          </a:xfrm>
          <a:custGeom>
            <a:avLst/>
            <a:gdLst>
              <a:gd name="T0" fmla="*/ 369888 w 1334"/>
              <a:gd name="T1" fmla="*/ 0 h 1050"/>
              <a:gd name="T2" fmla="*/ 2117725 w 1334"/>
              <a:gd name="T3" fmla="*/ 4763 h 1050"/>
              <a:gd name="T4" fmla="*/ 2108200 w 1334"/>
              <a:gd name="T5" fmla="*/ 1660525 h 1050"/>
              <a:gd name="T6" fmla="*/ 0 w 1334"/>
              <a:gd name="T7" fmla="*/ 1666875 h 1050"/>
              <a:gd name="T8" fmla="*/ 133350 w 1334"/>
              <a:gd name="T9" fmla="*/ 1473200 h 1050"/>
              <a:gd name="T10" fmla="*/ 314325 w 1334"/>
              <a:gd name="T11" fmla="*/ 1376363 h 1050"/>
              <a:gd name="T12" fmla="*/ 411163 w 1334"/>
              <a:gd name="T13" fmla="*/ 1243013 h 1050"/>
              <a:gd name="T14" fmla="*/ 384175 w 1334"/>
              <a:gd name="T15" fmla="*/ 1003300 h 1050"/>
              <a:gd name="T16" fmla="*/ 314325 w 1334"/>
              <a:gd name="T17" fmla="*/ 869950 h 1050"/>
              <a:gd name="T18" fmla="*/ 238125 w 1334"/>
              <a:gd name="T19" fmla="*/ 720725 h 1050"/>
              <a:gd name="T20" fmla="*/ 250825 w 1334"/>
              <a:gd name="T21" fmla="*/ 508000 h 1050"/>
              <a:gd name="T22" fmla="*/ 300038 w 1334"/>
              <a:gd name="T23" fmla="*/ 347663 h 1050"/>
              <a:gd name="T24" fmla="*/ 376238 w 1334"/>
              <a:gd name="T25" fmla="*/ 282575 h 1050"/>
              <a:gd name="T26" fmla="*/ 419100 w 1334"/>
              <a:gd name="T27" fmla="*/ 219075 h 1050"/>
              <a:gd name="T28" fmla="*/ 454025 w 1334"/>
              <a:gd name="T29" fmla="*/ 90488 h 1050"/>
              <a:gd name="T30" fmla="*/ 369888 w 1334"/>
              <a:gd name="T31" fmla="*/ 0 h 105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334" h="1050">
                <a:moveTo>
                  <a:pt x="233" y="0"/>
                </a:moveTo>
                <a:lnTo>
                  <a:pt x="1334" y="3"/>
                </a:lnTo>
                <a:lnTo>
                  <a:pt x="1328" y="1046"/>
                </a:lnTo>
                <a:lnTo>
                  <a:pt x="0" y="1050"/>
                </a:lnTo>
                <a:cubicBezTo>
                  <a:pt x="27" y="995"/>
                  <a:pt x="43" y="976"/>
                  <a:pt x="84" y="928"/>
                </a:cubicBezTo>
                <a:cubicBezTo>
                  <a:pt x="86" y="926"/>
                  <a:pt x="191" y="868"/>
                  <a:pt x="198" y="867"/>
                </a:cubicBezTo>
                <a:cubicBezTo>
                  <a:pt x="213" y="853"/>
                  <a:pt x="245" y="789"/>
                  <a:pt x="259" y="783"/>
                </a:cubicBezTo>
                <a:cubicBezTo>
                  <a:pt x="272" y="707"/>
                  <a:pt x="268" y="705"/>
                  <a:pt x="242" y="632"/>
                </a:cubicBezTo>
                <a:cubicBezTo>
                  <a:pt x="237" y="619"/>
                  <a:pt x="204" y="560"/>
                  <a:pt x="198" y="548"/>
                </a:cubicBezTo>
                <a:cubicBezTo>
                  <a:pt x="161" y="502"/>
                  <a:pt x="174" y="507"/>
                  <a:pt x="150" y="454"/>
                </a:cubicBezTo>
                <a:cubicBezTo>
                  <a:pt x="141" y="434"/>
                  <a:pt x="158" y="354"/>
                  <a:pt x="158" y="320"/>
                </a:cubicBezTo>
                <a:cubicBezTo>
                  <a:pt x="182" y="273"/>
                  <a:pt x="162" y="264"/>
                  <a:pt x="189" y="219"/>
                </a:cubicBezTo>
                <a:cubicBezTo>
                  <a:pt x="194" y="211"/>
                  <a:pt x="237" y="178"/>
                  <a:pt x="237" y="178"/>
                </a:cubicBezTo>
                <a:cubicBezTo>
                  <a:pt x="240" y="170"/>
                  <a:pt x="260" y="146"/>
                  <a:pt x="264" y="138"/>
                </a:cubicBezTo>
                <a:cubicBezTo>
                  <a:pt x="269" y="127"/>
                  <a:pt x="291" y="80"/>
                  <a:pt x="286" y="57"/>
                </a:cubicBezTo>
                <a:lnTo>
                  <a:pt x="233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8437" name="Freeform 5"/>
          <p:cNvSpPr>
            <a:spLocks/>
          </p:cNvSpPr>
          <p:nvPr/>
        </p:nvSpPr>
        <p:spPr bwMode="auto">
          <a:xfrm>
            <a:off x="6835775" y="3935413"/>
            <a:ext cx="1570038" cy="2324100"/>
          </a:xfrm>
          <a:custGeom>
            <a:avLst/>
            <a:gdLst>
              <a:gd name="T0" fmla="*/ 558800 w 989"/>
              <a:gd name="T1" fmla="*/ 0 h 1449"/>
              <a:gd name="T2" fmla="*/ 1570038 w 989"/>
              <a:gd name="T3" fmla="*/ 0 h 1449"/>
              <a:gd name="T4" fmla="*/ 1554163 w 989"/>
              <a:gd name="T5" fmla="*/ 2324100 h 1449"/>
              <a:gd name="T6" fmla="*/ 0 w 989"/>
              <a:gd name="T7" fmla="*/ 2319288 h 144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89" h="1449">
                <a:moveTo>
                  <a:pt x="352" y="0"/>
                </a:moveTo>
                <a:lnTo>
                  <a:pt x="989" y="0"/>
                </a:lnTo>
                <a:lnTo>
                  <a:pt x="979" y="1449"/>
                </a:lnTo>
                <a:lnTo>
                  <a:pt x="0" y="1446"/>
                </a:lnTo>
              </a:path>
            </a:pathLst>
          </a:custGeom>
          <a:noFill/>
          <a:ln w="3810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1893888" y="2900363"/>
            <a:ext cx="1085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Emetteur</a:t>
            </a:r>
          </a:p>
        </p:txBody>
      </p:sp>
      <p:grpSp>
        <p:nvGrpSpPr>
          <p:cNvPr id="18439" name="Group 7"/>
          <p:cNvGrpSpPr>
            <a:grpSpLocks/>
          </p:cNvGrpSpPr>
          <p:nvPr/>
        </p:nvGrpSpPr>
        <p:grpSpPr bwMode="auto">
          <a:xfrm>
            <a:off x="2941638" y="3289300"/>
            <a:ext cx="392112" cy="1547813"/>
            <a:chOff x="2121" y="2072"/>
            <a:chExt cx="247" cy="975"/>
          </a:xfrm>
        </p:grpSpPr>
        <p:grpSp>
          <p:nvGrpSpPr>
            <p:cNvPr id="18566" name="Group 8"/>
            <p:cNvGrpSpPr>
              <a:grpSpLocks/>
            </p:cNvGrpSpPr>
            <p:nvPr/>
          </p:nvGrpSpPr>
          <p:grpSpPr bwMode="auto">
            <a:xfrm>
              <a:off x="2121" y="2072"/>
              <a:ext cx="247" cy="288"/>
              <a:chOff x="2277" y="1781"/>
              <a:chExt cx="247" cy="288"/>
            </a:xfrm>
          </p:grpSpPr>
          <p:pic>
            <p:nvPicPr>
              <p:cNvPr id="18573" name="Picture 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74" name="Text Box 1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67" name="Group 11"/>
            <p:cNvGrpSpPr>
              <a:grpSpLocks/>
            </p:cNvGrpSpPr>
            <p:nvPr/>
          </p:nvGrpSpPr>
          <p:grpSpPr bwMode="auto">
            <a:xfrm>
              <a:off x="2121" y="2415"/>
              <a:ext cx="247" cy="288"/>
              <a:chOff x="2277" y="1781"/>
              <a:chExt cx="247" cy="288"/>
            </a:xfrm>
          </p:grpSpPr>
          <p:pic>
            <p:nvPicPr>
              <p:cNvPr id="18571" name="Picture 1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72" name="Text Box 1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68" name="Group 14"/>
            <p:cNvGrpSpPr>
              <a:grpSpLocks/>
            </p:cNvGrpSpPr>
            <p:nvPr/>
          </p:nvGrpSpPr>
          <p:grpSpPr bwMode="auto">
            <a:xfrm>
              <a:off x="2121" y="2759"/>
              <a:ext cx="247" cy="288"/>
              <a:chOff x="2277" y="1781"/>
              <a:chExt cx="247" cy="288"/>
            </a:xfrm>
          </p:grpSpPr>
          <p:pic>
            <p:nvPicPr>
              <p:cNvPr id="18569" name="Picture 1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70" name="Text Box 1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8440" name="Group 17"/>
          <p:cNvGrpSpPr>
            <a:grpSpLocks/>
          </p:cNvGrpSpPr>
          <p:nvPr/>
        </p:nvGrpSpPr>
        <p:grpSpPr bwMode="auto">
          <a:xfrm>
            <a:off x="2379663" y="3289300"/>
            <a:ext cx="392112" cy="1547813"/>
            <a:chOff x="1782" y="2072"/>
            <a:chExt cx="247" cy="975"/>
          </a:xfrm>
        </p:grpSpPr>
        <p:grpSp>
          <p:nvGrpSpPr>
            <p:cNvPr id="18557" name="Group 18"/>
            <p:cNvGrpSpPr>
              <a:grpSpLocks/>
            </p:cNvGrpSpPr>
            <p:nvPr/>
          </p:nvGrpSpPr>
          <p:grpSpPr bwMode="auto">
            <a:xfrm>
              <a:off x="1782" y="2072"/>
              <a:ext cx="247" cy="288"/>
              <a:chOff x="2277" y="1781"/>
              <a:chExt cx="247" cy="288"/>
            </a:xfrm>
          </p:grpSpPr>
          <p:pic>
            <p:nvPicPr>
              <p:cNvPr id="18564" name="Picture 1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65" name="Text Box 2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58" name="Group 21"/>
            <p:cNvGrpSpPr>
              <a:grpSpLocks/>
            </p:cNvGrpSpPr>
            <p:nvPr/>
          </p:nvGrpSpPr>
          <p:grpSpPr bwMode="auto">
            <a:xfrm>
              <a:off x="1782" y="2415"/>
              <a:ext cx="247" cy="288"/>
              <a:chOff x="2277" y="1781"/>
              <a:chExt cx="247" cy="288"/>
            </a:xfrm>
          </p:grpSpPr>
          <p:pic>
            <p:nvPicPr>
              <p:cNvPr id="18562" name="Picture 2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63" name="Text Box 2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59" name="Group 24"/>
            <p:cNvGrpSpPr>
              <a:grpSpLocks/>
            </p:cNvGrpSpPr>
            <p:nvPr/>
          </p:nvGrpSpPr>
          <p:grpSpPr bwMode="auto">
            <a:xfrm>
              <a:off x="1782" y="2759"/>
              <a:ext cx="247" cy="288"/>
              <a:chOff x="2277" y="1781"/>
              <a:chExt cx="247" cy="288"/>
            </a:xfrm>
          </p:grpSpPr>
          <p:pic>
            <p:nvPicPr>
              <p:cNvPr id="18560" name="Picture 2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61" name="Text Box 2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8441" name="Rectangle 27"/>
          <p:cNvSpPr>
            <a:spLocks noChangeArrowheads="1"/>
          </p:cNvSpPr>
          <p:nvPr/>
        </p:nvSpPr>
        <p:spPr bwMode="auto">
          <a:xfrm>
            <a:off x="3441700" y="3219450"/>
            <a:ext cx="1168400" cy="1668463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8442" name="Rectangle 28"/>
          <p:cNvSpPr>
            <a:spLocks noChangeArrowheads="1"/>
          </p:cNvSpPr>
          <p:nvPr/>
        </p:nvSpPr>
        <p:spPr bwMode="auto">
          <a:xfrm>
            <a:off x="4595813" y="3219450"/>
            <a:ext cx="996950" cy="1668463"/>
          </a:xfrm>
          <a:prstGeom prst="rect">
            <a:avLst/>
          </a:prstGeom>
          <a:solidFill>
            <a:srgbClr val="FF9FA1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FA1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8443" name="Group 29"/>
          <p:cNvGrpSpPr>
            <a:grpSpLocks/>
          </p:cNvGrpSpPr>
          <p:nvPr/>
        </p:nvGrpSpPr>
        <p:grpSpPr bwMode="auto">
          <a:xfrm>
            <a:off x="4041775" y="3289300"/>
            <a:ext cx="411163" cy="1547813"/>
            <a:chOff x="2594" y="2072"/>
            <a:chExt cx="259" cy="975"/>
          </a:xfrm>
        </p:grpSpPr>
        <p:grpSp>
          <p:nvGrpSpPr>
            <p:cNvPr id="18548" name="Group 30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8555" name="Picture 3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56" name="Text Box 3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549" name="Group 33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8553" name="Picture 3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54" name="Text Box 3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550" name="Group 36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8551" name="Picture 3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52" name="Text Box 3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grpSp>
        <p:nvGrpSpPr>
          <p:cNvPr id="18444" name="Group 43"/>
          <p:cNvGrpSpPr>
            <a:grpSpLocks/>
          </p:cNvGrpSpPr>
          <p:nvPr/>
        </p:nvGrpSpPr>
        <p:grpSpPr bwMode="auto">
          <a:xfrm>
            <a:off x="5108575" y="3289300"/>
            <a:ext cx="411163" cy="1547813"/>
            <a:chOff x="3142" y="2072"/>
            <a:chExt cx="259" cy="975"/>
          </a:xfrm>
        </p:grpSpPr>
        <p:grpSp>
          <p:nvGrpSpPr>
            <p:cNvPr id="18539" name="Group 44"/>
            <p:cNvGrpSpPr>
              <a:grpSpLocks/>
            </p:cNvGrpSpPr>
            <p:nvPr/>
          </p:nvGrpSpPr>
          <p:grpSpPr bwMode="auto">
            <a:xfrm>
              <a:off x="3142" y="2072"/>
              <a:ext cx="259" cy="288"/>
              <a:chOff x="2675" y="1769"/>
              <a:chExt cx="259" cy="288"/>
            </a:xfrm>
          </p:grpSpPr>
          <p:pic>
            <p:nvPicPr>
              <p:cNvPr id="18546" name="Picture 45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47" name="Text Box 46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540" name="Group 47"/>
            <p:cNvGrpSpPr>
              <a:grpSpLocks/>
            </p:cNvGrpSpPr>
            <p:nvPr/>
          </p:nvGrpSpPr>
          <p:grpSpPr bwMode="auto">
            <a:xfrm>
              <a:off x="3142" y="2415"/>
              <a:ext cx="259" cy="288"/>
              <a:chOff x="2675" y="1769"/>
              <a:chExt cx="259" cy="288"/>
            </a:xfrm>
          </p:grpSpPr>
          <p:pic>
            <p:nvPicPr>
              <p:cNvPr id="18544" name="Picture 48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45" name="Text Box 49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541" name="Group 50"/>
            <p:cNvGrpSpPr>
              <a:grpSpLocks/>
            </p:cNvGrpSpPr>
            <p:nvPr/>
          </p:nvGrpSpPr>
          <p:grpSpPr bwMode="auto">
            <a:xfrm>
              <a:off x="3142" y="2759"/>
              <a:ext cx="259" cy="288"/>
              <a:chOff x="2675" y="1769"/>
              <a:chExt cx="259" cy="288"/>
            </a:xfrm>
          </p:grpSpPr>
          <p:pic>
            <p:nvPicPr>
              <p:cNvPr id="18542" name="Picture 5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43" name="Text Box 52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8445" name="Rectangle 53"/>
          <p:cNvSpPr>
            <a:spLocks noChangeArrowheads="1"/>
          </p:cNvSpPr>
          <p:nvPr/>
        </p:nvSpPr>
        <p:spPr bwMode="auto">
          <a:xfrm>
            <a:off x="5600700" y="3221038"/>
            <a:ext cx="1052513" cy="1666875"/>
          </a:xfrm>
          <a:prstGeom prst="rect">
            <a:avLst/>
          </a:prstGeom>
          <a:solidFill>
            <a:srgbClr val="99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8446" name="Freeform 54"/>
          <p:cNvSpPr>
            <a:spLocks/>
          </p:cNvSpPr>
          <p:nvPr/>
        </p:nvSpPr>
        <p:spPr bwMode="auto">
          <a:xfrm>
            <a:off x="6654800" y="3219450"/>
            <a:ext cx="1006475" cy="1668463"/>
          </a:xfrm>
          <a:custGeom>
            <a:avLst/>
            <a:gdLst>
              <a:gd name="T0" fmla="*/ 673100 w 634"/>
              <a:gd name="T1" fmla="*/ 0 h 1051"/>
              <a:gd name="T2" fmla="*/ 0 w 634"/>
              <a:gd name="T3" fmla="*/ 6350 h 1051"/>
              <a:gd name="T4" fmla="*/ 0 w 634"/>
              <a:gd name="T5" fmla="*/ 1666875 h 1051"/>
              <a:gd name="T6" fmla="*/ 1006475 w 634"/>
              <a:gd name="T7" fmla="*/ 1668463 h 1051"/>
              <a:gd name="T8" fmla="*/ 887413 w 634"/>
              <a:gd name="T9" fmla="*/ 1474788 h 1051"/>
              <a:gd name="T10" fmla="*/ 723900 w 634"/>
              <a:gd name="T11" fmla="*/ 1377950 h 1051"/>
              <a:gd name="T12" fmla="*/ 636588 w 634"/>
              <a:gd name="T13" fmla="*/ 1243013 h 1051"/>
              <a:gd name="T14" fmla="*/ 661988 w 634"/>
              <a:gd name="T15" fmla="*/ 1004888 h 1051"/>
              <a:gd name="T16" fmla="*/ 723900 w 634"/>
              <a:gd name="T17" fmla="*/ 869950 h 1051"/>
              <a:gd name="T18" fmla="*/ 792163 w 634"/>
              <a:gd name="T19" fmla="*/ 720725 h 1051"/>
              <a:gd name="T20" fmla="*/ 781050 w 634"/>
              <a:gd name="T21" fmla="*/ 509588 h 1051"/>
              <a:gd name="T22" fmla="*/ 736600 w 634"/>
              <a:gd name="T23" fmla="*/ 347663 h 1051"/>
              <a:gd name="T24" fmla="*/ 668338 w 634"/>
              <a:gd name="T25" fmla="*/ 284163 h 1051"/>
              <a:gd name="T26" fmla="*/ 630238 w 634"/>
              <a:gd name="T27" fmla="*/ 219075 h 1051"/>
              <a:gd name="T28" fmla="*/ 598488 w 634"/>
              <a:gd name="T29" fmla="*/ 90488 h 1051"/>
              <a:gd name="T30" fmla="*/ 673100 w 634"/>
              <a:gd name="T31" fmla="*/ 0 h 105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634" h="1051">
                <a:moveTo>
                  <a:pt x="424" y="0"/>
                </a:moveTo>
                <a:lnTo>
                  <a:pt x="0" y="4"/>
                </a:lnTo>
                <a:lnTo>
                  <a:pt x="0" y="1050"/>
                </a:lnTo>
                <a:lnTo>
                  <a:pt x="634" y="1051"/>
                </a:lnTo>
                <a:cubicBezTo>
                  <a:pt x="610" y="996"/>
                  <a:pt x="595" y="977"/>
                  <a:pt x="559" y="929"/>
                </a:cubicBezTo>
                <a:cubicBezTo>
                  <a:pt x="557" y="927"/>
                  <a:pt x="462" y="869"/>
                  <a:pt x="456" y="868"/>
                </a:cubicBezTo>
                <a:cubicBezTo>
                  <a:pt x="443" y="854"/>
                  <a:pt x="414" y="790"/>
                  <a:pt x="401" y="783"/>
                </a:cubicBezTo>
                <a:cubicBezTo>
                  <a:pt x="389" y="708"/>
                  <a:pt x="393" y="705"/>
                  <a:pt x="417" y="633"/>
                </a:cubicBezTo>
                <a:cubicBezTo>
                  <a:pt x="421" y="619"/>
                  <a:pt x="450" y="561"/>
                  <a:pt x="456" y="548"/>
                </a:cubicBezTo>
                <a:cubicBezTo>
                  <a:pt x="489" y="502"/>
                  <a:pt x="478" y="507"/>
                  <a:pt x="499" y="454"/>
                </a:cubicBezTo>
                <a:cubicBezTo>
                  <a:pt x="508" y="435"/>
                  <a:pt x="492" y="354"/>
                  <a:pt x="492" y="321"/>
                </a:cubicBezTo>
                <a:cubicBezTo>
                  <a:pt x="470" y="273"/>
                  <a:pt x="489" y="264"/>
                  <a:pt x="464" y="219"/>
                </a:cubicBezTo>
                <a:cubicBezTo>
                  <a:pt x="459" y="211"/>
                  <a:pt x="421" y="179"/>
                  <a:pt x="421" y="179"/>
                </a:cubicBezTo>
                <a:cubicBezTo>
                  <a:pt x="418" y="170"/>
                  <a:pt x="400" y="146"/>
                  <a:pt x="397" y="138"/>
                </a:cubicBezTo>
                <a:cubicBezTo>
                  <a:pt x="392" y="128"/>
                  <a:pt x="373" y="80"/>
                  <a:pt x="377" y="57"/>
                </a:cubicBezTo>
                <a:lnTo>
                  <a:pt x="424" y="0"/>
                </a:lnTo>
                <a:close/>
              </a:path>
            </a:pathLst>
          </a:custGeom>
          <a:solidFill>
            <a:srgbClr val="66FF66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18447" name="Group 55"/>
          <p:cNvGrpSpPr>
            <a:grpSpLocks/>
          </p:cNvGrpSpPr>
          <p:nvPr/>
        </p:nvGrpSpPr>
        <p:grpSpPr bwMode="auto">
          <a:xfrm>
            <a:off x="1819275" y="3289300"/>
            <a:ext cx="392113" cy="1547813"/>
            <a:chOff x="1473" y="2072"/>
            <a:chExt cx="247" cy="975"/>
          </a:xfrm>
        </p:grpSpPr>
        <p:grpSp>
          <p:nvGrpSpPr>
            <p:cNvPr id="18530" name="Group 56"/>
            <p:cNvGrpSpPr>
              <a:grpSpLocks/>
            </p:cNvGrpSpPr>
            <p:nvPr/>
          </p:nvGrpSpPr>
          <p:grpSpPr bwMode="auto">
            <a:xfrm>
              <a:off x="1473" y="2072"/>
              <a:ext cx="247" cy="288"/>
              <a:chOff x="2277" y="1781"/>
              <a:chExt cx="247" cy="288"/>
            </a:xfrm>
          </p:grpSpPr>
          <p:pic>
            <p:nvPicPr>
              <p:cNvPr id="18537" name="Picture 5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38" name="Text Box 5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31" name="Group 59"/>
            <p:cNvGrpSpPr>
              <a:grpSpLocks/>
            </p:cNvGrpSpPr>
            <p:nvPr/>
          </p:nvGrpSpPr>
          <p:grpSpPr bwMode="auto">
            <a:xfrm>
              <a:off x="1473" y="2415"/>
              <a:ext cx="247" cy="288"/>
              <a:chOff x="2277" y="1781"/>
              <a:chExt cx="247" cy="288"/>
            </a:xfrm>
          </p:grpSpPr>
          <p:pic>
            <p:nvPicPr>
              <p:cNvPr id="18535" name="Picture 6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36" name="Text Box 6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32" name="Group 62"/>
            <p:cNvGrpSpPr>
              <a:grpSpLocks/>
            </p:cNvGrpSpPr>
            <p:nvPr/>
          </p:nvGrpSpPr>
          <p:grpSpPr bwMode="auto">
            <a:xfrm>
              <a:off x="1473" y="2759"/>
              <a:ext cx="247" cy="288"/>
              <a:chOff x="2277" y="1781"/>
              <a:chExt cx="247" cy="288"/>
            </a:xfrm>
          </p:grpSpPr>
          <p:pic>
            <p:nvPicPr>
              <p:cNvPr id="18533" name="Picture 6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34" name="Text Box 6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8448" name="Group 65"/>
          <p:cNvGrpSpPr>
            <a:grpSpLocks/>
          </p:cNvGrpSpPr>
          <p:nvPr/>
        </p:nvGrpSpPr>
        <p:grpSpPr bwMode="auto">
          <a:xfrm>
            <a:off x="5654675" y="3289300"/>
            <a:ext cx="392113" cy="1547813"/>
            <a:chOff x="3406" y="2072"/>
            <a:chExt cx="247" cy="975"/>
          </a:xfrm>
        </p:grpSpPr>
        <p:grpSp>
          <p:nvGrpSpPr>
            <p:cNvPr id="18521" name="Group 66"/>
            <p:cNvGrpSpPr>
              <a:grpSpLocks/>
            </p:cNvGrpSpPr>
            <p:nvPr/>
          </p:nvGrpSpPr>
          <p:grpSpPr bwMode="auto">
            <a:xfrm>
              <a:off x="3406" y="2072"/>
              <a:ext cx="247" cy="288"/>
              <a:chOff x="2277" y="1781"/>
              <a:chExt cx="247" cy="288"/>
            </a:xfrm>
          </p:grpSpPr>
          <p:pic>
            <p:nvPicPr>
              <p:cNvPr id="18528" name="Picture 6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29" name="Text Box 68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22" name="Group 69"/>
            <p:cNvGrpSpPr>
              <a:grpSpLocks/>
            </p:cNvGrpSpPr>
            <p:nvPr/>
          </p:nvGrpSpPr>
          <p:grpSpPr bwMode="auto">
            <a:xfrm>
              <a:off x="3406" y="2415"/>
              <a:ext cx="247" cy="288"/>
              <a:chOff x="2277" y="1781"/>
              <a:chExt cx="247" cy="288"/>
            </a:xfrm>
          </p:grpSpPr>
          <p:pic>
            <p:nvPicPr>
              <p:cNvPr id="18526" name="Picture 7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27" name="Text Box 71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23" name="Group 72"/>
            <p:cNvGrpSpPr>
              <a:grpSpLocks/>
            </p:cNvGrpSpPr>
            <p:nvPr/>
          </p:nvGrpSpPr>
          <p:grpSpPr bwMode="auto">
            <a:xfrm>
              <a:off x="3406" y="2759"/>
              <a:ext cx="247" cy="288"/>
              <a:chOff x="2277" y="1781"/>
              <a:chExt cx="247" cy="288"/>
            </a:xfrm>
          </p:grpSpPr>
          <p:pic>
            <p:nvPicPr>
              <p:cNvPr id="18524" name="Picture 7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25" name="Text Box 74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sp>
        <p:nvSpPr>
          <p:cNvPr id="18449" name="Rectangle 75"/>
          <p:cNvSpPr>
            <a:spLocks noChangeArrowheads="1"/>
          </p:cNvSpPr>
          <p:nvPr/>
        </p:nvSpPr>
        <p:spPr bwMode="auto">
          <a:xfrm>
            <a:off x="4313238" y="2900363"/>
            <a:ext cx="6270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18450" name="Rectangle 76"/>
          <p:cNvSpPr>
            <a:spLocks noChangeArrowheads="1"/>
          </p:cNvSpPr>
          <p:nvPr/>
        </p:nvSpPr>
        <p:spPr bwMode="auto">
          <a:xfrm>
            <a:off x="6275388" y="2900363"/>
            <a:ext cx="11509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fr-FR" altLang="fr-FR" sz="1600">
                <a:solidFill>
                  <a:srgbClr val="FFFFFF"/>
                </a:solidFill>
              </a:rPr>
              <a:t>Collecteur</a:t>
            </a:r>
          </a:p>
        </p:txBody>
      </p:sp>
      <p:grpSp>
        <p:nvGrpSpPr>
          <p:cNvPr id="18451" name="Group 77"/>
          <p:cNvGrpSpPr>
            <a:grpSpLocks/>
          </p:cNvGrpSpPr>
          <p:nvPr/>
        </p:nvGrpSpPr>
        <p:grpSpPr bwMode="auto">
          <a:xfrm>
            <a:off x="6238875" y="3289300"/>
            <a:ext cx="392113" cy="1547813"/>
            <a:chOff x="3760" y="2072"/>
            <a:chExt cx="247" cy="975"/>
          </a:xfrm>
        </p:grpSpPr>
        <p:grpSp>
          <p:nvGrpSpPr>
            <p:cNvPr id="18512" name="Group 78"/>
            <p:cNvGrpSpPr>
              <a:grpSpLocks/>
            </p:cNvGrpSpPr>
            <p:nvPr/>
          </p:nvGrpSpPr>
          <p:grpSpPr bwMode="auto">
            <a:xfrm>
              <a:off x="3760" y="2072"/>
              <a:ext cx="247" cy="288"/>
              <a:chOff x="2277" y="1781"/>
              <a:chExt cx="247" cy="288"/>
            </a:xfrm>
          </p:grpSpPr>
          <p:pic>
            <p:nvPicPr>
              <p:cNvPr id="18519" name="Picture 7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20" name="Text Box 8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13" name="Group 81"/>
            <p:cNvGrpSpPr>
              <a:grpSpLocks/>
            </p:cNvGrpSpPr>
            <p:nvPr/>
          </p:nvGrpSpPr>
          <p:grpSpPr bwMode="auto">
            <a:xfrm>
              <a:off x="3760" y="2415"/>
              <a:ext cx="247" cy="288"/>
              <a:chOff x="2277" y="1781"/>
              <a:chExt cx="247" cy="288"/>
            </a:xfrm>
          </p:grpSpPr>
          <p:pic>
            <p:nvPicPr>
              <p:cNvPr id="18517" name="Picture 8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18" name="Text Box 8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14" name="Group 84"/>
            <p:cNvGrpSpPr>
              <a:grpSpLocks/>
            </p:cNvGrpSpPr>
            <p:nvPr/>
          </p:nvGrpSpPr>
          <p:grpSpPr bwMode="auto">
            <a:xfrm>
              <a:off x="3760" y="2759"/>
              <a:ext cx="247" cy="288"/>
              <a:chOff x="2277" y="1781"/>
              <a:chExt cx="247" cy="288"/>
            </a:xfrm>
          </p:grpSpPr>
          <p:pic>
            <p:nvPicPr>
              <p:cNvPr id="18515" name="Picture 8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16" name="Text Box 8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8452" name="Group 87"/>
          <p:cNvGrpSpPr>
            <a:grpSpLocks/>
          </p:cNvGrpSpPr>
          <p:nvPr/>
        </p:nvGrpSpPr>
        <p:grpSpPr bwMode="auto">
          <a:xfrm>
            <a:off x="6824663" y="3289300"/>
            <a:ext cx="392112" cy="1547813"/>
            <a:chOff x="4077" y="2072"/>
            <a:chExt cx="247" cy="975"/>
          </a:xfrm>
        </p:grpSpPr>
        <p:grpSp>
          <p:nvGrpSpPr>
            <p:cNvPr id="18503" name="Group 88"/>
            <p:cNvGrpSpPr>
              <a:grpSpLocks/>
            </p:cNvGrpSpPr>
            <p:nvPr/>
          </p:nvGrpSpPr>
          <p:grpSpPr bwMode="auto">
            <a:xfrm>
              <a:off x="4077" y="2072"/>
              <a:ext cx="247" cy="288"/>
              <a:chOff x="2277" y="1781"/>
              <a:chExt cx="247" cy="288"/>
            </a:xfrm>
          </p:grpSpPr>
          <p:pic>
            <p:nvPicPr>
              <p:cNvPr id="18510" name="Picture 8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11" name="Text Box 90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04" name="Group 91"/>
            <p:cNvGrpSpPr>
              <a:grpSpLocks/>
            </p:cNvGrpSpPr>
            <p:nvPr/>
          </p:nvGrpSpPr>
          <p:grpSpPr bwMode="auto">
            <a:xfrm>
              <a:off x="4077" y="2415"/>
              <a:ext cx="247" cy="288"/>
              <a:chOff x="2277" y="1781"/>
              <a:chExt cx="247" cy="288"/>
            </a:xfrm>
          </p:grpSpPr>
          <p:pic>
            <p:nvPicPr>
              <p:cNvPr id="18508" name="Picture 9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09" name="Text Box 93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  <p:grpSp>
          <p:nvGrpSpPr>
            <p:cNvPr id="18505" name="Group 94"/>
            <p:cNvGrpSpPr>
              <a:grpSpLocks/>
            </p:cNvGrpSpPr>
            <p:nvPr/>
          </p:nvGrpSpPr>
          <p:grpSpPr bwMode="auto">
            <a:xfrm>
              <a:off x="4077" y="2759"/>
              <a:ext cx="247" cy="288"/>
              <a:chOff x="2277" y="1781"/>
              <a:chExt cx="247" cy="288"/>
            </a:xfrm>
          </p:grpSpPr>
          <p:pic>
            <p:nvPicPr>
              <p:cNvPr id="18506" name="Picture 9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288" y="1813"/>
                <a:ext cx="23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07" name="Text Box 96"/>
              <p:cNvSpPr txBox="1">
                <a:spLocks noChangeArrowheads="1"/>
              </p:cNvSpPr>
              <p:nvPr/>
            </p:nvSpPr>
            <p:spPr bwMode="auto">
              <a:xfrm>
                <a:off x="2277" y="1781"/>
                <a:ext cx="19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+</a:t>
                </a:r>
              </a:p>
            </p:txBody>
          </p:sp>
        </p:grpSp>
      </p:grpSp>
      <p:grpSp>
        <p:nvGrpSpPr>
          <p:cNvPr id="18453" name="Group 97"/>
          <p:cNvGrpSpPr>
            <a:grpSpLocks/>
          </p:cNvGrpSpPr>
          <p:nvPr/>
        </p:nvGrpSpPr>
        <p:grpSpPr bwMode="auto">
          <a:xfrm>
            <a:off x="6831013" y="3302000"/>
            <a:ext cx="74612" cy="1144588"/>
            <a:chOff x="4048" y="2080"/>
            <a:chExt cx="47" cy="721"/>
          </a:xfrm>
        </p:grpSpPr>
        <p:sp>
          <p:nvSpPr>
            <p:cNvPr id="18500" name="Oval 98"/>
            <p:cNvSpPr>
              <a:spLocks noChangeArrowheads="1"/>
            </p:cNvSpPr>
            <p:nvPr/>
          </p:nvSpPr>
          <p:spPr bwMode="auto">
            <a:xfrm>
              <a:off x="4048" y="208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501" name="Oval 99"/>
            <p:cNvSpPr>
              <a:spLocks noChangeArrowheads="1"/>
            </p:cNvSpPr>
            <p:nvPr/>
          </p:nvSpPr>
          <p:spPr bwMode="auto">
            <a:xfrm>
              <a:off x="4048" y="24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502" name="Oval 100"/>
            <p:cNvSpPr>
              <a:spLocks noChangeArrowheads="1"/>
            </p:cNvSpPr>
            <p:nvPr/>
          </p:nvSpPr>
          <p:spPr bwMode="auto">
            <a:xfrm>
              <a:off x="4048" y="2754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54" name="Rectangle 101"/>
          <p:cNvSpPr>
            <a:spLocks noChangeArrowheads="1"/>
          </p:cNvSpPr>
          <p:nvPr/>
        </p:nvSpPr>
        <p:spPr bwMode="auto">
          <a:xfrm>
            <a:off x="1116013" y="1901825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18455" name="Group 102"/>
          <p:cNvGrpSpPr>
            <a:grpSpLocks/>
          </p:cNvGrpSpPr>
          <p:nvPr/>
        </p:nvGrpSpPr>
        <p:grpSpPr bwMode="auto">
          <a:xfrm>
            <a:off x="4592638" y="3289300"/>
            <a:ext cx="411162" cy="1547813"/>
            <a:chOff x="2594" y="2072"/>
            <a:chExt cx="259" cy="975"/>
          </a:xfrm>
        </p:grpSpPr>
        <p:grpSp>
          <p:nvGrpSpPr>
            <p:cNvPr id="18491" name="Group 103"/>
            <p:cNvGrpSpPr>
              <a:grpSpLocks/>
            </p:cNvGrpSpPr>
            <p:nvPr/>
          </p:nvGrpSpPr>
          <p:grpSpPr bwMode="auto">
            <a:xfrm>
              <a:off x="2594" y="2072"/>
              <a:ext cx="259" cy="288"/>
              <a:chOff x="2675" y="1769"/>
              <a:chExt cx="259" cy="288"/>
            </a:xfrm>
          </p:grpSpPr>
          <p:pic>
            <p:nvPicPr>
              <p:cNvPr id="18498" name="Picture 10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499" name="Text Box 105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492" name="Group 106"/>
            <p:cNvGrpSpPr>
              <a:grpSpLocks/>
            </p:cNvGrpSpPr>
            <p:nvPr/>
          </p:nvGrpSpPr>
          <p:grpSpPr bwMode="auto">
            <a:xfrm>
              <a:off x="2594" y="2415"/>
              <a:ext cx="259" cy="288"/>
              <a:chOff x="2675" y="1769"/>
              <a:chExt cx="259" cy="288"/>
            </a:xfrm>
          </p:grpSpPr>
          <p:pic>
            <p:nvPicPr>
              <p:cNvPr id="18496" name="Picture 10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497" name="Text Box 10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493" name="Group 109"/>
            <p:cNvGrpSpPr>
              <a:grpSpLocks/>
            </p:cNvGrpSpPr>
            <p:nvPr/>
          </p:nvGrpSpPr>
          <p:grpSpPr bwMode="auto">
            <a:xfrm>
              <a:off x="2594" y="2759"/>
              <a:ext cx="259" cy="288"/>
              <a:chOff x="2675" y="1769"/>
              <a:chExt cx="259" cy="288"/>
            </a:xfrm>
          </p:grpSpPr>
          <p:pic>
            <p:nvPicPr>
              <p:cNvPr id="18494" name="Picture 11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495" name="Text Box 11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8456" name="Text Box 112"/>
          <p:cNvSpPr txBox="1">
            <a:spLocks noChangeArrowheads="1"/>
          </p:cNvSpPr>
          <p:nvPr/>
        </p:nvSpPr>
        <p:spPr bwMode="auto">
          <a:xfrm>
            <a:off x="1406525" y="717550"/>
            <a:ext cx="44719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Au niveau de la base</a:t>
            </a:r>
            <a:endParaRPr lang="fr-FR" altLang="fr-FR"/>
          </a:p>
        </p:txBody>
      </p:sp>
      <p:sp>
        <p:nvSpPr>
          <p:cNvPr id="18457" name="Text Box 113"/>
          <p:cNvSpPr txBox="1">
            <a:spLocks noChangeArrowheads="1"/>
          </p:cNvSpPr>
          <p:nvPr/>
        </p:nvSpPr>
        <p:spPr bwMode="auto">
          <a:xfrm>
            <a:off x="1116013" y="1992313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Courant de trous </a:t>
            </a:r>
            <a:r>
              <a:rPr lang="fr-FR" altLang="fr-FR" sz="2000"/>
              <a:t>de la base vers l’émetteur</a:t>
            </a:r>
          </a:p>
        </p:txBody>
      </p:sp>
      <p:sp>
        <p:nvSpPr>
          <p:cNvPr id="18458" name="Line 114"/>
          <p:cNvSpPr>
            <a:spLocks noChangeShapeType="1"/>
          </p:cNvSpPr>
          <p:nvPr/>
        </p:nvSpPr>
        <p:spPr bwMode="auto">
          <a:xfrm rot="10800000">
            <a:off x="7508875" y="3935413"/>
            <a:ext cx="868363" cy="1587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18459" name="Group 115"/>
          <p:cNvGrpSpPr>
            <a:grpSpLocks/>
          </p:cNvGrpSpPr>
          <p:nvPr/>
        </p:nvGrpSpPr>
        <p:grpSpPr bwMode="auto">
          <a:xfrm>
            <a:off x="3465513" y="3289300"/>
            <a:ext cx="411162" cy="1547813"/>
            <a:chOff x="2346" y="2072"/>
            <a:chExt cx="259" cy="975"/>
          </a:xfrm>
        </p:grpSpPr>
        <p:grpSp>
          <p:nvGrpSpPr>
            <p:cNvPr id="18482" name="Group 116"/>
            <p:cNvGrpSpPr>
              <a:grpSpLocks/>
            </p:cNvGrpSpPr>
            <p:nvPr/>
          </p:nvGrpSpPr>
          <p:grpSpPr bwMode="auto">
            <a:xfrm>
              <a:off x="2346" y="2072"/>
              <a:ext cx="259" cy="288"/>
              <a:chOff x="2675" y="1769"/>
              <a:chExt cx="259" cy="288"/>
            </a:xfrm>
          </p:grpSpPr>
          <p:pic>
            <p:nvPicPr>
              <p:cNvPr id="18489" name="Picture 117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490" name="Text Box 118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483" name="Group 119"/>
            <p:cNvGrpSpPr>
              <a:grpSpLocks/>
            </p:cNvGrpSpPr>
            <p:nvPr/>
          </p:nvGrpSpPr>
          <p:grpSpPr bwMode="auto">
            <a:xfrm>
              <a:off x="2346" y="2415"/>
              <a:ext cx="259" cy="288"/>
              <a:chOff x="2675" y="1769"/>
              <a:chExt cx="259" cy="288"/>
            </a:xfrm>
          </p:grpSpPr>
          <p:pic>
            <p:nvPicPr>
              <p:cNvPr id="18487" name="Picture 120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488" name="Text Box 121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  <p:grpSp>
          <p:nvGrpSpPr>
            <p:cNvPr id="18484" name="Group 122"/>
            <p:cNvGrpSpPr>
              <a:grpSpLocks/>
            </p:cNvGrpSpPr>
            <p:nvPr/>
          </p:nvGrpSpPr>
          <p:grpSpPr bwMode="auto">
            <a:xfrm>
              <a:off x="2346" y="2759"/>
              <a:ext cx="259" cy="288"/>
              <a:chOff x="2675" y="1769"/>
              <a:chExt cx="259" cy="288"/>
            </a:xfrm>
          </p:grpSpPr>
          <p:pic>
            <p:nvPicPr>
              <p:cNvPr id="18485" name="Picture 123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2675" y="1804"/>
                <a:ext cx="259" cy="2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486" name="Text Box 124"/>
              <p:cNvSpPr txBox="1">
                <a:spLocks noChangeArrowheads="1"/>
              </p:cNvSpPr>
              <p:nvPr/>
            </p:nvSpPr>
            <p:spPr bwMode="auto">
              <a:xfrm>
                <a:off x="2726" y="1769"/>
                <a:ext cx="13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fr-FR" altLang="fr-FR" sz="2400">
                    <a:solidFill>
                      <a:schemeClr val="bg2"/>
                    </a:solidFill>
                    <a:latin typeface="Tahoma" pitchFamily="34" charset="0"/>
                  </a:rPr>
                  <a:t>-</a:t>
                </a:r>
              </a:p>
            </p:txBody>
          </p:sp>
        </p:grpSp>
      </p:grpSp>
      <p:sp>
        <p:nvSpPr>
          <p:cNvPr id="18460" name="Line 129"/>
          <p:cNvSpPr>
            <a:spLocks noChangeShapeType="1"/>
          </p:cNvSpPr>
          <p:nvPr/>
        </p:nvSpPr>
        <p:spPr bwMode="auto">
          <a:xfrm flipV="1">
            <a:off x="3057525" y="6254750"/>
            <a:ext cx="1314450" cy="1588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18461" name="Picture 130" descr="vpol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47825" y="5659438"/>
            <a:ext cx="151447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62" name="Line 131"/>
          <p:cNvSpPr>
            <a:spLocks noChangeShapeType="1"/>
          </p:cNvSpPr>
          <p:nvPr/>
        </p:nvSpPr>
        <p:spPr bwMode="auto">
          <a:xfrm flipV="1">
            <a:off x="4037013" y="6254750"/>
            <a:ext cx="1466850" cy="1588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18463" name="Picture 132" descr="vpol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22900" y="5659438"/>
            <a:ext cx="151447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64" name="Oval 133"/>
          <p:cNvSpPr>
            <a:spLocks noChangeArrowheads="1"/>
          </p:cNvSpPr>
          <p:nvPr/>
        </p:nvSpPr>
        <p:spPr bwMode="auto">
          <a:xfrm>
            <a:off x="2711450" y="33020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65" name="Oval 134"/>
          <p:cNvSpPr>
            <a:spLocks noChangeArrowheads="1"/>
          </p:cNvSpPr>
          <p:nvPr/>
        </p:nvSpPr>
        <p:spPr bwMode="auto">
          <a:xfrm>
            <a:off x="2711450" y="38369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66" name="Oval 135"/>
          <p:cNvSpPr>
            <a:spLocks noChangeArrowheads="1"/>
          </p:cNvSpPr>
          <p:nvPr/>
        </p:nvSpPr>
        <p:spPr bwMode="auto">
          <a:xfrm>
            <a:off x="2711450" y="4371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67" name="Oval 136"/>
          <p:cNvSpPr>
            <a:spLocks noChangeArrowheads="1"/>
          </p:cNvSpPr>
          <p:nvPr/>
        </p:nvSpPr>
        <p:spPr bwMode="auto">
          <a:xfrm>
            <a:off x="2135188" y="330200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68" name="Oval 137"/>
          <p:cNvSpPr>
            <a:spLocks noChangeArrowheads="1"/>
          </p:cNvSpPr>
          <p:nvPr/>
        </p:nvSpPr>
        <p:spPr bwMode="auto">
          <a:xfrm>
            <a:off x="2135188" y="383698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69" name="Oval 138"/>
          <p:cNvSpPr>
            <a:spLocks noChangeArrowheads="1"/>
          </p:cNvSpPr>
          <p:nvPr/>
        </p:nvSpPr>
        <p:spPr bwMode="auto">
          <a:xfrm>
            <a:off x="2135188" y="43719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70" name="Oval 139"/>
          <p:cNvSpPr>
            <a:spLocks noChangeArrowheads="1"/>
          </p:cNvSpPr>
          <p:nvPr/>
        </p:nvSpPr>
        <p:spPr bwMode="auto">
          <a:xfrm>
            <a:off x="3251200" y="33020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71" name="Oval 140"/>
          <p:cNvSpPr>
            <a:spLocks noChangeArrowheads="1"/>
          </p:cNvSpPr>
          <p:nvPr/>
        </p:nvSpPr>
        <p:spPr bwMode="auto">
          <a:xfrm>
            <a:off x="3251200" y="4371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8472" name="Oval 141"/>
          <p:cNvSpPr>
            <a:spLocks noChangeArrowheads="1"/>
          </p:cNvSpPr>
          <p:nvPr/>
        </p:nvSpPr>
        <p:spPr bwMode="auto">
          <a:xfrm>
            <a:off x="3251200" y="38369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98486" name="Group 150"/>
          <p:cNvGrpSpPr>
            <a:grpSpLocks/>
          </p:cNvGrpSpPr>
          <p:nvPr/>
        </p:nvGrpSpPr>
        <p:grpSpPr bwMode="auto">
          <a:xfrm>
            <a:off x="3783013" y="4994275"/>
            <a:ext cx="719137" cy="719138"/>
            <a:chOff x="2984" y="3218"/>
            <a:chExt cx="453" cy="453"/>
          </a:xfrm>
        </p:grpSpPr>
        <p:sp>
          <p:nvSpPr>
            <p:cNvPr id="18480" name="AutoShape 151"/>
            <p:cNvSpPr>
              <a:spLocks noChangeArrowheads="1"/>
            </p:cNvSpPr>
            <p:nvPr/>
          </p:nvSpPr>
          <p:spPr bwMode="auto">
            <a:xfrm>
              <a:off x="3258" y="3218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8481" name="Text Box 152"/>
            <p:cNvSpPr txBox="1">
              <a:spLocks noChangeArrowheads="1"/>
            </p:cNvSpPr>
            <p:nvPr/>
          </p:nvSpPr>
          <p:spPr bwMode="auto">
            <a:xfrm>
              <a:off x="2984" y="3301"/>
              <a:ext cx="408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/>
                <a:t>Ib</a:t>
              </a:r>
            </a:p>
          </p:txBody>
        </p:sp>
      </p:grpSp>
      <p:sp>
        <p:nvSpPr>
          <p:cNvPr id="398376" name="Oval 40"/>
          <p:cNvSpPr>
            <a:spLocks noChangeArrowheads="1"/>
          </p:cNvSpPr>
          <p:nvPr/>
        </p:nvSpPr>
        <p:spPr bwMode="auto">
          <a:xfrm>
            <a:off x="4386263" y="3827463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8377" name="Oval 41"/>
          <p:cNvSpPr>
            <a:spLocks noChangeArrowheads="1"/>
          </p:cNvSpPr>
          <p:nvPr/>
        </p:nvSpPr>
        <p:spPr bwMode="auto">
          <a:xfrm>
            <a:off x="4386263" y="44005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8378" name="Oval 42"/>
          <p:cNvSpPr>
            <a:spLocks noChangeArrowheads="1"/>
          </p:cNvSpPr>
          <p:nvPr/>
        </p:nvSpPr>
        <p:spPr bwMode="auto">
          <a:xfrm>
            <a:off x="4386263" y="32591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8462" name="Oval 126"/>
          <p:cNvSpPr>
            <a:spLocks noChangeArrowheads="1"/>
          </p:cNvSpPr>
          <p:nvPr/>
        </p:nvSpPr>
        <p:spPr bwMode="auto">
          <a:xfrm>
            <a:off x="3773488" y="3827463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8463" name="Oval 127"/>
          <p:cNvSpPr>
            <a:spLocks noChangeArrowheads="1"/>
          </p:cNvSpPr>
          <p:nvPr/>
        </p:nvSpPr>
        <p:spPr bwMode="auto">
          <a:xfrm>
            <a:off x="3773488" y="44005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8464" name="Oval 128"/>
          <p:cNvSpPr>
            <a:spLocks noChangeArrowheads="1"/>
          </p:cNvSpPr>
          <p:nvPr/>
        </p:nvSpPr>
        <p:spPr bwMode="auto">
          <a:xfrm>
            <a:off x="3773488" y="32591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47 L -0.29878 0.00602 L -0.29878 0.34491 L 0.05868 0.34607 L 0.05799 0.13704 L -0.00035 0.00047 Z " pathEditMode="relative" ptsTypes="AAAAAA">
                                      <p:cBhvr>
                                        <p:cTn id="6" dur="3000" fill="hold"/>
                                        <p:tgtEl>
                                          <p:spTgt spid="398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35 0.00023 L -0.22882 -0.07755 L -0.29705 -0.07755 L -0.29878 0.26134 L 0.05868 0.2625 L 0.05799 0.05347 L 0.00035 0.00023 Z " pathEditMode="relative" ptsTypes="AAAAAAA">
                                      <p:cBhvr>
                                        <p:cTn id="8" dur="3000" fill="hold"/>
                                        <p:tgtEl>
                                          <p:spTgt spid="398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35 -3.33333E-6 L -0.22622 0.08773 L -0.29878 0.08773 L -0.29878 0.42778 L 0.05799 0.42894 L 0.05712 0.21898 L 0.00035 -3.33333E-6 Z " pathEditMode="relative" ptsTypes="AAAAAAA">
                                      <p:cBhvr>
                                        <p:cTn id="10" dur="3000" fill="hold"/>
                                        <p:tgtEl>
                                          <p:spTgt spid="398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1.94444E-6 7.40741E-6 L -0.30243 0.08889 L -0.36406 0.09121 L -0.3658 0.42894 L -0.00989 0.43126 L -0.00989 0.21667 L 1.94444E-6 7.40741E-6 Z " pathEditMode="relative" ptsTypes="AAAAAAA">
                                      <p:cBhvr>
                                        <p:cTn id="12" dur="3000" fill="hold"/>
                                        <p:tgtEl>
                                          <p:spTgt spid="3983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9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087 -0.00069 L -0.36406 0.00602 L -0.36579 0.34723 L -0.00833 0.34491 L -0.00902 0.13149 L 0.00087 -0.00069 Z " pathEditMode="relative" ptsTypes="AAAAAA">
                                      <p:cBhvr>
                                        <p:cTn id="17" dur="3000" fill="hold"/>
                                        <p:tgtEl>
                                          <p:spTgt spid="3983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repeatCount="indefinite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3.88889E-6 -2.22222E-6 L -0.30243 -0.08102 L -0.36493 -0.08102 L -0.36579 0.25903 L -0.00902 0.25787 L -0.00902 0.05556 L -3.88889E-6 -2.22222E-6 Z " pathEditMode="relative" ptsTypes="AAAAAAA">
                                      <p:cBhvr>
                                        <p:cTn id="19" dur="3000" fill="hold"/>
                                        <p:tgtEl>
                                          <p:spTgt spid="3983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76" grpId="0" animBg="1"/>
      <p:bldP spid="398377" grpId="0" animBg="1"/>
      <p:bldP spid="398378" grpId="0" animBg="1"/>
      <p:bldP spid="398462" grpId="0" animBg="1"/>
      <p:bldP spid="398463" grpId="0" animBg="1"/>
      <p:bldP spid="3984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484313" y="4033838"/>
            <a:ext cx="404812" cy="200025"/>
          </a:xfrm>
          <a:prstGeom prst="rect">
            <a:avLst/>
          </a:prstGeom>
          <a:solidFill>
            <a:srgbClr val="99FF33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33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4613" y="5268913"/>
            <a:ext cx="211137" cy="8715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890713" y="2520950"/>
            <a:ext cx="3121025" cy="3303588"/>
          </a:xfrm>
          <a:prstGeom prst="rect">
            <a:avLst/>
          </a:prstGeom>
          <a:solidFill>
            <a:srgbClr val="99FF33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33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2744788" y="2519363"/>
            <a:ext cx="4930775" cy="3325812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62" name="Rectangle 10"/>
          <p:cNvSpPr>
            <a:spLocks noChangeArrowheads="1"/>
          </p:cNvSpPr>
          <p:nvPr/>
        </p:nvSpPr>
        <p:spPr bwMode="auto">
          <a:xfrm rot="10800000" flipV="1">
            <a:off x="5751513" y="2519363"/>
            <a:ext cx="1466850" cy="3317875"/>
          </a:xfrm>
          <a:prstGeom prst="rect">
            <a:avLst/>
          </a:prstGeom>
          <a:solidFill>
            <a:srgbClr val="FF99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9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63" name="Text Box 14"/>
          <p:cNvSpPr txBox="1">
            <a:spLocks noChangeArrowheads="1"/>
          </p:cNvSpPr>
          <p:nvPr/>
        </p:nvSpPr>
        <p:spPr bwMode="auto">
          <a:xfrm>
            <a:off x="4391025" y="5883275"/>
            <a:ext cx="682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Base</a:t>
            </a:r>
          </a:p>
        </p:txBody>
      </p:sp>
      <p:sp>
        <p:nvSpPr>
          <p:cNvPr id="19464" name="Text Box 15"/>
          <p:cNvSpPr txBox="1">
            <a:spLocks noChangeArrowheads="1"/>
          </p:cNvSpPr>
          <p:nvPr/>
        </p:nvSpPr>
        <p:spPr bwMode="auto">
          <a:xfrm rot="-5400000">
            <a:off x="7643813" y="4802187"/>
            <a:ext cx="12715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Collecteur</a:t>
            </a:r>
          </a:p>
        </p:txBody>
      </p:sp>
      <p:sp>
        <p:nvSpPr>
          <p:cNvPr id="19465" name="Text Box 16"/>
          <p:cNvSpPr txBox="1">
            <a:spLocks noChangeArrowheads="1"/>
          </p:cNvSpPr>
          <p:nvPr/>
        </p:nvSpPr>
        <p:spPr bwMode="auto">
          <a:xfrm rot="-5400000">
            <a:off x="1124744" y="4766469"/>
            <a:ext cx="1200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Émetteur</a:t>
            </a:r>
          </a:p>
        </p:txBody>
      </p:sp>
      <p:sp>
        <p:nvSpPr>
          <p:cNvPr id="19466" name="Rectangle 17"/>
          <p:cNvSpPr>
            <a:spLocks noChangeArrowheads="1"/>
          </p:cNvSpPr>
          <p:nvPr/>
        </p:nvSpPr>
        <p:spPr bwMode="auto">
          <a:xfrm rot="10800000" flipV="1">
            <a:off x="6221413" y="2520950"/>
            <a:ext cx="733425" cy="3332163"/>
          </a:xfrm>
          <a:prstGeom prst="rect">
            <a:avLst/>
          </a:prstGeom>
          <a:solidFill>
            <a:srgbClr val="CCFFCC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CCFFCC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67" name="Rectangle 18"/>
          <p:cNvSpPr>
            <a:spLocks noChangeArrowheads="1"/>
          </p:cNvSpPr>
          <p:nvPr/>
        </p:nvSpPr>
        <p:spPr bwMode="auto">
          <a:xfrm>
            <a:off x="6688138" y="2519363"/>
            <a:ext cx="1003300" cy="3335337"/>
          </a:xfrm>
          <a:prstGeom prst="rect">
            <a:avLst/>
          </a:prstGeom>
          <a:solidFill>
            <a:srgbClr val="99FF33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33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19468" name="Rectangle 19"/>
          <p:cNvSpPr>
            <a:spLocks noChangeArrowheads="1"/>
          </p:cNvSpPr>
          <p:nvPr/>
        </p:nvSpPr>
        <p:spPr bwMode="auto">
          <a:xfrm>
            <a:off x="7681913" y="4032250"/>
            <a:ext cx="404812" cy="200025"/>
          </a:xfrm>
          <a:prstGeom prst="rect">
            <a:avLst/>
          </a:prstGeom>
          <a:solidFill>
            <a:srgbClr val="99FF33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FF33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301076" name="Group 20"/>
          <p:cNvGrpSpPr>
            <a:grpSpLocks/>
          </p:cNvGrpSpPr>
          <p:nvPr/>
        </p:nvGrpSpPr>
        <p:grpSpPr bwMode="auto">
          <a:xfrm>
            <a:off x="1960563" y="2770188"/>
            <a:ext cx="1531937" cy="600075"/>
            <a:chOff x="851" y="2017"/>
            <a:chExt cx="965" cy="378"/>
          </a:xfrm>
        </p:grpSpPr>
        <p:sp>
          <p:nvSpPr>
            <p:cNvPr id="19623" name="AutoShape 21"/>
            <p:cNvSpPr>
              <a:spLocks noChangeArrowheads="1"/>
            </p:cNvSpPr>
            <p:nvPr/>
          </p:nvSpPr>
          <p:spPr bwMode="auto">
            <a:xfrm>
              <a:off x="893" y="2017"/>
              <a:ext cx="906" cy="378"/>
            </a:xfrm>
            <a:prstGeom prst="rightArrow">
              <a:avLst>
                <a:gd name="adj1" fmla="val 70324"/>
                <a:gd name="adj2" fmla="val 48780"/>
              </a:avLst>
            </a:prstGeom>
            <a:solidFill>
              <a:srgbClr val="FBFAE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BFAE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9624" name="Text Box 22"/>
            <p:cNvSpPr txBox="1">
              <a:spLocks noChangeArrowheads="1"/>
            </p:cNvSpPr>
            <p:nvPr/>
          </p:nvSpPr>
          <p:spPr bwMode="auto">
            <a:xfrm>
              <a:off x="851" y="2098"/>
              <a:ext cx="96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000"/>
                <a:t>e- injectés</a:t>
              </a:r>
            </a:p>
          </p:txBody>
        </p:sp>
      </p:grpSp>
      <p:grpSp>
        <p:nvGrpSpPr>
          <p:cNvPr id="301079" name="Group 23"/>
          <p:cNvGrpSpPr>
            <a:grpSpLocks/>
          </p:cNvGrpSpPr>
          <p:nvPr/>
        </p:nvGrpSpPr>
        <p:grpSpPr bwMode="auto">
          <a:xfrm>
            <a:off x="3592513" y="2770188"/>
            <a:ext cx="1889125" cy="600075"/>
            <a:chOff x="1879" y="2017"/>
            <a:chExt cx="1190" cy="378"/>
          </a:xfrm>
        </p:grpSpPr>
        <p:sp>
          <p:nvSpPr>
            <p:cNvPr id="19621" name="AutoShape 24"/>
            <p:cNvSpPr>
              <a:spLocks noChangeArrowheads="1"/>
            </p:cNvSpPr>
            <p:nvPr/>
          </p:nvSpPr>
          <p:spPr bwMode="auto">
            <a:xfrm>
              <a:off x="1879" y="2017"/>
              <a:ext cx="1190" cy="378"/>
            </a:xfrm>
            <a:prstGeom prst="rightArrow">
              <a:avLst>
                <a:gd name="adj1" fmla="val 70324"/>
                <a:gd name="adj2" fmla="val 64071"/>
              </a:avLst>
            </a:prstGeom>
            <a:solidFill>
              <a:srgbClr val="FBFAE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BFAE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9622" name="Text Box 25"/>
            <p:cNvSpPr txBox="1">
              <a:spLocks noChangeArrowheads="1"/>
            </p:cNvSpPr>
            <p:nvPr/>
          </p:nvSpPr>
          <p:spPr bwMode="auto">
            <a:xfrm>
              <a:off x="1886" y="2099"/>
              <a:ext cx="113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000"/>
                <a:t>e- diffusants</a:t>
              </a:r>
            </a:p>
          </p:txBody>
        </p:sp>
      </p:grpSp>
      <p:grpSp>
        <p:nvGrpSpPr>
          <p:cNvPr id="301082" name="Group 26"/>
          <p:cNvGrpSpPr>
            <a:grpSpLocks/>
          </p:cNvGrpSpPr>
          <p:nvPr/>
        </p:nvGrpSpPr>
        <p:grpSpPr bwMode="auto">
          <a:xfrm>
            <a:off x="5559425" y="2770188"/>
            <a:ext cx="2001838" cy="600075"/>
            <a:chOff x="3118" y="2017"/>
            <a:chExt cx="1261" cy="378"/>
          </a:xfrm>
        </p:grpSpPr>
        <p:sp>
          <p:nvSpPr>
            <p:cNvPr id="19619" name="AutoShape 27"/>
            <p:cNvSpPr>
              <a:spLocks noChangeArrowheads="1"/>
            </p:cNvSpPr>
            <p:nvPr/>
          </p:nvSpPr>
          <p:spPr bwMode="auto">
            <a:xfrm>
              <a:off x="3118" y="2017"/>
              <a:ext cx="1261" cy="378"/>
            </a:xfrm>
            <a:prstGeom prst="rightArrow">
              <a:avLst>
                <a:gd name="adj1" fmla="val 70324"/>
                <a:gd name="adj2" fmla="val 67893"/>
              </a:avLst>
            </a:prstGeom>
            <a:solidFill>
              <a:srgbClr val="FBFAE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BFAE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9620" name="Text Box 28"/>
            <p:cNvSpPr txBox="1">
              <a:spLocks noChangeArrowheads="1"/>
            </p:cNvSpPr>
            <p:nvPr/>
          </p:nvSpPr>
          <p:spPr bwMode="auto">
            <a:xfrm>
              <a:off x="3204" y="2092"/>
              <a:ext cx="99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000"/>
                <a:t>e- collectés</a:t>
              </a:r>
            </a:p>
          </p:txBody>
        </p:sp>
      </p:grpSp>
      <p:grpSp>
        <p:nvGrpSpPr>
          <p:cNvPr id="301085" name="Group 29"/>
          <p:cNvGrpSpPr>
            <a:grpSpLocks/>
          </p:cNvGrpSpPr>
          <p:nvPr/>
        </p:nvGrpSpPr>
        <p:grpSpPr bwMode="auto">
          <a:xfrm>
            <a:off x="2867025" y="3792538"/>
            <a:ext cx="2319338" cy="701675"/>
            <a:chOff x="1422" y="2589"/>
            <a:chExt cx="1461" cy="442"/>
          </a:xfrm>
        </p:grpSpPr>
        <p:sp>
          <p:nvSpPr>
            <p:cNvPr id="19617" name="AutoShape 30"/>
            <p:cNvSpPr>
              <a:spLocks noChangeArrowheads="1"/>
            </p:cNvSpPr>
            <p:nvPr/>
          </p:nvSpPr>
          <p:spPr bwMode="auto">
            <a:xfrm rot="2494378">
              <a:off x="1542" y="2723"/>
              <a:ext cx="906" cy="239"/>
            </a:xfrm>
            <a:prstGeom prst="rightArrow">
              <a:avLst>
                <a:gd name="adj1" fmla="val 70324"/>
                <a:gd name="adj2" fmla="val 77150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9618" name="Text Box 31"/>
            <p:cNvSpPr txBox="1">
              <a:spLocks noChangeArrowheads="1"/>
            </p:cNvSpPr>
            <p:nvPr/>
          </p:nvSpPr>
          <p:spPr bwMode="auto">
            <a:xfrm>
              <a:off x="1422" y="2589"/>
              <a:ext cx="146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000"/>
                <a:t>e- se recombinant dans la base</a:t>
              </a:r>
            </a:p>
          </p:txBody>
        </p:sp>
      </p:grpSp>
      <p:grpSp>
        <p:nvGrpSpPr>
          <p:cNvPr id="19473" name="Group 32"/>
          <p:cNvGrpSpPr>
            <a:grpSpLocks/>
          </p:cNvGrpSpPr>
          <p:nvPr/>
        </p:nvGrpSpPr>
        <p:grpSpPr bwMode="auto">
          <a:xfrm>
            <a:off x="2192338" y="2555875"/>
            <a:ext cx="365125" cy="3184525"/>
            <a:chOff x="997" y="1882"/>
            <a:chExt cx="230" cy="2006"/>
          </a:xfrm>
        </p:grpSpPr>
        <p:grpSp>
          <p:nvGrpSpPr>
            <p:cNvPr id="19597" name="Group 33"/>
            <p:cNvGrpSpPr>
              <a:grpSpLocks/>
            </p:cNvGrpSpPr>
            <p:nvPr/>
          </p:nvGrpSpPr>
          <p:grpSpPr bwMode="auto">
            <a:xfrm>
              <a:off x="997" y="1882"/>
              <a:ext cx="143" cy="144"/>
              <a:chOff x="2427" y="3155"/>
              <a:chExt cx="96" cy="108"/>
            </a:xfrm>
          </p:grpSpPr>
          <p:pic>
            <p:nvPicPr>
              <p:cNvPr id="19614" name="Picture 34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615" name="Line 35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616" name="Line 36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98" name="Group 37"/>
            <p:cNvGrpSpPr>
              <a:grpSpLocks/>
            </p:cNvGrpSpPr>
            <p:nvPr/>
          </p:nvGrpSpPr>
          <p:grpSpPr bwMode="auto">
            <a:xfrm>
              <a:off x="997" y="2537"/>
              <a:ext cx="143" cy="144"/>
              <a:chOff x="2427" y="3155"/>
              <a:chExt cx="96" cy="108"/>
            </a:xfrm>
          </p:grpSpPr>
          <p:pic>
            <p:nvPicPr>
              <p:cNvPr id="19611" name="Picture 38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612" name="Line 39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613" name="Line 40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99" name="Group 41"/>
            <p:cNvGrpSpPr>
              <a:grpSpLocks/>
            </p:cNvGrpSpPr>
            <p:nvPr/>
          </p:nvGrpSpPr>
          <p:grpSpPr bwMode="auto">
            <a:xfrm>
              <a:off x="997" y="3168"/>
              <a:ext cx="143" cy="144"/>
              <a:chOff x="2427" y="3155"/>
              <a:chExt cx="96" cy="108"/>
            </a:xfrm>
          </p:grpSpPr>
          <p:pic>
            <p:nvPicPr>
              <p:cNvPr id="19608" name="Picture 42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609" name="Line 43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610" name="Line 44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600" name="Group 45"/>
            <p:cNvGrpSpPr>
              <a:grpSpLocks/>
            </p:cNvGrpSpPr>
            <p:nvPr/>
          </p:nvGrpSpPr>
          <p:grpSpPr bwMode="auto">
            <a:xfrm>
              <a:off x="997" y="3744"/>
              <a:ext cx="143" cy="144"/>
              <a:chOff x="2427" y="3155"/>
              <a:chExt cx="96" cy="108"/>
            </a:xfrm>
          </p:grpSpPr>
          <p:pic>
            <p:nvPicPr>
              <p:cNvPr id="19605" name="Picture 46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606" name="Line 47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607" name="Line 48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9601" name="Oval 49"/>
            <p:cNvSpPr>
              <a:spLocks noChangeArrowheads="1"/>
            </p:cNvSpPr>
            <p:nvPr/>
          </p:nvSpPr>
          <p:spPr bwMode="auto">
            <a:xfrm flipH="1" flipV="1">
              <a:off x="1180" y="1931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602" name="Oval 50"/>
            <p:cNvSpPr>
              <a:spLocks noChangeArrowheads="1"/>
            </p:cNvSpPr>
            <p:nvPr/>
          </p:nvSpPr>
          <p:spPr bwMode="auto">
            <a:xfrm flipH="1" flipV="1">
              <a:off x="1180" y="2586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603" name="Oval 51"/>
            <p:cNvSpPr>
              <a:spLocks noChangeArrowheads="1"/>
            </p:cNvSpPr>
            <p:nvPr/>
          </p:nvSpPr>
          <p:spPr bwMode="auto">
            <a:xfrm flipH="1" flipV="1">
              <a:off x="1180" y="32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604" name="Oval 52"/>
            <p:cNvSpPr>
              <a:spLocks noChangeArrowheads="1"/>
            </p:cNvSpPr>
            <p:nvPr/>
          </p:nvSpPr>
          <p:spPr bwMode="auto">
            <a:xfrm flipH="1" flipV="1">
              <a:off x="1180" y="3793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74" name="Group 53"/>
          <p:cNvGrpSpPr>
            <a:grpSpLocks/>
          </p:cNvGrpSpPr>
          <p:nvPr/>
        </p:nvGrpSpPr>
        <p:grpSpPr bwMode="auto">
          <a:xfrm>
            <a:off x="6997700" y="2555875"/>
            <a:ext cx="365125" cy="3184525"/>
            <a:chOff x="997" y="1882"/>
            <a:chExt cx="230" cy="2006"/>
          </a:xfrm>
        </p:grpSpPr>
        <p:grpSp>
          <p:nvGrpSpPr>
            <p:cNvPr id="19577" name="Group 54"/>
            <p:cNvGrpSpPr>
              <a:grpSpLocks/>
            </p:cNvGrpSpPr>
            <p:nvPr/>
          </p:nvGrpSpPr>
          <p:grpSpPr bwMode="auto">
            <a:xfrm>
              <a:off x="997" y="1882"/>
              <a:ext cx="143" cy="144"/>
              <a:chOff x="2427" y="3155"/>
              <a:chExt cx="96" cy="108"/>
            </a:xfrm>
          </p:grpSpPr>
          <p:pic>
            <p:nvPicPr>
              <p:cNvPr id="19594" name="Picture 55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95" name="Line 56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96" name="Line 57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78" name="Group 58"/>
            <p:cNvGrpSpPr>
              <a:grpSpLocks/>
            </p:cNvGrpSpPr>
            <p:nvPr/>
          </p:nvGrpSpPr>
          <p:grpSpPr bwMode="auto">
            <a:xfrm>
              <a:off x="997" y="2537"/>
              <a:ext cx="143" cy="144"/>
              <a:chOff x="2427" y="3155"/>
              <a:chExt cx="96" cy="108"/>
            </a:xfrm>
          </p:grpSpPr>
          <p:pic>
            <p:nvPicPr>
              <p:cNvPr id="19591" name="Picture 59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92" name="Line 60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93" name="Line 61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79" name="Group 62"/>
            <p:cNvGrpSpPr>
              <a:grpSpLocks/>
            </p:cNvGrpSpPr>
            <p:nvPr/>
          </p:nvGrpSpPr>
          <p:grpSpPr bwMode="auto">
            <a:xfrm>
              <a:off x="997" y="3168"/>
              <a:ext cx="143" cy="144"/>
              <a:chOff x="2427" y="3155"/>
              <a:chExt cx="96" cy="108"/>
            </a:xfrm>
          </p:grpSpPr>
          <p:pic>
            <p:nvPicPr>
              <p:cNvPr id="19588" name="Picture 63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89" name="Line 64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90" name="Line 65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80" name="Group 66"/>
            <p:cNvGrpSpPr>
              <a:grpSpLocks/>
            </p:cNvGrpSpPr>
            <p:nvPr/>
          </p:nvGrpSpPr>
          <p:grpSpPr bwMode="auto">
            <a:xfrm>
              <a:off x="997" y="3744"/>
              <a:ext cx="143" cy="144"/>
              <a:chOff x="2427" y="3155"/>
              <a:chExt cx="96" cy="108"/>
            </a:xfrm>
          </p:grpSpPr>
          <p:pic>
            <p:nvPicPr>
              <p:cNvPr id="19585" name="Picture 67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86" name="Line 68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87" name="Line 69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9581" name="Oval 70"/>
            <p:cNvSpPr>
              <a:spLocks noChangeArrowheads="1"/>
            </p:cNvSpPr>
            <p:nvPr/>
          </p:nvSpPr>
          <p:spPr bwMode="auto">
            <a:xfrm flipH="1" flipV="1">
              <a:off x="1180" y="1931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82" name="Oval 71"/>
            <p:cNvSpPr>
              <a:spLocks noChangeArrowheads="1"/>
            </p:cNvSpPr>
            <p:nvPr/>
          </p:nvSpPr>
          <p:spPr bwMode="auto">
            <a:xfrm flipH="1" flipV="1">
              <a:off x="1180" y="2586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83" name="Oval 72"/>
            <p:cNvSpPr>
              <a:spLocks noChangeArrowheads="1"/>
            </p:cNvSpPr>
            <p:nvPr/>
          </p:nvSpPr>
          <p:spPr bwMode="auto">
            <a:xfrm flipH="1" flipV="1">
              <a:off x="1180" y="3217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84" name="Oval 73"/>
            <p:cNvSpPr>
              <a:spLocks noChangeArrowheads="1"/>
            </p:cNvSpPr>
            <p:nvPr/>
          </p:nvSpPr>
          <p:spPr bwMode="auto">
            <a:xfrm flipH="1" flipV="1">
              <a:off x="1180" y="3793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75" name="Group 74"/>
          <p:cNvGrpSpPr>
            <a:grpSpLocks/>
          </p:cNvGrpSpPr>
          <p:nvPr/>
        </p:nvGrpSpPr>
        <p:grpSpPr bwMode="auto">
          <a:xfrm>
            <a:off x="6340475" y="2546350"/>
            <a:ext cx="227013" cy="3184525"/>
            <a:chOff x="997" y="1882"/>
            <a:chExt cx="143" cy="2006"/>
          </a:xfrm>
        </p:grpSpPr>
        <p:grpSp>
          <p:nvGrpSpPr>
            <p:cNvPr id="19561" name="Group 75"/>
            <p:cNvGrpSpPr>
              <a:grpSpLocks/>
            </p:cNvGrpSpPr>
            <p:nvPr/>
          </p:nvGrpSpPr>
          <p:grpSpPr bwMode="auto">
            <a:xfrm>
              <a:off x="997" y="1882"/>
              <a:ext cx="143" cy="144"/>
              <a:chOff x="2427" y="3155"/>
              <a:chExt cx="96" cy="108"/>
            </a:xfrm>
          </p:grpSpPr>
          <p:pic>
            <p:nvPicPr>
              <p:cNvPr id="19574" name="Picture 76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75" name="Line 77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76" name="Line 78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62" name="Group 79"/>
            <p:cNvGrpSpPr>
              <a:grpSpLocks/>
            </p:cNvGrpSpPr>
            <p:nvPr/>
          </p:nvGrpSpPr>
          <p:grpSpPr bwMode="auto">
            <a:xfrm>
              <a:off x="997" y="2537"/>
              <a:ext cx="143" cy="144"/>
              <a:chOff x="2427" y="3155"/>
              <a:chExt cx="96" cy="108"/>
            </a:xfrm>
          </p:grpSpPr>
          <p:pic>
            <p:nvPicPr>
              <p:cNvPr id="19571" name="Picture 80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72" name="Line 81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73" name="Line 82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63" name="Group 83"/>
            <p:cNvGrpSpPr>
              <a:grpSpLocks/>
            </p:cNvGrpSpPr>
            <p:nvPr/>
          </p:nvGrpSpPr>
          <p:grpSpPr bwMode="auto">
            <a:xfrm>
              <a:off x="997" y="3168"/>
              <a:ext cx="143" cy="144"/>
              <a:chOff x="2427" y="3155"/>
              <a:chExt cx="96" cy="108"/>
            </a:xfrm>
          </p:grpSpPr>
          <p:pic>
            <p:nvPicPr>
              <p:cNvPr id="19568" name="Picture 84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69" name="Line 85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70" name="Line 86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64" name="Group 87"/>
            <p:cNvGrpSpPr>
              <a:grpSpLocks/>
            </p:cNvGrpSpPr>
            <p:nvPr/>
          </p:nvGrpSpPr>
          <p:grpSpPr bwMode="auto">
            <a:xfrm>
              <a:off x="997" y="3744"/>
              <a:ext cx="143" cy="144"/>
              <a:chOff x="2427" y="3155"/>
              <a:chExt cx="96" cy="108"/>
            </a:xfrm>
          </p:grpSpPr>
          <p:pic>
            <p:nvPicPr>
              <p:cNvPr id="19565" name="Picture 88" descr="boulej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66" name="Line 89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567" name="Line 90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9476" name="Group 91"/>
          <p:cNvGrpSpPr>
            <a:grpSpLocks/>
          </p:cNvGrpSpPr>
          <p:nvPr/>
        </p:nvGrpSpPr>
        <p:grpSpPr bwMode="auto">
          <a:xfrm>
            <a:off x="5859463" y="2576513"/>
            <a:ext cx="227012" cy="206375"/>
            <a:chOff x="4397" y="3405"/>
            <a:chExt cx="123" cy="118"/>
          </a:xfrm>
        </p:grpSpPr>
        <p:pic>
          <p:nvPicPr>
            <p:cNvPr id="19559" name="Picture 92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4397" y="3405"/>
              <a:ext cx="123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60" name="Line 93"/>
            <p:cNvSpPr>
              <a:spLocks noChangeShapeType="1"/>
            </p:cNvSpPr>
            <p:nvPr/>
          </p:nvSpPr>
          <p:spPr bwMode="auto">
            <a:xfrm>
              <a:off x="4442" y="3469"/>
              <a:ext cx="3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77" name="Group 94"/>
          <p:cNvGrpSpPr>
            <a:grpSpLocks/>
          </p:cNvGrpSpPr>
          <p:nvPr/>
        </p:nvGrpSpPr>
        <p:grpSpPr bwMode="auto">
          <a:xfrm>
            <a:off x="5859463" y="3603625"/>
            <a:ext cx="227012" cy="206375"/>
            <a:chOff x="4397" y="3405"/>
            <a:chExt cx="123" cy="118"/>
          </a:xfrm>
        </p:grpSpPr>
        <p:pic>
          <p:nvPicPr>
            <p:cNvPr id="19557" name="Picture 95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4397" y="3405"/>
              <a:ext cx="123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58" name="Line 96"/>
            <p:cNvSpPr>
              <a:spLocks noChangeShapeType="1"/>
            </p:cNvSpPr>
            <p:nvPr/>
          </p:nvSpPr>
          <p:spPr bwMode="auto">
            <a:xfrm>
              <a:off x="4442" y="3469"/>
              <a:ext cx="3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78" name="Group 97"/>
          <p:cNvGrpSpPr>
            <a:grpSpLocks/>
          </p:cNvGrpSpPr>
          <p:nvPr/>
        </p:nvGrpSpPr>
        <p:grpSpPr bwMode="auto">
          <a:xfrm>
            <a:off x="5859463" y="4618038"/>
            <a:ext cx="227012" cy="206375"/>
            <a:chOff x="4397" y="3405"/>
            <a:chExt cx="123" cy="118"/>
          </a:xfrm>
        </p:grpSpPr>
        <p:pic>
          <p:nvPicPr>
            <p:cNvPr id="19555" name="Picture 98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4397" y="3405"/>
              <a:ext cx="123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56" name="Line 99"/>
            <p:cNvSpPr>
              <a:spLocks noChangeShapeType="1"/>
            </p:cNvSpPr>
            <p:nvPr/>
          </p:nvSpPr>
          <p:spPr bwMode="auto">
            <a:xfrm>
              <a:off x="4442" y="3469"/>
              <a:ext cx="3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79" name="Group 100"/>
          <p:cNvGrpSpPr>
            <a:grpSpLocks/>
          </p:cNvGrpSpPr>
          <p:nvPr/>
        </p:nvGrpSpPr>
        <p:grpSpPr bwMode="auto">
          <a:xfrm>
            <a:off x="5859463" y="5545138"/>
            <a:ext cx="227012" cy="206375"/>
            <a:chOff x="4397" y="3405"/>
            <a:chExt cx="123" cy="118"/>
          </a:xfrm>
        </p:grpSpPr>
        <p:pic>
          <p:nvPicPr>
            <p:cNvPr id="19553" name="Picture 101" descr="bouleb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342" t="33264" r="39302" b="57001"/>
            <a:stretch>
              <a:fillRect/>
            </a:stretch>
          </p:blipFill>
          <p:spPr bwMode="auto">
            <a:xfrm>
              <a:off x="4397" y="3405"/>
              <a:ext cx="123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554" name="Line 102"/>
            <p:cNvSpPr>
              <a:spLocks noChangeShapeType="1"/>
            </p:cNvSpPr>
            <p:nvPr/>
          </p:nvSpPr>
          <p:spPr bwMode="auto">
            <a:xfrm>
              <a:off x="4442" y="3469"/>
              <a:ext cx="3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80" name="Group 103"/>
          <p:cNvGrpSpPr>
            <a:grpSpLocks/>
          </p:cNvGrpSpPr>
          <p:nvPr/>
        </p:nvGrpSpPr>
        <p:grpSpPr bwMode="auto">
          <a:xfrm>
            <a:off x="5310188" y="2555875"/>
            <a:ext cx="342900" cy="3175000"/>
            <a:chOff x="2961" y="1896"/>
            <a:chExt cx="216" cy="2000"/>
          </a:xfrm>
        </p:grpSpPr>
        <p:grpSp>
          <p:nvGrpSpPr>
            <p:cNvPr id="19537" name="Group 104"/>
            <p:cNvGrpSpPr>
              <a:grpSpLocks/>
            </p:cNvGrpSpPr>
            <p:nvPr/>
          </p:nvGrpSpPr>
          <p:grpSpPr bwMode="auto">
            <a:xfrm>
              <a:off x="2961" y="1896"/>
              <a:ext cx="143" cy="130"/>
              <a:chOff x="4397" y="3405"/>
              <a:chExt cx="123" cy="118"/>
            </a:xfrm>
          </p:grpSpPr>
          <p:pic>
            <p:nvPicPr>
              <p:cNvPr id="19551" name="Picture 105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52" name="Line 106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38" name="Group 107"/>
            <p:cNvGrpSpPr>
              <a:grpSpLocks/>
            </p:cNvGrpSpPr>
            <p:nvPr/>
          </p:nvGrpSpPr>
          <p:grpSpPr bwMode="auto">
            <a:xfrm>
              <a:off x="2961" y="2543"/>
              <a:ext cx="143" cy="130"/>
              <a:chOff x="4397" y="3405"/>
              <a:chExt cx="123" cy="118"/>
            </a:xfrm>
          </p:grpSpPr>
          <p:pic>
            <p:nvPicPr>
              <p:cNvPr id="19549" name="Picture 108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50" name="Line 109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39" name="Group 110"/>
            <p:cNvGrpSpPr>
              <a:grpSpLocks/>
            </p:cNvGrpSpPr>
            <p:nvPr/>
          </p:nvGrpSpPr>
          <p:grpSpPr bwMode="auto">
            <a:xfrm>
              <a:off x="2961" y="3182"/>
              <a:ext cx="143" cy="130"/>
              <a:chOff x="4397" y="3405"/>
              <a:chExt cx="123" cy="118"/>
            </a:xfrm>
          </p:grpSpPr>
          <p:pic>
            <p:nvPicPr>
              <p:cNvPr id="19547" name="Picture 11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48" name="Line 112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40" name="Group 113"/>
            <p:cNvGrpSpPr>
              <a:grpSpLocks/>
            </p:cNvGrpSpPr>
            <p:nvPr/>
          </p:nvGrpSpPr>
          <p:grpSpPr bwMode="auto">
            <a:xfrm>
              <a:off x="2961" y="3766"/>
              <a:ext cx="143" cy="130"/>
              <a:chOff x="4397" y="3405"/>
              <a:chExt cx="123" cy="118"/>
            </a:xfrm>
          </p:grpSpPr>
          <p:pic>
            <p:nvPicPr>
              <p:cNvPr id="19545" name="Picture 114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46" name="Line 115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9541" name="Oval 116"/>
            <p:cNvSpPr>
              <a:spLocks noChangeArrowheads="1"/>
            </p:cNvSpPr>
            <p:nvPr/>
          </p:nvSpPr>
          <p:spPr bwMode="auto">
            <a:xfrm>
              <a:off x="3130" y="1927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42" name="Oval 117"/>
            <p:cNvSpPr>
              <a:spLocks noChangeArrowheads="1"/>
            </p:cNvSpPr>
            <p:nvPr/>
          </p:nvSpPr>
          <p:spPr bwMode="auto">
            <a:xfrm>
              <a:off x="3130" y="2573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43" name="Oval 118"/>
            <p:cNvSpPr>
              <a:spLocks noChangeArrowheads="1"/>
            </p:cNvSpPr>
            <p:nvPr/>
          </p:nvSpPr>
          <p:spPr bwMode="auto">
            <a:xfrm>
              <a:off x="3130" y="3220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44" name="Oval 119"/>
            <p:cNvSpPr>
              <a:spLocks noChangeArrowheads="1"/>
            </p:cNvSpPr>
            <p:nvPr/>
          </p:nvSpPr>
          <p:spPr bwMode="auto">
            <a:xfrm>
              <a:off x="3130" y="3804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81" name="Group 120"/>
          <p:cNvGrpSpPr>
            <a:grpSpLocks/>
          </p:cNvGrpSpPr>
          <p:nvPr/>
        </p:nvGrpSpPr>
        <p:grpSpPr bwMode="auto">
          <a:xfrm>
            <a:off x="4497388" y="2555875"/>
            <a:ext cx="342900" cy="3175000"/>
            <a:chOff x="2961" y="1896"/>
            <a:chExt cx="216" cy="2000"/>
          </a:xfrm>
        </p:grpSpPr>
        <p:grpSp>
          <p:nvGrpSpPr>
            <p:cNvPr id="19521" name="Group 121"/>
            <p:cNvGrpSpPr>
              <a:grpSpLocks/>
            </p:cNvGrpSpPr>
            <p:nvPr/>
          </p:nvGrpSpPr>
          <p:grpSpPr bwMode="auto">
            <a:xfrm>
              <a:off x="2961" y="1896"/>
              <a:ext cx="143" cy="130"/>
              <a:chOff x="4397" y="3405"/>
              <a:chExt cx="123" cy="118"/>
            </a:xfrm>
          </p:grpSpPr>
          <p:pic>
            <p:nvPicPr>
              <p:cNvPr id="19535" name="Picture 122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36" name="Line 123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22" name="Group 124"/>
            <p:cNvGrpSpPr>
              <a:grpSpLocks/>
            </p:cNvGrpSpPr>
            <p:nvPr/>
          </p:nvGrpSpPr>
          <p:grpSpPr bwMode="auto">
            <a:xfrm>
              <a:off x="2961" y="2543"/>
              <a:ext cx="143" cy="130"/>
              <a:chOff x="4397" y="3405"/>
              <a:chExt cx="123" cy="118"/>
            </a:xfrm>
          </p:grpSpPr>
          <p:pic>
            <p:nvPicPr>
              <p:cNvPr id="19533" name="Picture 125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34" name="Line 126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23" name="Group 127"/>
            <p:cNvGrpSpPr>
              <a:grpSpLocks/>
            </p:cNvGrpSpPr>
            <p:nvPr/>
          </p:nvGrpSpPr>
          <p:grpSpPr bwMode="auto">
            <a:xfrm>
              <a:off x="2961" y="3182"/>
              <a:ext cx="143" cy="130"/>
              <a:chOff x="4397" y="3405"/>
              <a:chExt cx="123" cy="118"/>
            </a:xfrm>
          </p:grpSpPr>
          <p:pic>
            <p:nvPicPr>
              <p:cNvPr id="19531" name="Picture 128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32" name="Line 129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24" name="Group 130"/>
            <p:cNvGrpSpPr>
              <a:grpSpLocks/>
            </p:cNvGrpSpPr>
            <p:nvPr/>
          </p:nvGrpSpPr>
          <p:grpSpPr bwMode="auto">
            <a:xfrm>
              <a:off x="2961" y="3766"/>
              <a:ext cx="143" cy="130"/>
              <a:chOff x="4397" y="3405"/>
              <a:chExt cx="123" cy="118"/>
            </a:xfrm>
          </p:grpSpPr>
          <p:pic>
            <p:nvPicPr>
              <p:cNvPr id="19529" name="Picture 131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30" name="Line 132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9525" name="Oval 133"/>
            <p:cNvSpPr>
              <a:spLocks noChangeArrowheads="1"/>
            </p:cNvSpPr>
            <p:nvPr/>
          </p:nvSpPr>
          <p:spPr bwMode="auto">
            <a:xfrm>
              <a:off x="3130" y="1927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26" name="Oval 134"/>
            <p:cNvSpPr>
              <a:spLocks noChangeArrowheads="1"/>
            </p:cNvSpPr>
            <p:nvPr/>
          </p:nvSpPr>
          <p:spPr bwMode="auto">
            <a:xfrm>
              <a:off x="3130" y="2573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27" name="Oval 135"/>
            <p:cNvSpPr>
              <a:spLocks noChangeArrowheads="1"/>
            </p:cNvSpPr>
            <p:nvPr/>
          </p:nvSpPr>
          <p:spPr bwMode="auto">
            <a:xfrm>
              <a:off x="3130" y="3220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28" name="Oval 136"/>
            <p:cNvSpPr>
              <a:spLocks noChangeArrowheads="1"/>
            </p:cNvSpPr>
            <p:nvPr/>
          </p:nvSpPr>
          <p:spPr bwMode="auto">
            <a:xfrm>
              <a:off x="3130" y="3804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82" name="Group 137"/>
          <p:cNvGrpSpPr>
            <a:grpSpLocks/>
          </p:cNvGrpSpPr>
          <p:nvPr/>
        </p:nvGrpSpPr>
        <p:grpSpPr bwMode="auto">
          <a:xfrm>
            <a:off x="3622675" y="2555875"/>
            <a:ext cx="342900" cy="3175000"/>
            <a:chOff x="2961" y="1896"/>
            <a:chExt cx="216" cy="2000"/>
          </a:xfrm>
        </p:grpSpPr>
        <p:grpSp>
          <p:nvGrpSpPr>
            <p:cNvPr id="19505" name="Group 138"/>
            <p:cNvGrpSpPr>
              <a:grpSpLocks/>
            </p:cNvGrpSpPr>
            <p:nvPr/>
          </p:nvGrpSpPr>
          <p:grpSpPr bwMode="auto">
            <a:xfrm>
              <a:off x="2961" y="1896"/>
              <a:ext cx="143" cy="130"/>
              <a:chOff x="4397" y="3405"/>
              <a:chExt cx="123" cy="118"/>
            </a:xfrm>
          </p:grpSpPr>
          <p:pic>
            <p:nvPicPr>
              <p:cNvPr id="19519" name="Picture 139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20" name="Line 140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06" name="Group 141"/>
            <p:cNvGrpSpPr>
              <a:grpSpLocks/>
            </p:cNvGrpSpPr>
            <p:nvPr/>
          </p:nvGrpSpPr>
          <p:grpSpPr bwMode="auto">
            <a:xfrm>
              <a:off x="2961" y="2543"/>
              <a:ext cx="143" cy="130"/>
              <a:chOff x="4397" y="3405"/>
              <a:chExt cx="123" cy="118"/>
            </a:xfrm>
          </p:grpSpPr>
          <p:pic>
            <p:nvPicPr>
              <p:cNvPr id="19517" name="Picture 142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18" name="Line 143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07" name="Group 144"/>
            <p:cNvGrpSpPr>
              <a:grpSpLocks/>
            </p:cNvGrpSpPr>
            <p:nvPr/>
          </p:nvGrpSpPr>
          <p:grpSpPr bwMode="auto">
            <a:xfrm>
              <a:off x="2961" y="3182"/>
              <a:ext cx="143" cy="130"/>
              <a:chOff x="4397" y="3405"/>
              <a:chExt cx="123" cy="118"/>
            </a:xfrm>
          </p:grpSpPr>
          <p:pic>
            <p:nvPicPr>
              <p:cNvPr id="19515" name="Picture 145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16" name="Line 146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508" name="Group 147"/>
            <p:cNvGrpSpPr>
              <a:grpSpLocks/>
            </p:cNvGrpSpPr>
            <p:nvPr/>
          </p:nvGrpSpPr>
          <p:grpSpPr bwMode="auto">
            <a:xfrm>
              <a:off x="2961" y="3766"/>
              <a:ext cx="143" cy="130"/>
              <a:chOff x="4397" y="3405"/>
              <a:chExt cx="123" cy="118"/>
            </a:xfrm>
          </p:grpSpPr>
          <p:pic>
            <p:nvPicPr>
              <p:cNvPr id="19513" name="Picture 148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14" name="Line 149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9509" name="Oval 150"/>
            <p:cNvSpPr>
              <a:spLocks noChangeArrowheads="1"/>
            </p:cNvSpPr>
            <p:nvPr/>
          </p:nvSpPr>
          <p:spPr bwMode="auto">
            <a:xfrm>
              <a:off x="3130" y="1927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10" name="Oval 151"/>
            <p:cNvSpPr>
              <a:spLocks noChangeArrowheads="1"/>
            </p:cNvSpPr>
            <p:nvPr/>
          </p:nvSpPr>
          <p:spPr bwMode="auto">
            <a:xfrm>
              <a:off x="3130" y="2573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11" name="Oval 152"/>
            <p:cNvSpPr>
              <a:spLocks noChangeArrowheads="1"/>
            </p:cNvSpPr>
            <p:nvPr/>
          </p:nvSpPr>
          <p:spPr bwMode="auto">
            <a:xfrm>
              <a:off x="3130" y="3220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512" name="Oval 153"/>
            <p:cNvSpPr>
              <a:spLocks noChangeArrowheads="1"/>
            </p:cNvSpPr>
            <p:nvPr/>
          </p:nvSpPr>
          <p:spPr bwMode="auto">
            <a:xfrm>
              <a:off x="3130" y="3804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9483" name="Group 154"/>
          <p:cNvGrpSpPr>
            <a:grpSpLocks/>
          </p:cNvGrpSpPr>
          <p:nvPr/>
        </p:nvGrpSpPr>
        <p:grpSpPr bwMode="auto">
          <a:xfrm>
            <a:off x="2870200" y="2555875"/>
            <a:ext cx="342900" cy="3175000"/>
            <a:chOff x="2961" y="1896"/>
            <a:chExt cx="216" cy="2000"/>
          </a:xfrm>
        </p:grpSpPr>
        <p:grpSp>
          <p:nvGrpSpPr>
            <p:cNvPr id="19489" name="Group 155"/>
            <p:cNvGrpSpPr>
              <a:grpSpLocks/>
            </p:cNvGrpSpPr>
            <p:nvPr/>
          </p:nvGrpSpPr>
          <p:grpSpPr bwMode="auto">
            <a:xfrm>
              <a:off x="2961" y="1896"/>
              <a:ext cx="143" cy="130"/>
              <a:chOff x="4397" y="3405"/>
              <a:chExt cx="123" cy="118"/>
            </a:xfrm>
          </p:grpSpPr>
          <p:pic>
            <p:nvPicPr>
              <p:cNvPr id="19503" name="Picture 156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04" name="Line 157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490" name="Group 158"/>
            <p:cNvGrpSpPr>
              <a:grpSpLocks/>
            </p:cNvGrpSpPr>
            <p:nvPr/>
          </p:nvGrpSpPr>
          <p:grpSpPr bwMode="auto">
            <a:xfrm>
              <a:off x="2961" y="2543"/>
              <a:ext cx="143" cy="130"/>
              <a:chOff x="4397" y="3405"/>
              <a:chExt cx="123" cy="118"/>
            </a:xfrm>
          </p:grpSpPr>
          <p:pic>
            <p:nvPicPr>
              <p:cNvPr id="19501" name="Picture 159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02" name="Line 160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491" name="Group 161"/>
            <p:cNvGrpSpPr>
              <a:grpSpLocks/>
            </p:cNvGrpSpPr>
            <p:nvPr/>
          </p:nvGrpSpPr>
          <p:grpSpPr bwMode="auto">
            <a:xfrm>
              <a:off x="2961" y="3182"/>
              <a:ext cx="143" cy="130"/>
              <a:chOff x="4397" y="3405"/>
              <a:chExt cx="123" cy="118"/>
            </a:xfrm>
          </p:grpSpPr>
          <p:pic>
            <p:nvPicPr>
              <p:cNvPr id="19499" name="Picture 162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500" name="Line 163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9492" name="Group 164"/>
            <p:cNvGrpSpPr>
              <a:grpSpLocks/>
            </p:cNvGrpSpPr>
            <p:nvPr/>
          </p:nvGrpSpPr>
          <p:grpSpPr bwMode="auto">
            <a:xfrm>
              <a:off x="2961" y="3766"/>
              <a:ext cx="143" cy="130"/>
              <a:chOff x="4397" y="3405"/>
              <a:chExt cx="123" cy="118"/>
            </a:xfrm>
          </p:grpSpPr>
          <p:pic>
            <p:nvPicPr>
              <p:cNvPr id="19497" name="Picture 165" descr="bouleb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342" t="33264" r="39302" b="57001"/>
              <a:stretch>
                <a:fillRect/>
              </a:stretch>
            </p:blipFill>
            <p:spPr bwMode="auto">
              <a:xfrm>
                <a:off x="4397" y="3405"/>
                <a:ext cx="123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9498" name="Line 166"/>
              <p:cNvSpPr>
                <a:spLocks noChangeShapeType="1"/>
              </p:cNvSpPr>
              <p:nvPr/>
            </p:nvSpPr>
            <p:spPr bwMode="auto">
              <a:xfrm>
                <a:off x="4442" y="3469"/>
                <a:ext cx="3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9493" name="Oval 167"/>
            <p:cNvSpPr>
              <a:spLocks noChangeArrowheads="1"/>
            </p:cNvSpPr>
            <p:nvPr/>
          </p:nvSpPr>
          <p:spPr bwMode="auto">
            <a:xfrm>
              <a:off x="3130" y="1927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94" name="Oval 168"/>
            <p:cNvSpPr>
              <a:spLocks noChangeArrowheads="1"/>
            </p:cNvSpPr>
            <p:nvPr/>
          </p:nvSpPr>
          <p:spPr bwMode="auto">
            <a:xfrm>
              <a:off x="3130" y="2573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95" name="Oval 169"/>
            <p:cNvSpPr>
              <a:spLocks noChangeArrowheads="1"/>
            </p:cNvSpPr>
            <p:nvPr/>
          </p:nvSpPr>
          <p:spPr bwMode="auto">
            <a:xfrm>
              <a:off x="3130" y="3220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96" name="Oval 170"/>
            <p:cNvSpPr>
              <a:spLocks noChangeArrowheads="1"/>
            </p:cNvSpPr>
            <p:nvPr/>
          </p:nvSpPr>
          <p:spPr bwMode="auto">
            <a:xfrm>
              <a:off x="3130" y="3804"/>
              <a:ext cx="47" cy="4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1230" name="Group 174"/>
          <p:cNvGrpSpPr>
            <a:grpSpLocks/>
          </p:cNvGrpSpPr>
          <p:nvPr/>
        </p:nvGrpSpPr>
        <p:grpSpPr bwMode="auto">
          <a:xfrm>
            <a:off x="2203450" y="4935538"/>
            <a:ext cx="2232025" cy="847725"/>
            <a:chOff x="1388" y="3325"/>
            <a:chExt cx="1406" cy="534"/>
          </a:xfrm>
        </p:grpSpPr>
        <p:sp>
          <p:nvSpPr>
            <p:cNvPr id="19486" name="Rectangle 175"/>
            <p:cNvSpPr>
              <a:spLocks noChangeArrowheads="1"/>
            </p:cNvSpPr>
            <p:nvPr/>
          </p:nvSpPr>
          <p:spPr bwMode="auto">
            <a:xfrm>
              <a:off x="2429" y="3646"/>
              <a:ext cx="197" cy="213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9487" name="AutoShape 176"/>
            <p:cNvSpPr>
              <a:spLocks noChangeArrowheads="1"/>
            </p:cNvSpPr>
            <p:nvPr/>
          </p:nvSpPr>
          <p:spPr bwMode="auto">
            <a:xfrm flipH="1">
              <a:off x="1388" y="3325"/>
              <a:ext cx="1238" cy="378"/>
            </a:xfrm>
            <a:prstGeom prst="rightArrow">
              <a:avLst>
                <a:gd name="adj1" fmla="val 70324"/>
                <a:gd name="adj2" fmla="val 66655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9488" name="Text Box 177"/>
            <p:cNvSpPr txBox="1">
              <a:spLocks noChangeArrowheads="1"/>
            </p:cNvSpPr>
            <p:nvPr/>
          </p:nvSpPr>
          <p:spPr bwMode="auto">
            <a:xfrm>
              <a:off x="1445" y="3384"/>
              <a:ext cx="13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altLang="fr-FR" sz="2000"/>
                <a:t>trous injectés</a:t>
              </a:r>
            </a:p>
          </p:txBody>
        </p:sp>
      </p:grpSp>
      <p:sp>
        <p:nvSpPr>
          <p:cNvPr id="19485" name="Text Box 178"/>
          <p:cNvSpPr txBox="1">
            <a:spLocks noChangeArrowheads="1"/>
          </p:cNvSpPr>
          <p:nvPr/>
        </p:nvSpPr>
        <p:spPr bwMode="auto">
          <a:xfrm>
            <a:off x="1406525" y="717550"/>
            <a:ext cx="23828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En résumé</a:t>
            </a:r>
            <a:endParaRPr lang="fr-FR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1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1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1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1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1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1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1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1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1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1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2"/>
          <p:cNvSpPr>
            <a:spLocks noChangeShapeType="1"/>
          </p:cNvSpPr>
          <p:nvPr/>
        </p:nvSpPr>
        <p:spPr bwMode="auto">
          <a:xfrm flipH="1" flipV="1">
            <a:off x="4556125" y="1719263"/>
            <a:ext cx="15875" cy="4732337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483" name="Line 3"/>
          <p:cNvSpPr>
            <a:spLocks noChangeShapeType="1"/>
          </p:cNvSpPr>
          <p:nvPr/>
        </p:nvSpPr>
        <p:spPr bwMode="auto">
          <a:xfrm>
            <a:off x="1717675" y="4014788"/>
            <a:ext cx="6224588" cy="7937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484" name="Line 9"/>
          <p:cNvSpPr>
            <a:spLocks noChangeShapeType="1"/>
          </p:cNvSpPr>
          <p:nvPr/>
        </p:nvSpPr>
        <p:spPr bwMode="auto">
          <a:xfrm flipV="1">
            <a:off x="4576763" y="2498725"/>
            <a:ext cx="115887" cy="15176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485" name="Text Box 12"/>
          <p:cNvSpPr txBox="1">
            <a:spLocks noChangeArrowheads="1"/>
          </p:cNvSpPr>
          <p:nvPr/>
        </p:nvSpPr>
        <p:spPr bwMode="auto">
          <a:xfrm>
            <a:off x="7405688" y="4122738"/>
            <a:ext cx="9620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Vce (V)</a:t>
            </a:r>
          </a:p>
        </p:txBody>
      </p:sp>
      <p:sp>
        <p:nvSpPr>
          <p:cNvPr id="20486" name="Text Box 13"/>
          <p:cNvSpPr txBox="1">
            <a:spLocks noChangeArrowheads="1"/>
          </p:cNvSpPr>
          <p:nvPr/>
        </p:nvSpPr>
        <p:spPr bwMode="auto">
          <a:xfrm>
            <a:off x="4540250" y="15367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Ic (mA)</a:t>
            </a:r>
          </a:p>
        </p:txBody>
      </p:sp>
      <p:sp>
        <p:nvSpPr>
          <p:cNvPr id="20487" name="Text Box 15"/>
          <p:cNvSpPr txBox="1">
            <a:spLocks noChangeArrowheads="1"/>
          </p:cNvSpPr>
          <p:nvPr/>
        </p:nvSpPr>
        <p:spPr bwMode="auto">
          <a:xfrm>
            <a:off x="1406525" y="717550"/>
            <a:ext cx="61102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Caractéristique du bipolaire</a:t>
            </a:r>
            <a:endParaRPr lang="fr-FR" altLang="fr-FR"/>
          </a:p>
        </p:txBody>
      </p:sp>
      <p:sp>
        <p:nvSpPr>
          <p:cNvPr id="20488" name="Text Box 16"/>
          <p:cNvSpPr txBox="1">
            <a:spLocks noChangeArrowheads="1"/>
          </p:cNvSpPr>
          <p:nvPr/>
        </p:nvSpPr>
        <p:spPr bwMode="auto">
          <a:xfrm>
            <a:off x="4587875" y="6140450"/>
            <a:ext cx="9794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Vbe (V)</a:t>
            </a:r>
          </a:p>
        </p:txBody>
      </p:sp>
      <p:sp>
        <p:nvSpPr>
          <p:cNvPr id="20489" name="Text Box 17"/>
          <p:cNvSpPr txBox="1">
            <a:spLocks noChangeArrowheads="1"/>
          </p:cNvSpPr>
          <p:nvPr/>
        </p:nvSpPr>
        <p:spPr bwMode="auto">
          <a:xfrm>
            <a:off x="1184275" y="4122738"/>
            <a:ext cx="966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Ib (µA)</a:t>
            </a:r>
          </a:p>
        </p:txBody>
      </p:sp>
      <p:sp>
        <p:nvSpPr>
          <p:cNvPr id="20490" name="Freeform 18"/>
          <p:cNvSpPr>
            <a:spLocks/>
          </p:cNvSpPr>
          <p:nvPr/>
        </p:nvSpPr>
        <p:spPr bwMode="auto">
          <a:xfrm>
            <a:off x="4681538" y="2019300"/>
            <a:ext cx="2595562" cy="520700"/>
          </a:xfrm>
          <a:custGeom>
            <a:avLst/>
            <a:gdLst>
              <a:gd name="T0" fmla="*/ 1587 w 1635"/>
              <a:gd name="T1" fmla="*/ 520700 h 328"/>
              <a:gd name="T2" fmla="*/ 233362 w 1635"/>
              <a:gd name="T3" fmla="*/ 327025 h 328"/>
              <a:gd name="T4" fmla="*/ 1406525 w 1635"/>
              <a:gd name="T5" fmla="*/ 144463 h 328"/>
              <a:gd name="T6" fmla="*/ 2595562 w 1635"/>
              <a:gd name="T7" fmla="*/ 0 h 3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35" h="328">
                <a:moveTo>
                  <a:pt x="1" y="328"/>
                </a:moveTo>
                <a:cubicBezTo>
                  <a:pt x="25" y="308"/>
                  <a:pt x="0" y="245"/>
                  <a:pt x="147" y="206"/>
                </a:cubicBezTo>
                <a:cubicBezTo>
                  <a:pt x="294" y="167"/>
                  <a:pt x="638" y="125"/>
                  <a:pt x="886" y="91"/>
                </a:cubicBezTo>
                <a:cubicBezTo>
                  <a:pt x="1134" y="57"/>
                  <a:pt x="1479" y="19"/>
                  <a:pt x="1635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1" name="Freeform 19"/>
          <p:cNvSpPr>
            <a:spLocks/>
          </p:cNvSpPr>
          <p:nvPr/>
        </p:nvSpPr>
        <p:spPr bwMode="auto">
          <a:xfrm>
            <a:off x="4572000" y="3641725"/>
            <a:ext cx="2697163" cy="287338"/>
          </a:xfrm>
          <a:custGeom>
            <a:avLst/>
            <a:gdLst>
              <a:gd name="T0" fmla="*/ 11113 w 1699"/>
              <a:gd name="T1" fmla="*/ 287338 h 181"/>
              <a:gd name="T2" fmla="*/ 98425 w 1699"/>
              <a:gd name="T3" fmla="*/ 133350 h 181"/>
              <a:gd name="T4" fmla="*/ 601663 w 1699"/>
              <a:gd name="T5" fmla="*/ 82550 h 181"/>
              <a:gd name="T6" fmla="*/ 2697163 w 1699"/>
              <a:gd name="T7" fmla="*/ 0 h 18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99" h="181">
                <a:moveTo>
                  <a:pt x="7" y="181"/>
                </a:moveTo>
                <a:cubicBezTo>
                  <a:pt x="16" y="165"/>
                  <a:pt x="0" y="105"/>
                  <a:pt x="62" y="84"/>
                </a:cubicBezTo>
                <a:cubicBezTo>
                  <a:pt x="124" y="63"/>
                  <a:pt x="106" y="66"/>
                  <a:pt x="379" y="52"/>
                </a:cubicBezTo>
                <a:cubicBezTo>
                  <a:pt x="652" y="38"/>
                  <a:pt x="1424" y="11"/>
                  <a:pt x="1699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2" name="Freeform 20"/>
          <p:cNvSpPr>
            <a:spLocks/>
          </p:cNvSpPr>
          <p:nvPr/>
        </p:nvSpPr>
        <p:spPr bwMode="auto">
          <a:xfrm>
            <a:off x="4657725" y="2370138"/>
            <a:ext cx="2619375" cy="519112"/>
          </a:xfrm>
          <a:custGeom>
            <a:avLst/>
            <a:gdLst>
              <a:gd name="T0" fmla="*/ 0 w 1650"/>
              <a:gd name="T1" fmla="*/ 519112 h 327"/>
              <a:gd name="T2" fmla="*/ 211138 w 1650"/>
              <a:gd name="T3" fmla="*/ 327025 h 327"/>
              <a:gd name="T4" fmla="*/ 1011238 w 1650"/>
              <a:gd name="T5" fmla="*/ 160337 h 327"/>
              <a:gd name="T6" fmla="*/ 2619375 w 1650"/>
              <a:gd name="T7" fmla="*/ 0 h 3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0" h="327">
                <a:moveTo>
                  <a:pt x="0" y="327"/>
                </a:moveTo>
                <a:cubicBezTo>
                  <a:pt x="22" y="307"/>
                  <a:pt x="27" y="244"/>
                  <a:pt x="133" y="206"/>
                </a:cubicBezTo>
                <a:cubicBezTo>
                  <a:pt x="239" y="168"/>
                  <a:pt x="384" y="135"/>
                  <a:pt x="637" y="101"/>
                </a:cubicBezTo>
                <a:cubicBezTo>
                  <a:pt x="890" y="67"/>
                  <a:pt x="1439" y="21"/>
                  <a:pt x="1650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3" name="Freeform 21"/>
          <p:cNvSpPr>
            <a:spLocks/>
          </p:cNvSpPr>
          <p:nvPr/>
        </p:nvSpPr>
        <p:spPr bwMode="auto">
          <a:xfrm>
            <a:off x="4625975" y="2857500"/>
            <a:ext cx="2643188" cy="433388"/>
          </a:xfrm>
          <a:custGeom>
            <a:avLst/>
            <a:gdLst>
              <a:gd name="T0" fmla="*/ 6350 w 1665"/>
              <a:gd name="T1" fmla="*/ 433388 h 273"/>
              <a:gd name="T2" fmla="*/ 158750 w 1665"/>
              <a:gd name="T3" fmla="*/ 258763 h 273"/>
              <a:gd name="T4" fmla="*/ 958850 w 1665"/>
              <a:gd name="T5" fmla="*/ 122238 h 273"/>
              <a:gd name="T6" fmla="*/ 2643188 w 1665"/>
              <a:gd name="T7" fmla="*/ 0 h 27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65" h="273">
                <a:moveTo>
                  <a:pt x="4" y="273"/>
                </a:moveTo>
                <a:cubicBezTo>
                  <a:pt x="20" y="255"/>
                  <a:pt x="0" y="196"/>
                  <a:pt x="100" y="163"/>
                </a:cubicBezTo>
                <a:cubicBezTo>
                  <a:pt x="200" y="130"/>
                  <a:pt x="343" y="104"/>
                  <a:pt x="604" y="77"/>
                </a:cubicBezTo>
                <a:cubicBezTo>
                  <a:pt x="865" y="50"/>
                  <a:pt x="1444" y="16"/>
                  <a:pt x="1665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4" name="Freeform 22"/>
          <p:cNvSpPr>
            <a:spLocks/>
          </p:cNvSpPr>
          <p:nvPr/>
        </p:nvSpPr>
        <p:spPr bwMode="auto">
          <a:xfrm>
            <a:off x="4600575" y="3268663"/>
            <a:ext cx="2660650" cy="358775"/>
          </a:xfrm>
          <a:custGeom>
            <a:avLst/>
            <a:gdLst>
              <a:gd name="T0" fmla="*/ 0 w 1676"/>
              <a:gd name="T1" fmla="*/ 358775 h 226"/>
              <a:gd name="T2" fmla="*/ 123825 w 1676"/>
              <a:gd name="T3" fmla="*/ 203200 h 226"/>
              <a:gd name="T4" fmla="*/ 641350 w 1676"/>
              <a:gd name="T5" fmla="*/ 142875 h 226"/>
              <a:gd name="T6" fmla="*/ 2660650 w 1676"/>
              <a:gd name="T7" fmla="*/ 0 h 22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76" h="226">
                <a:moveTo>
                  <a:pt x="0" y="226"/>
                </a:moveTo>
                <a:cubicBezTo>
                  <a:pt x="13" y="210"/>
                  <a:pt x="11" y="151"/>
                  <a:pt x="78" y="128"/>
                </a:cubicBezTo>
                <a:cubicBezTo>
                  <a:pt x="145" y="105"/>
                  <a:pt x="138" y="111"/>
                  <a:pt x="404" y="90"/>
                </a:cubicBezTo>
                <a:cubicBezTo>
                  <a:pt x="670" y="69"/>
                  <a:pt x="1411" y="19"/>
                  <a:pt x="1676" y="0"/>
                </a:cubicBezTo>
              </a:path>
            </a:pathLst>
          </a:custGeom>
          <a:noFill/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5" name="Freeform 24"/>
          <p:cNvSpPr>
            <a:spLocks/>
          </p:cNvSpPr>
          <p:nvPr/>
        </p:nvSpPr>
        <p:spPr bwMode="auto">
          <a:xfrm>
            <a:off x="4556125" y="4379913"/>
            <a:ext cx="2690813" cy="298450"/>
          </a:xfrm>
          <a:custGeom>
            <a:avLst/>
            <a:gdLst>
              <a:gd name="T0" fmla="*/ 0 w 1695"/>
              <a:gd name="T1" fmla="*/ 0 h 188"/>
              <a:gd name="T2" fmla="*/ 96838 w 1695"/>
              <a:gd name="T3" fmla="*/ 214313 h 188"/>
              <a:gd name="T4" fmla="*/ 547688 w 1695"/>
              <a:gd name="T5" fmla="*/ 274638 h 188"/>
              <a:gd name="T6" fmla="*/ 2690813 w 1695"/>
              <a:gd name="T7" fmla="*/ 298450 h 1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95" h="188">
                <a:moveTo>
                  <a:pt x="0" y="0"/>
                </a:moveTo>
                <a:cubicBezTo>
                  <a:pt x="10" y="22"/>
                  <a:pt x="4" y="106"/>
                  <a:pt x="61" y="135"/>
                </a:cubicBezTo>
                <a:cubicBezTo>
                  <a:pt x="118" y="164"/>
                  <a:pt x="73" y="164"/>
                  <a:pt x="345" y="173"/>
                </a:cubicBezTo>
                <a:cubicBezTo>
                  <a:pt x="617" y="182"/>
                  <a:pt x="1414" y="185"/>
                  <a:pt x="1695" y="18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6" name="Freeform 25"/>
          <p:cNvSpPr>
            <a:spLocks/>
          </p:cNvSpPr>
          <p:nvPr/>
        </p:nvSpPr>
        <p:spPr bwMode="auto">
          <a:xfrm>
            <a:off x="4556125" y="5808663"/>
            <a:ext cx="2690813" cy="295275"/>
          </a:xfrm>
          <a:custGeom>
            <a:avLst/>
            <a:gdLst>
              <a:gd name="T0" fmla="*/ 0 w 1695"/>
              <a:gd name="T1" fmla="*/ 0 h 186"/>
              <a:gd name="T2" fmla="*/ 107950 w 1695"/>
              <a:gd name="T3" fmla="*/ 161925 h 186"/>
              <a:gd name="T4" fmla="*/ 590550 w 1695"/>
              <a:gd name="T5" fmla="*/ 204788 h 186"/>
              <a:gd name="T6" fmla="*/ 2690813 w 1695"/>
              <a:gd name="T7" fmla="*/ 295275 h 18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95" h="186">
                <a:moveTo>
                  <a:pt x="0" y="0"/>
                </a:moveTo>
                <a:cubicBezTo>
                  <a:pt x="11" y="17"/>
                  <a:pt x="6" y="81"/>
                  <a:pt x="68" y="102"/>
                </a:cubicBezTo>
                <a:cubicBezTo>
                  <a:pt x="130" y="123"/>
                  <a:pt x="101" y="115"/>
                  <a:pt x="372" y="129"/>
                </a:cubicBezTo>
                <a:cubicBezTo>
                  <a:pt x="643" y="143"/>
                  <a:pt x="1420" y="174"/>
                  <a:pt x="1695" y="186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7" name="Freeform 26"/>
          <p:cNvSpPr>
            <a:spLocks/>
          </p:cNvSpPr>
          <p:nvPr/>
        </p:nvSpPr>
        <p:spPr bwMode="auto">
          <a:xfrm>
            <a:off x="4556125" y="5186363"/>
            <a:ext cx="2690813" cy="322262"/>
          </a:xfrm>
          <a:custGeom>
            <a:avLst/>
            <a:gdLst>
              <a:gd name="T0" fmla="*/ 0 w 1695"/>
              <a:gd name="T1" fmla="*/ 0 h 203"/>
              <a:gd name="T2" fmla="*/ 92075 w 1695"/>
              <a:gd name="T3" fmla="*/ 209550 h 203"/>
              <a:gd name="T4" fmla="*/ 547688 w 1695"/>
              <a:gd name="T5" fmla="*/ 274637 h 203"/>
              <a:gd name="T6" fmla="*/ 2690813 w 1695"/>
              <a:gd name="T7" fmla="*/ 322262 h 2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95" h="203">
                <a:moveTo>
                  <a:pt x="0" y="0"/>
                </a:moveTo>
                <a:cubicBezTo>
                  <a:pt x="10" y="22"/>
                  <a:pt x="1" y="103"/>
                  <a:pt x="58" y="132"/>
                </a:cubicBezTo>
                <a:cubicBezTo>
                  <a:pt x="115" y="161"/>
                  <a:pt x="72" y="161"/>
                  <a:pt x="345" y="173"/>
                </a:cubicBezTo>
                <a:cubicBezTo>
                  <a:pt x="618" y="185"/>
                  <a:pt x="1414" y="197"/>
                  <a:pt x="1695" y="203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8" name="Freeform 27"/>
          <p:cNvSpPr>
            <a:spLocks/>
          </p:cNvSpPr>
          <p:nvPr/>
        </p:nvSpPr>
        <p:spPr bwMode="auto">
          <a:xfrm>
            <a:off x="4552950" y="4837113"/>
            <a:ext cx="2701925" cy="322262"/>
          </a:xfrm>
          <a:custGeom>
            <a:avLst/>
            <a:gdLst>
              <a:gd name="T0" fmla="*/ 3175 w 1702"/>
              <a:gd name="T1" fmla="*/ 0 h 203"/>
              <a:gd name="T2" fmla="*/ 90488 w 1702"/>
              <a:gd name="T3" fmla="*/ 198437 h 203"/>
              <a:gd name="T4" fmla="*/ 550863 w 1702"/>
              <a:gd name="T5" fmla="*/ 274637 h 203"/>
              <a:gd name="T6" fmla="*/ 2701925 w 1702"/>
              <a:gd name="T7" fmla="*/ 322262 h 2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2" h="203">
                <a:moveTo>
                  <a:pt x="2" y="0"/>
                </a:moveTo>
                <a:cubicBezTo>
                  <a:pt x="11" y="21"/>
                  <a:pt x="0" y="96"/>
                  <a:pt x="57" y="125"/>
                </a:cubicBezTo>
                <a:cubicBezTo>
                  <a:pt x="114" y="154"/>
                  <a:pt x="73" y="160"/>
                  <a:pt x="347" y="173"/>
                </a:cubicBezTo>
                <a:cubicBezTo>
                  <a:pt x="621" y="186"/>
                  <a:pt x="1420" y="197"/>
                  <a:pt x="1702" y="203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499" name="Freeform 28"/>
          <p:cNvSpPr>
            <a:spLocks/>
          </p:cNvSpPr>
          <p:nvPr/>
        </p:nvSpPr>
        <p:spPr bwMode="auto">
          <a:xfrm>
            <a:off x="4556125" y="5534025"/>
            <a:ext cx="2698750" cy="333375"/>
          </a:xfrm>
          <a:custGeom>
            <a:avLst/>
            <a:gdLst>
              <a:gd name="T0" fmla="*/ 0 w 1700"/>
              <a:gd name="T1" fmla="*/ 0 h 210"/>
              <a:gd name="T2" fmla="*/ 127000 w 1700"/>
              <a:gd name="T3" fmla="*/ 223838 h 210"/>
              <a:gd name="T4" fmla="*/ 623888 w 1700"/>
              <a:gd name="T5" fmla="*/ 268288 h 210"/>
              <a:gd name="T6" fmla="*/ 2698750 w 1700"/>
              <a:gd name="T7" fmla="*/ 333375 h 2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0" h="210">
                <a:moveTo>
                  <a:pt x="0" y="0"/>
                </a:moveTo>
                <a:cubicBezTo>
                  <a:pt x="13" y="24"/>
                  <a:pt x="15" y="113"/>
                  <a:pt x="80" y="141"/>
                </a:cubicBezTo>
                <a:cubicBezTo>
                  <a:pt x="145" y="169"/>
                  <a:pt x="123" y="158"/>
                  <a:pt x="393" y="169"/>
                </a:cubicBezTo>
                <a:cubicBezTo>
                  <a:pt x="663" y="180"/>
                  <a:pt x="1428" y="202"/>
                  <a:pt x="1700" y="21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500" name="Line 30"/>
          <p:cNvSpPr>
            <a:spLocks noChangeShapeType="1"/>
          </p:cNvSpPr>
          <p:nvPr/>
        </p:nvSpPr>
        <p:spPr bwMode="auto">
          <a:xfrm flipH="1">
            <a:off x="4556125" y="4033838"/>
            <a:ext cx="7938" cy="1825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501" name="Line 32"/>
          <p:cNvSpPr>
            <a:spLocks noChangeShapeType="1"/>
          </p:cNvSpPr>
          <p:nvPr/>
        </p:nvSpPr>
        <p:spPr bwMode="auto">
          <a:xfrm flipV="1">
            <a:off x="1717675" y="1933575"/>
            <a:ext cx="5843588" cy="1588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2" name="Line 34"/>
          <p:cNvSpPr>
            <a:spLocks noChangeShapeType="1"/>
          </p:cNvSpPr>
          <p:nvPr/>
        </p:nvSpPr>
        <p:spPr bwMode="auto">
          <a:xfrm>
            <a:off x="1722438" y="2454275"/>
            <a:ext cx="5829300" cy="1111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3" name="Line 35"/>
          <p:cNvSpPr>
            <a:spLocks noChangeShapeType="1"/>
          </p:cNvSpPr>
          <p:nvPr/>
        </p:nvSpPr>
        <p:spPr bwMode="auto">
          <a:xfrm>
            <a:off x="1722438" y="2973388"/>
            <a:ext cx="5845175" cy="47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4" name="Line 36"/>
          <p:cNvSpPr>
            <a:spLocks noChangeShapeType="1"/>
          </p:cNvSpPr>
          <p:nvPr/>
        </p:nvSpPr>
        <p:spPr bwMode="auto">
          <a:xfrm flipV="1">
            <a:off x="1727200" y="3487738"/>
            <a:ext cx="5840413" cy="79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5" name="Line 38"/>
          <p:cNvSpPr>
            <a:spLocks noChangeShapeType="1"/>
          </p:cNvSpPr>
          <p:nvPr/>
        </p:nvSpPr>
        <p:spPr bwMode="auto">
          <a:xfrm>
            <a:off x="1727200" y="4540250"/>
            <a:ext cx="5864225" cy="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6" name="Line 39"/>
          <p:cNvSpPr>
            <a:spLocks noChangeShapeType="1"/>
          </p:cNvSpPr>
          <p:nvPr/>
        </p:nvSpPr>
        <p:spPr bwMode="auto">
          <a:xfrm flipV="1">
            <a:off x="1731963" y="5065713"/>
            <a:ext cx="5827712" cy="47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7" name="Line 40"/>
          <p:cNvSpPr>
            <a:spLocks noChangeShapeType="1"/>
          </p:cNvSpPr>
          <p:nvPr/>
        </p:nvSpPr>
        <p:spPr bwMode="auto">
          <a:xfrm flipV="1">
            <a:off x="1736725" y="5583238"/>
            <a:ext cx="5838825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8" name="Line 41"/>
          <p:cNvSpPr>
            <a:spLocks noChangeShapeType="1"/>
          </p:cNvSpPr>
          <p:nvPr/>
        </p:nvSpPr>
        <p:spPr bwMode="auto">
          <a:xfrm>
            <a:off x="1727200" y="6118225"/>
            <a:ext cx="5862638" cy="158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09" name="Line 43"/>
          <p:cNvSpPr>
            <a:spLocks noChangeShapeType="1"/>
          </p:cNvSpPr>
          <p:nvPr/>
        </p:nvSpPr>
        <p:spPr bwMode="auto">
          <a:xfrm flipH="1" flipV="1">
            <a:off x="5175250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0" name="Line 44"/>
          <p:cNvSpPr>
            <a:spLocks noChangeShapeType="1"/>
          </p:cNvSpPr>
          <p:nvPr/>
        </p:nvSpPr>
        <p:spPr bwMode="auto">
          <a:xfrm flipH="1" flipV="1">
            <a:off x="5795963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1" name="Line 45"/>
          <p:cNvSpPr>
            <a:spLocks noChangeShapeType="1"/>
          </p:cNvSpPr>
          <p:nvPr/>
        </p:nvSpPr>
        <p:spPr bwMode="auto">
          <a:xfrm flipH="1" flipV="1">
            <a:off x="6415088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2" name="Line 46"/>
          <p:cNvSpPr>
            <a:spLocks noChangeShapeType="1"/>
          </p:cNvSpPr>
          <p:nvPr/>
        </p:nvSpPr>
        <p:spPr bwMode="auto">
          <a:xfrm flipH="1" flipV="1">
            <a:off x="7035800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3" name="Text Box 48"/>
          <p:cNvSpPr txBox="1">
            <a:spLocks noChangeArrowheads="1"/>
          </p:cNvSpPr>
          <p:nvPr/>
        </p:nvSpPr>
        <p:spPr bwMode="auto">
          <a:xfrm>
            <a:off x="6515100" y="2489200"/>
            <a:ext cx="14335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Ib constant</a:t>
            </a:r>
          </a:p>
        </p:txBody>
      </p:sp>
      <p:sp>
        <p:nvSpPr>
          <p:cNvPr id="20514" name="Text Box 50"/>
          <p:cNvSpPr txBox="1">
            <a:spLocks noChangeArrowheads="1"/>
          </p:cNvSpPr>
          <p:nvPr/>
        </p:nvSpPr>
        <p:spPr bwMode="auto">
          <a:xfrm>
            <a:off x="6515100" y="4733925"/>
            <a:ext cx="14335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Ib constant</a:t>
            </a:r>
          </a:p>
        </p:txBody>
      </p:sp>
      <p:sp>
        <p:nvSpPr>
          <p:cNvPr id="20515" name="Line 51"/>
          <p:cNvSpPr>
            <a:spLocks noChangeShapeType="1"/>
          </p:cNvSpPr>
          <p:nvPr/>
        </p:nvSpPr>
        <p:spPr bwMode="auto">
          <a:xfrm flipH="1" flipV="1">
            <a:off x="2084388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6" name="Line 52"/>
          <p:cNvSpPr>
            <a:spLocks noChangeShapeType="1"/>
          </p:cNvSpPr>
          <p:nvPr/>
        </p:nvSpPr>
        <p:spPr bwMode="auto">
          <a:xfrm flipH="1" flipV="1">
            <a:off x="2705100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7" name="Line 53"/>
          <p:cNvSpPr>
            <a:spLocks noChangeShapeType="1"/>
          </p:cNvSpPr>
          <p:nvPr/>
        </p:nvSpPr>
        <p:spPr bwMode="auto">
          <a:xfrm flipH="1" flipV="1">
            <a:off x="3324225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8" name="Line 54"/>
          <p:cNvSpPr>
            <a:spLocks noChangeShapeType="1"/>
          </p:cNvSpPr>
          <p:nvPr/>
        </p:nvSpPr>
        <p:spPr bwMode="auto">
          <a:xfrm flipH="1" flipV="1">
            <a:off x="3944938" y="1719263"/>
            <a:ext cx="15875" cy="473233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0519" name="Line 56"/>
          <p:cNvSpPr>
            <a:spLocks noChangeShapeType="1"/>
          </p:cNvSpPr>
          <p:nvPr/>
        </p:nvSpPr>
        <p:spPr bwMode="auto">
          <a:xfrm flipH="1" flipV="1">
            <a:off x="1738313" y="2593975"/>
            <a:ext cx="2817812" cy="132238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520" name="Text Box 57"/>
          <p:cNvSpPr txBox="1">
            <a:spLocks noChangeArrowheads="1"/>
          </p:cNvSpPr>
          <p:nvPr/>
        </p:nvSpPr>
        <p:spPr bwMode="auto">
          <a:xfrm>
            <a:off x="2406650" y="2489200"/>
            <a:ext cx="157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Vcb constant</a:t>
            </a:r>
          </a:p>
        </p:txBody>
      </p:sp>
      <p:sp>
        <p:nvSpPr>
          <p:cNvPr id="20521" name="Freeform 58"/>
          <p:cNvSpPr>
            <a:spLocks/>
          </p:cNvSpPr>
          <p:nvPr/>
        </p:nvSpPr>
        <p:spPr bwMode="auto">
          <a:xfrm>
            <a:off x="1873250" y="4032250"/>
            <a:ext cx="2684463" cy="2038350"/>
          </a:xfrm>
          <a:custGeom>
            <a:avLst/>
            <a:gdLst>
              <a:gd name="T0" fmla="*/ 2684463 w 1691"/>
              <a:gd name="T1" fmla="*/ 0 h 1284"/>
              <a:gd name="T2" fmla="*/ 2354263 w 1691"/>
              <a:gd name="T3" fmla="*/ 1049338 h 1284"/>
              <a:gd name="T4" fmla="*/ 1454150 w 1691"/>
              <a:gd name="T5" fmla="*/ 1603375 h 1284"/>
              <a:gd name="T6" fmla="*/ 0 w 1691"/>
              <a:gd name="T7" fmla="*/ 2038350 h 12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91" h="1284">
                <a:moveTo>
                  <a:pt x="1691" y="0"/>
                </a:moveTo>
                <a:cubicBezTo>
                  <a:pt x="1651" y="249"/>
                  <a:pt x="1612" y="493"/>
                  <a:pt x="1483" y="661"/>
                </a:cubicBezTo>
                <a:cubicBezTo>
                  <a:pt x="1354" y="829"/>
                  <a:pt x="1163" y="906"/>
                  <a:pt x="916" y="1010"/>
                </a:cubicBezTo>
                <a:cubicBezTo>
                  <a:pt x="669" y="1114"/>
                  <a:pt x="191" y="1227"/>
                  <a:pt x="0" y="1284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0522" name="Text Box 59"/>
          <p:cNvSpPr txBox="1">
            <a:spLocks noChangeArrowheads="1"/>
          </p:cNvSpPr>
          <p:nvPr/>
        </p:nvSpPr>
        <p:spPr bwMode="auto">
          <a:xfrm>
            <a:off x="2406650" y="4733925"/>
            <a:ext cx="1565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Vce constant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68"/>
          <p:cNvSpPr txBox="1">
            <a:spLocks noChangeArrowheads="1"/>
          </p:cNvSpPr>
          <p:nvPr/>
        </p:nvSpPr>
        <p:spPr bwMode="auto">
          <a:xfrm>
            <a:off x="1406525" y="717550"/>
            <a:ext cx="5680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Propriétés technologiques</a:t>
            </a:r>
            <a:endParaRPr lang="fr-FR" altLang="fr-FR"/>
          </a:p>
        </p:txBody>
      </p:sp>
      <p:sp>
        <p:nvSpPr>
          <p:cNvPr id="21507" name="Rectangle 169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1508" name="Text Box 170"/>
          <p:cNvSpPr txBox="1">
            <a:spLocks noChangeArrowheads="1"/>
          </p:cNvSpPr>
          <p:nvPr/>
        </p:nvSpPr>
        <p:spPr bwMode="auto">
          <a:xfrm>
            <a:off x="1116013" y="186372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Base fine</a:t>
            </a:r>
            <a:r>
              <a:rPr lang="fr-FR" altLang="fr-FR" sz="2000"/>
              <a:t> pour éviter les recombinaisons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21509" name="Rectangle 171"/>
          <p:cNvSpPr>
            <a:spLocks noChangeArrowheads="1"/>
          </p:cNvSpPr>
          <p:nvPr/>
        </p:nvSpPr>
        <p:spPr bwMode="auto">
          <a:xfrm>
            <a:off x="1116013" y="2751138"/>
            <a:ext cx="7581900" cy="638175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1510" name="Text Box 172"/>
          <p:cNvSpPr txBox="1">
            <a:spLocks noChangeArrowheads="1"/>
          </p:cNvSpPr>
          <p:nvPr/>
        </p:nvSpPr>
        <p:spPr bwMode="auto">
          <a:xfrm>
            <a:off x="1116013" y="284162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Base faiblement dopée</a:t>
            </a:r>
            <a:r>
              <a:rPr lang="fr-FR" altLang="fr-FR" sz="2000"/>
              <a:t> pour limiter le courant de trous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21511" name="Rectangle 173"/>
          <p:cNvSpPr>
            <a:spLocks noChangeArrowheads="1"/>
          </p:cNvSpPr>
          <p:nvPr/>
        </p:nvSpPr>
        <p:spPr bwMode="auto">
          <a:xfrm>
            <a:off x="1116013" y="3732213"/>
            <a:ext cx="7581900" cy="877887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1512" name="Text Box 174"/>
          <p:cNvSpPr txBox="1">
            <a:spLocks noChangeArrowheads="1"/>
          </p:cNvSpPr>
          <p:nvPr/>
        </p:nvSpPr>
        <p:spPr bwMode="auto">
          <a:xfrm>
            <a:off x="1116013" y="3790950"/>
            <a:ext cx="7518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Emetteur fortement dopé</a:t>
            </a:r>
            <a:r>
              <a:rPr lang="fr-FR" altLang="fr-FR" sz="2000"/>
              <a:t> pour favoriser l’effet transistor</a:t>
            </a:r>
            <a:endParaRPr lang="fr-FR" altLang="fr-FR" sz="2400">
              <a:solidFill>
                <a:srgbClr val="FF3300"/>
              </a:solidFill>
            </a:endParaRPr>
          </a:p>
        </p:txBody>
      </p:sp>
      <p:pic>
        <p:nvPicPr>
          <p:cNvPr id="21513" name="Picture 178" descr="tr-phot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63" y="4946650"/>
            <a:ext cx="195580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4" name="Picture 179" descr="transistor_vieu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138" y="4967288"/>
            <a:ext cx="2763837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5" name="Picture 180" descr="phototransistor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-1846224">
            <a:off x="3683000" y="5529263"/>
            <a:ext cx="18065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2"/>
          <p:cNvSpPr>
            <a:spLocks noChangeArrowheads="1"/>
          </p:cNvSpPr>
          <p:nvPr/>
        </p:nvSpPr>
        <p:spPr bwMode="auto">
          <a:xfrm>
            <a:off x="1116013" y="2716213"/>
            <a:ext cx="7581900" cy="877887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49244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Propriétés électriques</a:t>
            </a:r>
            <a:endParaRPr lang="fr-FR" altLang="fr-FR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1116013" y="186372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Composant contrôlé par le</a:t>
            </a:r>
            <a:r>
              <a:rPr lang="fr-FR" altLang="fr-FR" sz="2400">
                <a:solidFill>
                  <a:srgbClr val="FF0000"/>
                </a:solidFill>
              </a:rPr>
              <a:t> courant de base </a:t>
            </a:r>
            <a:r>
              <a:rPr lang="fr-FR" altLang="fr-FR" sz="2000"/>
              <a:t>: Ic = f(Ib)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1116013" y="2744788"/>
            <a:ext cx="7518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Composant utilisant les </a:t>
            </a:r>
            <a:r>
              <a:rPr lang="fr-FR" altLang="fr-FR" sz="2400">
                <a:solidFill>
                  <a:srgbClr val="FF3300"/>
                </a:solidFill>
              </a:rPr>
              <a:t>porteurs majoritaires</a:t>
            </a:r>
            <a:r>
              <a:rPr lang="fr-FR" altLang="fr-FR" sz="2000"/>
              <a:t> et </a:t>
            </a:r>
            <a:r>
              <a:rPr lang="fr-FR" altLang="fr-FR" sz="2400">
                <a:solidFill>
                  <a:srgbClr val="FF3300"/>
                </a:solidFill>
              </a:rPr>
              <a:t>minoritaires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1116013" y="3859213"/>
            <a:ext cx="7581900" cy="877887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1116013" y="3917950"/>
            <a:ext cx="7518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Composant utilisant la </a:t>
            </a:r>
            <a:r>
              <a:rPr lang="fr-FR" altLang="fr-FR" sz="2400">
                <a:solidFill>
                  <a:srgbClr val="FF3300"/>
                </a:solidFill>
              </a:rPr>
              <a:t>jonction BC en inverse</a:t>
            </a:r>
            <a:r>
              <a:rPr lang="fr-FR" altLang="fr-FR" sz="2000"/>
              <a:t> pour accélérer les </a:t>
            </a:r>
            <a:r>
              <a:rPr lang="fr-FR" altLang="fr-FR" sz="2400">
                <a:solidFill>
                  <a:srgbClr val="FF3300"/>
                </a:solidFill>
              </a:rPr>
              <a:t>électrons majoritaires de l’emetteur</a:t>
            </a:r>
          </a:p>
        </p:txBody>
      </p:sp>
      <p:pic>
        <p:nvPicPr>
          <p:cNvPr id="22537" name="Picture 9" descr="tr-phot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63" y="4946650"/>
            <a:ext cx="195580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8" name="Picture 10" descr="transistor_vieu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138" y="4967288"/>
            <a:ext cx="2763837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9" name="Picture 11" descr="phototransistor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-1846224">
            <a:off x="3683000" y="5529263"/>
            <a:ext cx="18065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6791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transistor à effet de champ</a:t>
            </a:r>
            <a:endParaRPr lang="fr-FR" altLang="fr-FR"/>
          </a:p>
        </p:txBody>
      </p:sp>
      <p:grpSp>
        <p:nvGrpSpPr>
          <p:cNvPr id="23555" name="Group 54"/>
          <p:cNvGrpSpPr>
            <a:grpSpLocks/>
          </p:cNvGrpSpPr>
          <p:nvPr/>
        </p:nvGrpSpPr>
        <p:grpSpPr bwMode="auto">
          <a:xfrm>
            <a:off x="1116013" y="1773238"/>
            <a:ext cx="7581900" cy="855662"/>
            <a:chOff x="703" y="1117"/>
            <a:chExt cx="4776" cy="539"/>
          </a:xfrm>
        </p:grpSpPr>
        <p:sp>
          <p:nvSpPr>
            <p:cNvPr id="23568" name="Rectangle 36"/>
            <p:cNvSpPr>
              <a:spLocks noChangeArrowheads="1"/>
            </p:cNvSpPr>
            <p:nvPr/>
          </p:nvSpPr>
          <p:spPr bwMode="auto">
            <a:xfrm>
              <a:off x="703" y="1117"/>
              <a:ext cx="4776" cy="539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3569" name="Text Box 11"/>
            <p:cNvSpPr txBox="1">
              <a:spLocks noChangeArrowheads="1"/>
            </p:cNvSpPr>
            <p:nvPr/>
          </p:nvSpPr>
          <p:spPr bwMode="auto">
            <a:xfrm>
              <a:off x="703" y="1147"/>
              <a:ext cx="473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Principe : </a:t>
              </a:r>
              <a:r>
                <a:rPr lang="fr-FR" altLang="fr-FR" sz="2400">
                  <a:solidFill>
                    <a:srgbClr val="FF0000"/>
                  </a:solidFill>
                </a:rPr>
                <a:t>Contrôle du courant</a:t>
              </a:r>
              <a:r>
                <a:rPr lang="fr-FR" altLang="fr-FR" sz="2000"/>
                <a:t> dans un semiconducteur à l’aide de 2 tensions</a:t>
              </a:r>
            </a:p>
          </p:txBody>
        </p:sp>
      </p:grpSp>
      <p:graphicFrame>
        <p:nvGraphicFramePr>
          <p:cNvPr id="404521" name="Object 41"/>
          <p:cNvGraphicFramePr>
            <a:graphicFrameLocks noChangeAspect="1"/>
          </p:cNvGraphicFramePr>
          <p:nvPr/>
        </p:nvGraphicFramePr>
        <p:xfrm>
          <a:off x="1685925" y="3246438"/>
          <a:ext cx="2736850" cy="960437"/>
        </p:xfrm>
        <a:graphic>
          <a:graphicData uri="http://schemas.openxmlformats.org/presentationml/2006/ole">
            <p:oleObj spid="_x0000_s23556" name="Equation" r:id="rId3" imgW="1117115" imgH="393529" progId="">
              <p:embed/>
            </p:oleObj>
          </a:graphicData>
        </a:graphic>
      </p:graphicFrame>
      <p:grpSp>
        <p:nvGrpSpPr>
          <p:cNvPr id="404522" name="Group 42"/>
          <p:cNvGrpSpPr>
            <a:grpSpLocks/>
          </p:cNvGrpSpPr>
          <p:nvPr/>
        </p:nvGrpSpPr>
        <p:grpSpPr bwMode="auto">
          <a:xfrm>
            <a:off x="3995738" y="2994025"/>
            <a:ext cx="4302125" cy="835025"/>
            <a:chOff x="2574" y="3069"/>
            <a:chExt cx="2710" cy="526"/>
          </a:xfrm>
        </p:grpSpPr>
        <p:sp>
          <p:nvSpPr>
            <p:cNvPr id="23565" name="Oval 43"/>
            <p:cNvSpPr>
              <a:spLocks noChangeArrowheads="1"/>
            </p:cNvSpPr>
            <p:nvPr/>
          </p:nvSpPr>
          <p:spPr bwMode="auto">
            <a:xfrm>
              <a:off x="2574" y="3198"/>
              <a:ext cx="312" cy="397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6" name="Line 44"/>
            <p:cNvSpPr>
              <a:spLocks noChangeShapeType="1"/>
            </p:cNvSpPr>
            <p:nvPr/>
          </p:nvSpPr>
          <p:spPr bwMode="auto">
            <a:xfrm flipV="1">
              <a:off x="2907" y="3258"/>
              <a:ext cx="537" cy="11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7" name="Text Box 45"/>
            <p:cNvSpPr txBox="1">
              <a:spLocks noChangeArrowheads="1"/>
            </p:cNvSpPr>
            <p:nvPr/>
          </p:nvSpPr>
          <p:spPr bwMode="auto">
            <a:xfrm>
              <a:off x="3441" y="3069"/>
              <a:ext cx="184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0000FF"/>
                  </a:solidFill>
                </a:rPr>
                <a:t>Modifier la section: JFET</a:t>
              </a:r>
            </a:p>
          </p:txBody>
        </p:sp>
      </p:grpSp>
      <p:grpSp>
        <p:nvGrpSpPr>
          <p:cNvPr id="404526" name="Group 46"/>
          <p:cNvGrpSpPr>
            <a:grpSpLocks/>
          </p:cNvGrpSpPr>
          <p:nvPr/>
        </p:nvGrpSpPr>
        <p:grpSpPr bwMode="auto">
          <a:xfrm>
            <a:off x="3224213" y="3454400"/>
            <a:ext cx="4610100" cy="1001713"/>
            <a:chOff x="2088" y="3359"/>
            <a:chExt cx="2904" cy="631"/>
          </a:xfrm>
        </p:grpSpPr>
        <p:sp>
          <p:nvSpPr>
            <p:cNvPr id="23562" name="Oval 47"/>
            <p:cNvSpPr>
              <a:spLocks noChangeArrowheads="1"/>
            </p:cNvSpPr>
            <p:nvPr/>
          </p:nvSpPr>
          <p:spPr bwMode="auto">
            <a:xfrm>
              <a:off x="2088" y="3359"/>
              <a:ext cx="312" cy="397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3" name="Line 48"/>
            <p:cNvSpPr>
              <a:spLocks noChangeShapeType="1"/>
            </p:cNvSpPr>
            <p:nvPr/>
          </p:nvSpPr>
          <p:spPr bwMode="auto">
            <a:xfrm>
              <a:off x="2408" y="3710"/>
              <a:ext cx="935" cy="1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4" name="Text Box 49"/>
            <p:cNvSpPr txBox="1">
              <a:spLocks noChangeArrowheads="1"/>
            </p:cNvSpPr>
            <p:nvPr/>
          </p:nvSpPr>
          <p:spPr bwMode="auto">
            <a:xfrm>
              <a:off x="3383" y="3586"/>
              <a:ext cx="1609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00"/>
                  </a:solidFill>
                </a:rPr>
                <a:t>Modifier la densité</a:t>
              </a:r>
            </a:p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00"/>
                  </a:solidFill>
                </a:rPr>
                <a:t>de porteurs: MOSFET</a:t>
              </a:r>
            </a:p>
          </p:txBody>
        </p:sp>
      </p:grpSp>
      <p:grpSp>
        <p:nvGrpSpPr>
          <p:cNvPr id="404535" name="Group 55"/>
          <p:cNvGrpSpPr>
            <a:grpSpLocks/>
          </p:cNvGrpSpPr>
          <p:nvPr/>
        </p:nvGrpSpPr>
        <p:grpSpPr bwMode="auto">
          <a:xfrm>
            <a:off x="1116013" y="5057775"/>
            <a:ext cx="7581900" cy="855663"/>
            <a:chOff x="703" y="3186"/>
            <a:chExt cx="4776" cy="539"/>
          </a:xfrm>
        </p:grpSpPr>
        <p:sp>
          <p:nvSpPr>
            <p:cNvPr id="23560" name="Rectangle 51"/>
            <p:cNvSpPr>
              <a:spLocks noChangeArrowheads="1"/>
            </p:cNvSpPr>
            <p:nvPr/>
          </p:nvSpPr>
          <p:spPr bwMode="auto">
            <a:xfrm>
              <a:off x="703" y="3186"/>
              <a:ext cx="4776" cy="539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3561" name="Text Box 52"/>
            <p:cNvSpPr txBox="1">
              <a:spLocks noChangeArrowheads="1"/>
            </p:cNvSpPr>
            <p:nvPr/>
          </p:nvSpPr>
          <p:spPr bwMode="auto">
            <a:xfrm>
              <a:off x="703" y="3197"/>
              <a:ext cx="473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L’</a:t>
              </a:r>
              <a:r>
                <a:rPr lang="fr-FR" altLang="fr-FR" sz="2400">
                  <a:solidFill>
                    <a:srgbClr val="FF0000"/>
                  </a:solidFill>
                </a:rPr>
                <a:t>effet de champ</a:t>
              </a:r>
              <a:r>
                <a:rPr lang="fr-FR" altLang="fr-FR" sz="2000"/>
                <a:t> se manifeste par le </a:t>
              </a:r>
              <a:r>
                <a:rPr lang="fr-FR" altLang="fr-FR" sz="2400">
                  <a:solidFill>
                    <a:srgbClr val="FF0000"/>
                  </a:solidFill>
                </a:rPr>
                <a:t>pincement du canal</a:t>
              </a:r>
              <a:r>
                <a:rPr lang="fr-FR" altLang="fr-FR" sz="2000"/>
                <a:t> conducteur et la limitation de la </a:t>
              </a:r>
              <a:r>
                <a:rPr lang="fr-FR" altLang="fr-FR" sz="2400">
                  <a:solidFill>
                    <a:srgbClr val="FF0000"/>
                  </a:solidFill>
                </a:rPr>
                <a:t>vitesse</a:t>
              </a:r>
              <a:r>
                <a:rPr lang="fr-FR" altLang="fr-FR" sz="2000"/>
                <a:t> des porteurs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42" name="Group 2"/>
          <p:cNvGrpSpPr>
            <a:grpSpLocks/>
          </p:cNvGrpSpPr>
          <p:nvPr/>
        </p:nvGrpSpPr>
        <p:grpSpPr bwMode="auto">
          <a:xfrm>
            <a:off x="2668588" y="4445000"/>
            <a:ext cx="612775" cy="917575"/>
            <a:chOff x="1681" y="2800"/>
            <a:chExt cx="386" cy="578"/>
          </a:xfrm>
        </p:grpSpPr>
        <p:sp>
          <p:nvSpPr>
            <p:cNvPr id="24613" name="Line 3"/>
            <p:cNvSpPr>
              <a:spLocks noChangeShapeType="1"/>
            </p:cNvSpPr>
            <p:nvPr/>
          </p:nvSpPr>
          <p:spPr bwMode="auto">
            <a:xfrm>
              <a:off x="1681" y="3079"/>
              <a:ext cx="3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24614" name="Rectangle 4"/>
            <p:cNvSpPr>
              <a:spLocks noChangeArrowheads="1"/>
            </p:cNvSpPr>
            <p:nvPr/>
          </p:nvSpPr>
          <p:spPr bwMode="auto">
            <a:xfrm>
              <a:off x="1950" y="2800"/>
              <a:ext cx="117" cy="57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</p:grpSp>
      <p:sp>
        <p:nvSpPr>
          <p:cNvPr id="419845" name="Rectangle 5"/>
          <p:cNvSpPr>
            <a:spLocks noChangeArrowheads="1"/>
          </p:cNvSpPr>
          <p:nvPr/>
        </p:nvSpPr>
        <p:spPr bwMode="auto">
          <a:xfrm>
            <a:off x="4344988" y="5224463"/>
            <a:ext cx="606425" cy="187325"/>
          </a:xfrm>
          <a:prstGeom prst="rect">
            <a:avLst/>
          </a:prstGeom>
          <a:solidFill>
            <a:srgbClr val="B2B2B2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24580" name="Group 6"/>
          <p:cNvGrpSpPr>
            <a:grpSpLocks/>
          </p:cNvGrpSpPr>
          <p:nvPr/>
        </p:nvGrpSpPr>
        <p:grpSpPr bwMode="auto">
          <a:xfrm>
            <a:off x="3290888" y="4443413"/>
            <a:ext cx="2562225" cy="962025"/>
            <a:chOff x="763" y="2493"/>
            <a:chExt cx="1614" cy="538"/>
          </a:xfrm>
        </p:grpSpPr>
        <p:sp>
          <p:nvSpPr>
            <p:cNvPr id="24611" name="Rectangle 7"/>
            <p:cNvSpPr>
              <a:spLocks noChangeArrowheads="1"/>
            </p:cNvSpPr>
            <p:nvPr/>
          </p:nvSpPr>
          <p:spPr bwMode="auto">
            <a:xfrm>
              <a:off x="763" y="2493"/>
              <a:ext cx="1614" cy="516"/>
            </a:xfrm>
            <a:prstGeom prst="rect">
              <a:avLst/>
            </a:prstGeom>
            <a:solidFill>
              <a:srgbClr val="00FF00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00FF00"/>
              </a:extrusionClr>
            </a:sp3d>
          </p:spPr>
          <p:txBody>
            <a:bodyPr wrap="none" anchor="ctr">
              <a:flatTx/>
            </a:bodyPr>
            <a:lstStyle/>
            <a:p>
              <a:pPr algn="ctr">
                <a:spcBef>
                  <a:spcPct val="0"/>
                </a:spcBef>
              </a:pPr>
              <a:endParaRPr lang="fr-FR" altLang="fr-FR"/>
            </a:p>
          </p:txBody>
        </p:sp>
        <p:sp>
          <p:nvSpPr>
            <p:cNvPr id="24612" name="Text Box 8"/>
            <p:cNvSpPr txBox="1">
              <a:spLocks noChangeArrowheads="1"/>
            </p:cNvSpPr>
            <p:nvPr/>
          </p:nvSpPr>
          <p:spPr bwMode="auto">
            <a:xfrm>
              <a:off x="776" y="2826"/>
              <a:ext cx="264" cy="20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</a:t>
              </a:r>
            </a:p>
          </p:txBody>
        </p:sp>
      </p:grpSp>
      <p:sp>
        <p:nvSpPr>
          <p:cNvPr id="24581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6791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transistor à effet de champ</a:t>
            </a:r>
            <a:endParaRPr lang="fr-FR" altLang="fr-FR"/>
          </a:p>
        </p:txBody>
      </p:sp>
      <p:sp>
        <p:nvSpPr>
          <p:cNvPr id="24582" name="Rectangle 10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4583" name="Text Box 11"/>
          <p:cNvSpPr txBox="1">
            <a:spLocks noChangeArrowheads="1"/>
          </p:cNvSpPr>
          <p:nvPr/>
        </p:nvSpPr>
        <p:spPr bwMode="auto">
          <a:xfrm>
            <a:off x="1116013" y="186372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Structure </a:t>
            </a:r>
            <a:r>
              <a:rPr lang="fr-FR" altLang="fr-FR" sz="2000"/>
              <a:t>d’un</a:t>
            </a:r>
            <a:r>
              <a:rPr lang="fr-FR" altLang="fr-FR" sz="2400">
                <a:solidFill>
                  <a:srgbClr val="FF0000"/>
                </a:solidFill>
              </a:rPr>
              <a:t> jfet </a:t>
            </a:r>
            <a:r>
              <a:rPr lang="fr-FR" altLang="fr-FR" sz="2000"/>
              <a:t>(Junction Field Effet Transistor)</a:t>
            </a:r>
          </a:p>
        </p:txBody>
      </p:sp>
      <p:grpSp>
        <p:nvGrpSpPr>
          <p:cNvPr id="419852" name="Group 12"/>
          <p:cNvGrpSpPr>
            <a:grpSpLocks/>
          </p:cNvGrpSpPr>
          <p:nvPr/>
        </p:nvGrpSpPr>
        <p:grpSpPr bwMode="auto">
          <a:xfrm>
            <a:off x="3730625" y="5727700"/>
            <a:ext cx="2095500" cy="638175"/>
            <a:chOff x="2220" y="3608"/>
            <a:chExt cx="1320" cy="402"/>
          </a:xfrm>
        </p:grpSpPr>
        <p:sp>
          <p:nvSpPr>
            <p:cNvPr id="24609" name="Rectangle 13"/>
            <p:cNvSpPr>
              <a:spLocks noChangeArrowheads="1"/>
            </p:cNvSpPr>
            <p:nvPr/>
          </p:nvSpPr>
          <p:spPr bwMode="auto">
            <a:xfrm>
              <a:off x="2220" y="3608"/>
              <a:ext cx="1320" cy="402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4610" name="Text Box 14"/>
            <p:cNvSpPr txBox="1">
              <a:spLocks noChangeArrowheads="1"/>
            </p:cNvSpPr>
            <p:nvPr/>
          </p:nvSpPr>
          <p:spPr bwMode="auto">
            <a:xfrm>
              <a:off x="2252" y="3665"/>
              <a:ext cx="12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/>
                <a:t>Jfet à Canal</a:t>
              </a:r>
              <a:r>
                <a:rPr lang="fr-FR" altLang="fr-FR" sz="2400">
                  <a:solidFill>
                    <a:srgbClr val="FF0000"/>
                  </a:solidFill>
                </a:rPr>
                <a:t> </a:t>
              </a:r>
              <a:r>
                <a:rPr lang="fr-FR" altLang="fr-FR" sz="2000">
                  <a:solidFill>
                    <a:srgbClr val="FF0000"/>
                  </a:solidFill>
                </a:rPr>
                <a:t>N</a:t>
              </a:r>
              <a:endParaRPr lang="fr-FR" altLang="fr-FR" sz="2000">
                <a:solidFill>
                  <a:srgbClr val="FF3300"/>
                </a:solidFill>
              </a:endParaRPr>
            </a:p>
          </p:txBody>
        </p:sp>
      </p:grpSp>
      <p:grpSp>
        <p:nvGrpSpPr>
          <p:cNvPr id="419855" name="Group 15"/>
          <p:cNvGrpSpPr>
            <a:grpSpLocks/>
          </p:cNvGrpSpPr>
          <p:nvPr/>
        </p:nvGrpSpPr>
        <p:grpSpPr bwMode="auto">
          <a:xfrm>
            <a:off x="3962400" y="3797300"/>
            <a:ext cx="1854200" cy="1641475"/>
            <a:chOff x="2496" y="2392"/>
            <a:chExt cx="1168" cy="1034"/>
          </a:xfrm>
        </p:grpSpPr>
        <p:sp>
          <p:nvSpPr>
            <p:cNvPr id="24604" name="Freeform 16"/>
            <p:cNvSpPr>
              <a:spLocks/>
            </p:cNvSpPr>
            <p:nvPr/>
          </p:nvSpPr>
          <p:spPr bwMode="auto">
            <a:xfrm>
              <a:off x="2496" y="239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9900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24605" name="Rectangle 17"/>
            <p:cNvSpPr>
              <a:spLocks noChangeArrowheads="1"/>
            </p:cNvSpPr>
            <p:nvPr/>
          </p:nvSpPr>
          <p:spPr bwMode="auto">
            <a:xfrm>
              <a:off x="2497" y="2802"/>
              <a:ext cx="765" cy="147"/>
            </a:xfrm>
            <a:prstGeom prst="rect">
              <a:avLst/>
            </a:prstGeom>
            <a:solidFill>
              <a:srgbClr val="CC0000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24606" name="Rectangle 18"/>
            <p:cNvSpPr>
              <a:spLocks noChangeArrowheads="1"/>
            </p:cNvSpPr>
            <p:nvPr/>
          </p:nvSpPr>
          <p:spPr bwMode="auto">
            <a:xfrm>
              <a:off x="2497" y="3240"/>
              <a:ext cx="765" cy="147"/>
            </a:xfrm>
            <a:prstGeom prst="rect">
              <a:avLst/>
            </a:prstGeom>
            <a:solidFill>
              <a:srgbClr val="CC0000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24607" name="Text Box 19"/>
            <p:cNvSpPr txBox="1">
              <a:spLocks noChangeArrowheads="1"/>
            </p:cNvSpPr>
            <p:nvPr/>
          </p:nvSpPr>
          <p:spPr bwMode="auto">
            <a:xfrm>
              <a:off x="3108" y="3195"/>
              <a:ext cx="208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24608" name="Text Box 20"/>
            <p:cNvSpPr txBox="1">
              <a:spLocks noChangeArrowheads="1"/>
            </p:cNvSpPr>
            <p:nvPr/>
          </p:nvSpPr>
          <p:spPr bwMode="auto">
            <a:xfrm>
              <a:off x="3108" y="2771"/>
              <a:ext cx="208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P</a:t>
              </a:r>
            </a:p>
          </p:txBody>
        </p:sp>
      </p:grpSp>
      <p:grpSp>
        <p:nvGrpSpPr>
          <p:cNvPr id="419861" name="Group 21"/>
          <p:cNvGrpSpPr>
            <a:grpSpLocks/>
          </p:cNvGrpSpPr>
          <p:nvPr/>
        </p:nvGrpSpPr>
        <p:grpSpPr bwMode="auto">
          <a:xfrm>
            <a:off x="5853113" y="4445000"/>
            <a:ext cx="1133475" cy="917575"/>
            <a:chOff x="3687" y="2800"/>
            <a:chExt cx="714" cy="578"/>
          </a:xfrm>
        </p:grpSpPr>
        <p:sp>
          <p:nvSpPr>
            <p:cNvPr id="24602" name="Rectangle 22"/>
            <p:cNvSpPr>
              <a:spLocks noChangeArrowheads="1"/>
            </p:cNvSpPr>
            <p:nvPr/>
          </p:nvSpPr>
          <p:spPr bwMode="auto">
            <a:xfrm>
              <a:off x="3687" y="2800"/>
              <a:ext cx="117" cy="57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24603" name="Line 23"/>
            <p:cNvSpPr>
              <a:spLocks noChangeShapeType="1"/>
            </p:cNvSpPr>
            <p:nvPr/>
          </p:nvSpPr>
          <p:spPr bwMode="auto">
            <a:xfrm>
              <a:off x="4023" y="2912"/>
              <a:ext cx="3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19864" name="Group 24"/>
          <p:cNvGrpSpPr>
            <a:grpSpLocks/>
          </p:cNvGrpSpPr>
          <p:nvPr/>
        </p:nvGrpSpPr>
        <p:grpSpPr bwMode="auto">
          <a:xfrm>
            <a:off x="4344988" y="3600450"/>
            <a:ext cx="606425" cy="719138"/>
            <a:chOff x="2737" y="2268"/>
            <a:chExt cx="382" cy="453"/>
          </a:xfrm>
        </p:grpSpPr>
        <p:sp>
          <p:nvSpPr>
            <p:cNvPr id="24600" name="Rectangle 25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24601" name="Line 26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19867" name="Group 27"/>
          <p:cNvGrpSpPr>
            <a:grpSpLocks/>
          </p:cNvGrpSpPr>
          <p:nvPr/>
        </p:nvGrpSpPr>
        <p:grpSpPr bwMode="auto">
          <a:xfrm>
            <a:off x="4318000" y="2789238"/>
            <a:ext cx="957263" cy="638175"/>
            <a:chOff x="3938" y="3133"/>
            <a:chExt cx="603" cy="402"/>
          </a:xfrm>
        </p:grpSpPr>
        <p:sp>
          <p:nvSpPr>
            <p:cNvPr id="24598" name="Rectangle 28"/>
            <p:cNvSpPr>
              <a:spLocks noChangeArrowheads="1"/>
            </p:cNvSpPr>
            <p:nvPr/>
          </p:nvSpPr>
          <p:spPr bwMode="auto">
            <a:xfrm>
              <a:off x="3938" y="3133"/>
              <a:ext cx="603" cy="40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4599" name="Text Box 29"/>
            <p:cNvSpPr txBox="1">
              <a:spLocks noChangeArrowheads="1"/>
            </p:cNvSpPr>
            <p:nvPr/>
          </p:nvSpPr>
          <p:spPr bwMode="auto">
            <a:xfrm>
              <a:off x="3975" y="3219"/>
              <a:ext cx="529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/>
                <a:t>Grille</a:t>
              </a:r>
            </a:p>
          </p:txBody>
        </p:sp>
      </p:grpSp>
      <p:grpSp>
        <p:nvGrpSpPr>
          <p:cNvPr id="419870" name="Group 30"/>
          <p:cNvGrpSpPr>
            <a:grpSpLocks/>
          </p:cNvGrpSpPr>
          <p:nvPr/>
        </p:nvGrpSpPr>
        <p:grpSpPr bwMode="auto">
          <a:xfrm>
            <a:off x="1560513" y="4529138"/>
            <a:ext cx="1004887" cy="638175"/>
            <a:chOff x="982" y="2529"/>
            <a:chExt cx="633" cy="402"/>
          </a:xfrm>
        </p:grpSpPr>
        <p:sp>
          <p:nvSpPr>
            <p:cNvPr id="24596" name="Rectangle 31"/>
            <p:cNvSpPr>
              <a:spLocks noChangeArrowheads="1"/>
            </p:cNvSpPr>
            <p:nvPr/>
          </p:nvSpPr>
          <p:spPr bwMode="auto">
            <a:xfrm>
              <a:off x="996" y="2529"/>
              <a:ext cx="603" cy="40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4597" name="Text Box 32"/>
            <p:cNvSpPr txBox="1">
              <a:spLocks noChangeArrowheads="1"/>
            </p:cNvSpPr>
            <p:nvPr/>
          </p:nvSpPr>
          <p:spPr bwMode="auto">
            <a:xfrm>
              <a:off x="982" y="2615"/>
              <a:ext cx="633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/>
                <a:t>Source</a:t>
              </a:r>
            </a:p>
          </p:txBody>
        </p:sp>
      </p:grpSp>
      <p:grpSp>
        <p:nvGrpSpPr>
          <p:cNvPr id="419873" name="Group 33"/>
          <p:cNvGrpSpPr>
            <a:grpSpLocks/>
          </p:cNvGrpSpPr>
          <p:nvPr/>
        </p:nvGrpSpPr>
        <p:grpSpPr bwMode="auto">
          <a:xfrm>
            <a:off x="7204075" y="4310063"/>
            <a:ext cx="957263" cy="638175"/>
            <a:chOff x="3938" y="3133"/>
            <a:chExt cx="603" cy="402"/>
          </a:xfrm>
        </p:grpSpPr>
        <p:sp>
          <p:nvSpPr>
            <p:cNvPr id="24594" name="Rectangle 34"/>
            <p:cNvSpPr>
              <a:spLocks noChangeArrowheads="1"/>
            </p:cNvSpPr>
            <p:nvPr/>
          </p:nvSpPr>
          <p:spPr bwMode="auto">
            <a:xfrm>
              <a:off x="3938" y="3133"/>
              <a:ext cx="603" cy="40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4595" name="Text Box 35"/>
            <p:cNvSpPr txBox="1">
              <a:spLocks noChangeArrowheads="1"/>
            </p:cNvSpPr>
            <p:nvPr/>
          </p:nvSpPr>
          <p:spPr bwMode="auto">
            <a:xfrm>
              <a:off x="3975" y="3219"/>
              <a:ext cx="529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/>
                <a:t>Drain</a:t>
              </a:r>
            </a:p>
          </p:txBody>
        </p:sp>
      </p:grpSp>
      <p:sp>
        <p:nvSpPr>
          <p:cNvPr id="419876" name="Text Box 36"/>
          <p:cNvSpPr txBox="1">
            <a:spLocks noChangeArrowheads="1"/>
          </p:cNvSpPr>
          <p:nvPr/>
        </p:nvSpPr>
        <p:spPr bwMode="auto">
          <a:xfrm>
            <a:off x="930275" y="5407025"/>
            <a:ext cx="2265363" cy="7302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400"/>
              <a:t>Électrode par laquelle les porteurs majoritaires entrent dans le canal</a:t>
            </a:r>
          </a:p>
        </p:txBody>
      </p:sp>
      <p:sp>
        <p:nvSpPr>
          <p:cNvPr id="419877" name="Text Box 37"/>
          <p:cNvSpPr txBox="1">
            <a:spLocks noChangeArrowheads="1"/>
          </p:cNvSpPr>
          <p:nvPr/>
        </p:nvSpPr>
        <p:spPr bwMode="auto">
          <a:xfrm>
            <a:off x="6550025" y="5248275"/>
            <a:ext cx="2265363" cy="7302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400"/>
              <a:t>Électrode par laquelle les porteurs majoritaires quittent le canal</a:t>
            </a:r>
          </a:p>
        </p:txBody>
      </p:sp>
      <p:sp>
        <p:nvSpPr>
          <p:cNvPr id="419878" name="Text Box 38"/>
          <p:cNvSpPr txBox="1">
            <a:spLocks noChangeArrowheads="1"/>
          </p:cNvSpPr>
          <p:nvPr/>
        </p:nvSpPr>
        <p:spPr bwMode="auto">
          <a:xfrm>
            <a:off x="5613400" y="2847975"/>
            <a:ext cx="2265363" cy="5175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400"/>
              <a:t>Électrode de commande du courant 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1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1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1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1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1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1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1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5" grpId="0" animBg="1"/>
      <p:bldP spid="419876" grpId="0"/>
      <p:bldP spid="419877" grpId="0"/>
      <p:bldP spid="41987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2"/>
          <p:cNvSpPr txBox="1">
            <a:spLocks noChangeArrowheads="1"/>
          </p:cNvSpPr>
          <p:nvPr/>
        </p:nvSpPr>
        <p:spPr bwMode="auto">
          <a:xfrm>
            <a:off x="1406525" y="717550"/>
            <a:ext cx="6791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transistor à effet de champ</a:t>
            </a:r>
            <a:endParaRPr lang="fr-FR" altLang="fr-FR"/>
          </a:p>
        </p:txBody>
      </p:sp>
      <p:grpSp>
        <p:nvGrpSpPr>
          <p:cNvPr id="25603" name="Group 17"/>
          <p:cNvGrpSpPr>
            <a:grpSpLocks/>
          </p:cNvGrpSpPr>
          <p:nvPr/>
        </p:nvGrpSpPr>
        <p:grpSpPr bwMode="auto">
          <a:xfrm>
            <a:off x="1116013" y="1773238"/>
            <a:ext cx="7581900" cy="638175"/>
            <a:chOff x="703" y="1117"/>
            <a:chExt cx="4776" cy="402"/>
          </a:xfrm>
        </p:grpSpPr>
        <p:sp>
          <p:nvSpPr>
            <p:cNvPr id="25612" name="Rectangle 4"/>
            <p:cNvSpPr>
              <a:spLocks noChangeArrowheads="1"/>
            </p:cNvSpPr>
            <p:nvPr/>
          </p:nvSpPr>
          <p:spPr bwMode="auto">
            <a:xfrm>
              <a:off x="703" y="1117"/>
              <a:ext cx="4776" cy="402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5613" name="Text Box 5"/>
            <p:cNvSpPr txBox="1">
              <a:spLocks noChangeArrowheads="1"/>
            </p:cNvSpPr>
            <p:nvPr/>
          </p:nvSpPr>
          <p:spPr bwMode="auto">
            <a:xfrm>
              <a:off x="703" y="1174"/>
              <a:ext cx="47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Composant contrôlé par la </a:t>
              </a:r>
              <a:r>
                <a:rPr lang="fr-FR" altLang="fr-FR" sz="2400">
                  <a:solidFill>
                    <a:srgbClr val="FF3300"/>
                  </a:solidFill>
                </a:rPr>
                <a:t>tension de grille</a:t>
              </a:r>
            </a:p>
          </p:txBody>
        </p:sp>
      </p:grpSp>
      <p:sp>
        <p:nvSpPr>
          <p:cNvPr id="25604" name="Rectangle 13"/>
          <p:cNvSpPr>
            <a:spLocks noChangeArrowheads="1"/>
          </p:cNvSpPr>
          <p:nvPr/>
        </p:nvSpPr>
        <p:spPr bwMode="auto">
          <a:xfrm>
            <a:off x="1116013" y="2828925"/>
            <a:ext cx="7581900" cy="638175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5605" name="Text Box 6"/>
          <p:cNvSpPr txBox="1">
            <a:spLocks noChangeArrowheads="1"/>
          </p:cNvSpPr>
          <p:nvPr/>
        </p:nvSpPr>
        <p:spPr bwMode="auto">
          <a:xfrm>
            <a:off x="1116013" y="2919413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Composant utilisant uniquement les </a:t>
            </a:r>
            <a:r>
              <a:rPr lang="fr-FR" altLang="fr-FR" sz="2400">
                <a:solidFill>
                  <a:srgbClr val="FF3300"/>
                </a:solidFill>
              </a:rPr>
              <a:t>porteurs majoritaires</a:t>
            </a:r>
          </a:p>
        </p:txBody>
      </p:sp>
      <p:grpSp>
        <p:nvGrpSpPr>
          <p:cNvPr id="25606" name="Group 15"/>
          <p:cNvGrpSpPr>
            <a:grpSpLocks/>
          </p:cNvGrpSpPr>
          <p:nvPr/>
        </p:nvGrpSpPr>
        <p:grpSpPr bwMode="auto">
          <a:xfrm>
            <a:off x="1116013" y="3884613"/>
            <a:ext cx="7581900" cy="638175"/>
            <a:chOff x="703" y="2447"/>
            <a:chExt cx="4776" cy="402"/>
          </a:xfrm>
        </p:grpSpPr>
        <p:sp>
          <p:nvSpPr>
            <p:cNvPr id="25610" name="Rectangle 14"/>
            <p:cNvSpPr>
              <a:spLocks noChangeArrowheads="1"/>
            </p:cNvSpPr>
            <p:nvPr/>
          </p:nvSpPr>
          <p:spPr bwMode="auto">
            <a:xfrm>
              <a:off x="703" y="2447"/>
              <a:ext cx="4776" cy="402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5611" name="Text Box 8"/>
            <p:cNvSpPr txBox="1">
              <a:spLocks noChangeArrowheads="1"/>
            </p:cNvSpPr>
            <p:nvPr/>
          </p:nvSpPr>
          <p:spPr bwMode="auto">
            <a:xfrm>
              <a:off x="703" y="2504"/>
              <a:ext cx="47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Les </a:t>
              </a:r>
              <a:r>
                <a:rPr lang="fr-FR" altLang="fr-FR" sz="2400">
                  <a:solidFill>
                    <a:srgbClr val="FF3300"/>
                  </a:solidFill>
                </a:rPr>
                <a:t>porteurs majoritaires </a:t>
              </a:r>
              <a:r>
                <a:rPr lang="fr-FR" altLang="fr-FR" sz="2000"/>
                <a:t>ne traversent aucune jonction</a:t>
              </a:r>
            </a:p>
          </p:txBody>
        </p:sp>
      </p:grpSp>
      <p:pic>
        <p:nvPicPr>
          <p:cNvPr id="25607" name="Picture 9" descr="tr-phot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63" y="4946650"/>
            <a:ext cx="195580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8" name="Picture 10" descr="transistor_vieu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138" y="4967288"/>
            <a:ext cx="2763837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9" name="Picture 11" descr="phototransistor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-1846224">
            <a:off x="3683000" y="5529263"/>
            <a:ext cx="18065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3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2139950" y="3524250"/>
            <a:ext cx="185738" cy="817563"/>
          </a:xfrm>
          <a:prstGeom prst="rect">
            <a:avLst/>
          </a:prstGeom>
          <a:solidFill>
            <a:srgbClr val="B2B2B2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26628" name="Rectangle 66"/>
          <p:cNvSpPr>
            <a:spLocks noChangeArrowheads="1"/>
          </p:cNvSpPr>
          <p:nvPr/>
        </p:nvSpPr>
        <p:spPr bwMode="auto">
          <a:xfrm>
            <a:off x="4108450" y="4243388"/>
            <a:ext cx="606425" cy="187325"/>
          </a:xfrm>
          <a:prstGeom prst="rect">
            <a:avLst/>
          </a:prstGeom>
          <a:solidFill>
            <a:srgbClr val="B2B2B2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26629" name="Rectangle 3"/>
          <p:cNvSpPr>
            <a:spLocks noChangeArrowheads="1"/>
          </p:cNvSpPr>
          <p:nvPr/>
        </p:nvSpPr>
        <p:spPr bwMode="auto">
          <a:xfrm>
            <a:off x="2328863" y="3527425"/>
            <a:ext cx="4205287" cy="819150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26630" name="Rectangle 8"/>
          <p:cNvSpPr>
            <a:spLocks noChangeArrowheads="1"/>
          </p:cNvSpPr>
          <p:nvPr/>
        </p:nvSpPr>
        <p:spPr bwMode="auto">
          <a:xfrm>
            <a:off x="6535738" y="3514725"/>
            <a:ext cx="185737" cy="831850"/>
          </a:xfrm>
          <a:prstGeom prst="rect">
            <a:avLst/>
          </a:prstGeom>
          <a:solidFill>
            <a:srgbClr val="B2B2B2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26631" name="Text Box 15"/>
          <p:cNvSpPr txBox="1">
            <a:spLocks noChangeArrowheads="1"/>
          </p:cNvSpPr>
          <p:nvPr/>
        </p:nvSpPr>
        <p:spPr bwMode="auto">
          <a:xfrm>
            <a:off x="3413125" y="4378325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Grille</a:t>
            </a:r>
          </a:p>
        </p:txBody>
      </p:sp>
      <p:sp>
        <p:nvSpPr>
          <p:cNvPr id="26632" name="Text Box 24"/>
          <p:cNvSpPr txBox="1">
            <a:spLocks noChangeArrowheads="1"/>
          </p:cNvSpPr>
          <p:nvPr/>
        </p:nvSpPr>
        <p:spPr bwMode="auto">
          <a:xfrm>
            <a:off x="2278063" y="4048125"/>
            <a:ext cx="3667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6633" name="Text Box 25"/>
          <p:cNvSpPr txBox="1">
            <a:spLocks noChangeArrowheads="1"/>
          </p:cNvSpPr>
          <p:nvPr/>
        </p:nvSpPr>
        <p:spPr bwMode="auto">
          <a:xfrm>
            <a:off x="6207125" y="4048125"/>
            <a:ext cx="3667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6634" name="Text Box 48"/>
          <p:cNvSpPr txBox="1">
            <a:spLocks noChangeArrowheads="1"/>
          </p:cNvSpPr>
          <p:nvPr/>
        </p:nvSpPr>
        <p:spPr bwMode="auto">
          <a:xfrm>
            <a:off x="1406525" y="717550"/>
            <a:ext cx="3552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</a:t>
            </a:r>
            <a:endParaRPr lang="fr-FR" altLang="fr-FR"/>
          </a:p>
        </p:txBody>
      </p:sp>
      <p:sp>
        <p:nvSpPr>
          <p:cNvPr id="26635" name="Text Box 52"/>
          <p:cNvSpPr txBox="1">
            <a:spLocks noChangeArrowheads="1"/>
          </p:cNvSpPr>
          <p:nvPr/>
        </p:nvSpPr>
        <p:spPr bwMode="auto">
          <a:xfrm>
            <a:off x="1116013" y="1881188"/>
            <a:ext cx="50117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Conditions normales de fonctionnement :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26636" name="Text Box 16"/>
          <p:cNvSpPr txBox="1">
            <a:spLocks noChangeArrowheads="1"/>
          </p:cNvSpPr>
          <p:nvPr/>
        </p:nvSpPr>
        <p:spPr bwMode="auto">
          <a:xfrm>
            <a:off x="7307263" y="3163888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302152" name="Group 72"/>
          <p:cNvGrpSpPr>
            <a:grpSpLocks/>
          </p:cNvGrpSpPr>
          <p:nvPr/>
        </p:nvGrpSpPr>
        <p:grpSpPr bwMode="auto">
          <a:xfrm>
            <a:off x="1039813" y="3494088"/>
            <a:ext cx="6853237" cy="3033712"/>
            <a:chOff x="655" y="2201"/>
            <a:chExt cx="4317" cy="1911"/>
          </a:xfrm>
        </p:grpSpPr>
        <p:sp>
          <p:nvSpPr>
            <p:cNvPr id="26656" name="Freeform 10"/>
            <p:cNvSpPr>
              <a:spLocks/>
            </p:cNvSpPr>
            <p:nvPr/>
          </p:nvSpPr>
          <p:spPr bwMode="auto">
            <a:xfrm>
              <a:off x="4320" y="2201"/>
              <a:ext cx="652" cy="1542"/>
            </a:xfrm>
            <a:custGeom>
              <a:avLst/>
              <a:gdLst>
                <a:gd name="T0" fmla="*/ 106 w 652"/>
                <a:gd name="T1" fmla="*/ 0 h 1542"/>
                <a:gd name="T2" fmla="*/ 652 w 652"/>
                <a:gd name="T3" fmla="*/ 0 h 1542"/>
                <a:gd name="T4" fmla="*/ 652 w 652"/>
                <a:gd name="T5" fmla="*/ 1542 h 1542"/>
                <a:gd name="T6" fmla="*/ 0 w 652"/>
                <a:gd name="T7" fmla="*/ 1540 h 15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2" h="1542">
                  <a:moveTo>
                    <a:pt x="106" y="0"/>
                  </a:moveTo>
                  <a:lnTo>
                    <a:pt x="652" y="0"/>
                  </a:lnTo>
                  <a:lnTo>
                    <a:pt x="652" y="1542"/>
                  </a:lnTo>
                  <a:lnTo>
                    <a:pt x="0" y="15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57" name="Freeform 11"/>
            <p:cNvSpPr>
              <a:spLocks/>
            </p:cNvSpPr>
            <p:nvPr/>
          </p:nvSpPr>
          <p:spPr bwMode="auto">
            <a:xfrm>
              <a:off x="787" y="3228"/>
              <a:ext cx="2637" cy="515"/>
            </a:xfrm>
            <a:custGeom>
              <a:avLst/>
              <a:gdLst>
                <a:gd name="T0" fmla="*/ 2637 w 2637"/>
                <a:gd name="T1" fmla="*/ 513 h 515"/>
                <a:gd name="T2" fmla="*/ 0 w 2637"/>
                <a:gd name="T3" fmla="*/ 515 h 515"/>
                <a:gd name="T4" fmla="*/ 0 w 2637"/>
                <a:gd name="T5" fmla="*/ 0 h 5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37" h="515">
                  <a:moveTo>
                    <a:pt x="2637" y="513"/>
                  </a:moveTo>
                  <a:lnTo>
                    <a:pt x="0" y="515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26658" name="Group 17"/>
            <p:cNvGrpSpPr>
              <a:grpSpLocks/>
            </p:cNvGrpSpPr>
            <p:nvPr/>
          </p:nvGrpSpPr>
          <p:grpSpPr bwMode="auto">
            <a:xfrm>
              <a:off x="655" y="3754"/>
              <a:ext cx="280" cy="358"/>
              <a:chOff x="655" y="3655"/>
              <a:chExt cx="280" cy="358"/>
            </a:xfrm>
          </p:grpSpPr>
          <p:sp>
            <p:nvSpPr>
              <p:cNvPr id="26662" name="Line 18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6663" name="AutoShape 19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6659" name="Text Box 22"/>
            <p:cNvSpPr txBox="1">
              <a:spLocks noChangeArrowheads="1"/>
            </p:cNvSpPr>
            <p:nvPr/>
          </p:nvSpPr>
          <p:spPr bwMode="auto">
            <a:xfrm>
              <a:off x="3589" y="3873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26660" name="Line 23"/>
            <p:cNvSpPr>
              <a:spLocks noChangeShapeType="1"/>
            </p:cNvSpPr>
            <p:nvPr/>
          </p:nvSpPr>
          <p:spPr bwMode="auto">
            <a:xfrm>
              <a:off x="3456" y="385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26661" name="Picture 5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408" y="3374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6638" name="Freeform 58"/>
          <p:cNvSpPr>
            <a:spLocks/>
          </p:cNvSpPr>
          <p:nvPr/>
        </p:nvSpPr>
        <p:spPr bwMode="auto">
          <a:xfrm>
            <a:off x="3827463" y="2876550"/>
            <a:ext cx="1854200" cy="650875"/>
          </a:xfrm>
          <a:custGeom>
            <a:avLst/>
            <a:gdLst>
              <a:gd name="T0" fmla="*/ 0 w 1158"/>
              <a:gd name="T1" fmla="*/ 650875 h 410"/>
              <a:gd name="T2" fmla="*/ 645287 w 1158"/>
              <a:gd name="T3" fmla="*/ 0 h 410"/>
              <a:gd name="T4" fmla="*/ 1854200 w 1158"/>
              <a:gd name="T5" fmla="*/ 0 h 410"/>
              <a:gd name="T6" fmla="*/ 1204109 w 1158"/>
              <a:gd name="T7" fmla="*/ 650875 h 410"/>
              <a:gd name="T8" fmla="*/ 0 w 1158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58" h="410">
                <a:moveTo>
                  <a:pt x="0" y="410"/>
                </a:moveTo>
                <a:lnTo>
                  <a:pt x="403" y="0"/>
                </a:lnTo>
                <a:lnTo>
                  <a:pt x="1158" y="0"/>
                </a:lnTo>
                <a:lnTo>
                  <a:pt x="752" y="410"/>
                </a:lnTo>
                <a:lnTo>
                  <a:pt x="0" y="410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6639" name="Rectangle 59"/>
          <p:cNvSpPr>
            <a:spLocks noChangeArrowheads="1"/>
          </p:cNvSpPr>
          <p:nvPr/>
        </p:nvSpPr>
        <p:spPr bwMode="auto">
          <a:xfrm>
            <a:off x="3829050" y="3527425"/>
            <a:ext cx="1214438" cy="233363"/>
          </a:xfrm>
          <a:prstGeom prst="rect">
            <a:avLst/>
          </a:prstGeom>
          <a:solidFill>
            <a:srgbClr val="CC000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6640" name="Rectangle 60"/>
          <p:cNvSpPr>
            <a:spLocks noChangeArrowheads="1"/>
          </p:cNvSpPr>
          <p:nvPr/>
        </p:nvSpPr>
        <p:spPr bwMode="auto">
          <a:xfrm>
            <a:off x="3829050" y="4127500"/>
            <a:ext cx="1214438" cy="233363"/>
          </a:xfrm>
          <a:prstGeom prst="rect">
            <a:avLst/>
          </a:prstGeom>
          <a:solidFill>
            <a:srgbClr val="CC000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26641" name="Text Box 61"/>
          <p:cNvSpPr txBox="1">
            <a:spLocks noChangeArrowheads="1"/>
          </p:cNvSpPr>
          <p:nvPr/>
        </p:nvSpPr>
        <p:spPr bwMode="auto">
          <a:xfrm>
            <a:off x="4799013" y="4056063"/>
            <a:ext cx="330200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6642" name="Text Box 62"/>
          <p:cNvSpPr txBox="1">
            <a:spLocks noChangeArrowheads="1"/>
          </p:cNvSpPr>
          <p:nvPr/>
        </p:nvSpPr>
        <p:spPr bwMode="auto">
          <a:xfrm>
            <a:off x="4799013" y="3478213"/>
            <a:ext cx="330200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6643" name="Rectangle 64"/>
          <p:cNvSpPr>
            <a:spLocks noChangeArrowheads="1"/>
          </p:cNvSpPr>
          <p:nvPr/>
        </p:nvSpPr>
        <p:spPr bwMode="auto">
          <a:xfrm>
            <a:off x="4251325" y="3217863"/>
            <a:ext cx="606425" cy="187325"/>
          </a:xfrm>
          <a:prstGeom prst="rect">
            <a:avLst/>
          </a:prstGeom>
          <a:solidFill>
            <a:srgbClr val="B2B2B2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sp>
        <p:nvSpPr>
          <p:cNvPr id="26644" name="Text Box 14"/>
          <p:cNvSpPr txBox="1">
            <a:spLocks noChangeArrowheads="1"/>
          </p:cNvSpPr>
          <p:nvPr/>
        </p:nvSpPr>
        <p:spPr bwMode="auto">
          <a:xfrm>
            <a:off x="1141413" y="3538538"/>
            <a:ext cx="935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grpSp>
        <p:nvGrpSpPr>
          <p:cNvPr id="302153" name="Group 73"/>
          <p:cNvGrpSpPr>
            <a:grpSpLocks/>
          </p:cNvGrpSpPr>
          <p:nvPr/>
        </p:nvGrpSpPr>
        <p:grpSpPr bwMode="auto">
          <a:xfrm>
            <a:off x="1249363" y="2762250"/>
            <a:ext cx="4057650" cy="3159125"/>
            <a:chOff x="787" y="1740"/>
            <a:chExt cx="2556" cy="1990"/>
          </a:xfrm>
        </p:grpSpPr>
        <p:sp>
          <p:nvSpPr>
            <p:cNvPr id="26650" name="Line 20"/>
            <p:cNvSpPr>
              <a:spLocks noChangeShapeType="1"/>
            </p:cNvSpPr>
            <p:nvPr/>
          </p:nvSpPr>
          <p:spPr bwMode="auto">
            <a:xfrm flipH="1">
              <a:off x="1791" y="3517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51" name="Text Box 21"/>
            <p:cNvSpPr txBox="1">
              <a:spLocks noChangeArrowheads="1"/>
            </p:cNvSpPr>
            <p:nvPr/>
          </p:nvSpPr>
          <p:spPr bwMode="auto">
            <a:xfrm>
              <a:off x="1929" y="3499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&lt; 0</a:t>
              </a:r>
            </a:p>
          </p:txBody>
        </p:sp>
        <p:sp>
          <p:nvSpPr>
            <p:cNvPr id="26652" name="Freeform 12"/>
            <p:cNvSpPr>
              <a:spLocks/>
            </p:cNvSpPr>
            <p:nvPr/>
          </p:nvSpPr>
          <p:spPr bwMode="auto">
            <a:xfrm>
              <a:off x="2678" y="2792"/>
              <a:ext cx="131" cy="590"/>
            </a:xfrm>
            <a:custGeom>
              <a:avLst/>
              <a:gdLst>
                <a:gd name="T0" fmla="*/ 0 w 291"/>
                <a:gd name="T1" fmla="*/ 590 h 648"/>
                <a:gd name="T2" fmla="*/ 131 w 291"/>
                <a:gd name="T3" fmla="*/ 589 h 648"/>
                <a:gd name="T4" fmla="*/ 131 w 291"/>
                <a:gd name="T5" fmla="*/ 0 h 6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1" h="648">
                  <a:moveTo>
                    <a:pt x="0" y="648"/>
                  </a:moveTo>
                  <a:lnTo>
                    <a:pt x="291" y="647"/>
                  </a:lnTo>
                  <a:lnTo>
                    <a:pt x="29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53" name="Freeform 9"/>
            <p:cNvSpPr>
              <a:spLocks/>
            </p:cNvSpPr>
            <p:nvPr/>
          </p:nvSpPr>
          <p:spPr bwMode="auto">
            <a:xfrm>
              <a:off x="787" y="2423"/>
              <a:ext cx="999" cy="975"/>
            </a:xfrm>
            <a:custGeom>
              <a:avLst/>
              <a:gdLst>
                <a:gd name="T0" fmla="*/ 553 w 999"/>
                <a:gd name="T1" fmla="*/ 0 h 975"/>
                <a:gd name="T2" fmla="*/ 0 w 999"/>
                <a:gd name="T3" fmla="*/ 0 h 975"/>
                <a:gd name="T4" fmla="*/ 0 w 999"/>
                <a:gd name="T5" fmla="*/ 973 h 975"/>
                <a:gd name="T6" fmla="*/ 999 w 999"/>
                <a:gd name="T7" fmla="*/ 975 h 9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9" h="975">
                  <a:moveTo>
                    <a:pt x="553" y="0"/>
                  </a:moveTo>
                  <a:lnTo>
                    <a:pt x="0" y="0"/>
                  </a:lnTo>
                  <a:lnTo>
                    <a:pt x="0" y="973"/>
                  </a:lnTo>
                  <a:lnTo>
                    <a:pt x="999" y="97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26654" name="Picture 54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765" y="3018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55" name="Freeform 13"/>
            <p:cNvSpPr>
              <a:spLocks/>
            </p:cNvSpPr>
            <p:nvPr/>
          </p:nvSpPr>
          <p:spPr bwMode="auto">
            <a:xfrm>
              <a:off x="2813" y="1740"/>
              <a:ext cx="530" cy="1246"/>
            </a:xfrm>
            <a:custGeom>
              <a:avLst/>
              <a:gdLst>
                <a:gd name="T0" fmla="*/ 0 w 530"/>
                <a:gd name="T1" fmla="*/ 1246 h 1246"/>
                <a:gd name="T2" fmla="*/ 530 w 530"/>
                <a:gd name="T3" fmla="*/ 1244 h 1246"/>
                <a:gd name="T4" fmla="*/ 530 w 530"/>
                <a:gd name="T5" fmla="*/ 0 h 1246"/>
                <a:gd name="T6" fmla="*/ 153 w 530"/>
                <a:gd name="T7" fmla="*/ 1 h 1246"/>
                <a:gd name="T8" fmla="*/ 151 w 530"/>
                <a:gd name="T9" fmla="*/ 185 h 12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0" h="1246">
                  <a:moveTo>
                    <a:pt x="0" y="1246"/>
                  </a:moveTo>
                  <a:lnTo>
                    <a:pt x="530" y="1244"/>
                  </a:lnTo>
                  <a:lnTo>
                    <a:pt x="530" y="0"/>
                  </a:lnTo>
                  <a:lnTo>
                    <a:pt x="153" y="1"/>
                  </a:lnTo>
                  <a:lnTo>
                    <a:pt x="151" y="18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46" name="Line 67"/>
          <p:cNvSpPr>
            <a:spLocks noChangeShapeType="1"/>
          </p:cNvSpPr>
          <p:nvPr/>
        </p:nvSpPr>
        <p:spPr bwMode="auto">
          <a:xfrm>
            <a:off x="1254125" y="3848100"/>
            <a:ext cx="885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6647" name="Line 68"/>
          <p:cNvSpPr>
            <a:spLocks noChangeShapeType="1"/>
          </p:cNvSpPr>
          <p:nvPr/>
        </p:nvSpPr>
        <p:spPr bwMode="auto">
          <a:xfrm>
            <a:off x="7029450" y="3494088"/>
            <a:ext cx="8524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02154" name="Text Box 74"/>
          <p:cNvSpPr txBox="1">
            <a:spLocks noChangeArrowheads="1"/>
          </p:cNvSpPr>
          <p:nvPr/>
        </p:nvSpPr>
        <p:spPr bwMode="auto">
          <a:xfrm>
            <a:off x="6008688" y="1865313"/>
            <a:ext cx="1323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3300"/>
                </a:solidFill>
              </a:rPr>
              <a:t>Vgs &lt; 0</a:t>
            </a:r>
          </a:p>
        </p:txBody>
      </p:sp>
      <p:sp>
        <p:nvSpPr>
          <p:cNvPr id="302155" name="Text Box 75"/>
          <p:cNvSpPr txBox="1">
            <a:spLocks noChangeArrowheads="1"/>
          </p:cNvSpPr>
          <p:nvPr/>
        </p:nvSpPr>
        <p:spPr bwMode="auto">
          <a:xfrm>
            <a:off x="7175500" y="1866900"/>
            <a:ext cx="163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et </a:t>
            </a:r>
            <a:r>
              <a:rPr lang="fr-FR" altLang="fr-FR" sz="2400">
                <a:solidFill>
                  <a:srgbClr val="FF3300"/>
                </a:solidFill>
              </a:rPr>
              <a:t>Vds &gt;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0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54" grpId="0"/>
      <p:bldP spid="3021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20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51" name="Rectangle 12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03322" name="Rectangle 218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03321" name="Freeform 217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7654" name="Text Box 4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303320" name="Rectangle 216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7656" name="Rectangle 14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7657" name="Text Box 17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7658" name="Line 19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59" name="Line 2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60" name="Text Box 22"/>
          <p:cNvSpPr txBox="1">
            <a:spLocks noChangeArrowheads="1"/>
          </p:cNvSpPr>
          <p:nvPr/>
        </p:nvSpPr>
        <p:spPr bwMode="auto">
          <a:xfrm>
            <a:off x="1697038" y="3589338"/>
            <a:ext cx="957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= 0</a:t>
            </a:r>
          </a:p>
        </p:txBody>
      </p:sp>
      <p:sp>
        <p:nvSpPr>
          <p:cNvPr id="27661" name="Freeform 214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7662" name="Line 23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63" name="Line 24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64" name="Line 42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65" name="Text Box 43"/>
          <p:cNvSpPr txBox="1">
            <a:spLocks noChangeArrowheads="1"/>
          </p:cNvSpPr>
          <p:nvPr/>
        </p:nvSpPr>
        <p:spPr bwMode="auto">
          <a:xfrm>
            <a:off x="1949450" y="5211763"/>
            <a:ext cx="971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= 0</a:t>
            </a:r>
          </a:p>
        </p:txBody>
      </p:sp>
      <p:sp>
        <p:nvSpPr>
          <p:cNvPr id="27666" name="Text Box 44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27667" name="Group 177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27805" name="Line 178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806" name="AutoShape 179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68" name="Text Box 180"/>
          <p:cNvSpPr txBox="1">
            <a:spLocks noChangeArrowheads="1"/>
          </p:cNvSpPr>
          <p:nvPr/>
        </p:nvSpPr>
        <p:spPr bwMode="auto">
          <a:xfrm>
            <a:off x="1406525" y="717550"/>
            <a:ext cx="6029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n°0 : Vgs = 0 et Vds = 0</a:t>
            </a:r>
            <a:endParaRPr lang="fr-FR" altLang="fr-FR"/>
          </a:p>
        </p:txBody>
      </p:sp>
      <p:grpSp>
        <p:nvGrpSpPr>
          <p:cNvPr id="27669" name="Group 185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27803" name="Rectangle 186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27804" name="Picture 187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7670" name="Line 40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71" name="Rectangle 215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7672" name="Line 41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7673" name="Text Box 208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7674" name="Text Box 15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27675" name="Text Box 16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7676" name="Line 32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27677" name="Group 244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27783" name="Group 223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27799" name="Group 219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801" name="Picture 220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802" name="Line 221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800" name="Oval 222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84" name="Group 224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27795" name="Group 22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97" name="Picture 22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98" name="Line 22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96" name="Oval 22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85" name="Group 229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27791" name="Group 23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93" name="Picture 23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94" name="Line 23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92" name="Oval 23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86" name="Group 234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27787" name="Group 23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89" name="Picture 23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90" name="Line 23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88" name="Oval 23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7678" name="Group 245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27763" name="Group 246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27779" name="Group 247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81" name="Picture 248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82" name="Line 249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80" name="Oval 250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64" name="Group 251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27775" name="Group 252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77" name="Picture 253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78" name="Line 254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76" name="Oval 255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65" name="Group 256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27771" name="Group 257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73" name="Picture 258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74" name="Line 259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72" name="Oval 260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66" name="Group 261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27767" name="Group 262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7769" name="Picture 263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70" name="Line 264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68" name="Oval 265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7679" name="Group 327"/>
          <p:cNvGrpSpPr>
            <a:grpSpLocks/>
          </p:cNvGrpSpPr>
          <p:nvPr/>
        </p:nvGrpSpPr>
        <p:grpSpPr bwMode="auto">
          <a:xfrm>
            <a:off x="3094038" y="4287838"/>
            <a:ext cx="2490787" cy="230187"/>
            <a:chOff x="1711" y="2655"/>
            <a:chExt cx="1569" cy="145"/>
          </a:xfrm>
        </p:grpSpPr>
        <p:grpSp>
          <p:nvGrpSpPr>
            <p:cNvPr id="27733" name="Group 271"/>
            <p:cNvGrpSpPr>
              <a:grpSpLocks/>
            </p:cNvGrpSpPr>
            <p:nvPr/>
          </p:nvGrpSpPr>
          <p:grpSpPr bwMode="auto">
            <a:xfrm>
              <a:off x="1711" y="2655"/>
              <a:ext cx="205" cy="144"/>
              <a:chOff x="2553" y="2692"/>
              <a:chExt cx="205" cy="144"/>
            </a:xfrm>
          </p:grpSpPr>
          <p:grpSp>
            <p:nvGrpSpPr>
              <p:cNvPr id="27758" name="Group 266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60" name="Picture 267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61" name="Line 268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62" name="Line 269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59" name="Oval 270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34" name="Group 272"/>
            <p:cNvGrpSpPr>
              <a:grpSpLocks/>
            </p:cNvGrpSpPr>
            <p:nvPr/>
          </p:nvGrpSpPr>
          <p:grpSpPr bwMode="auto">
            <a:xfrm>
              <a:off x="2052" y="2656"/>
              <a:ext cx="205" cy="144"/>
              <a:chOff x="2553" y="2692"/>
              <a:chExt cx="205" cy="144"/>
            </a:xfrm>
          </p:grpSpPr>
          <p:grpSp>
            <p:nvGrpSpPr>
              <p:cNvPr id="27753" name="Group 273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55" name="Picture 274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56" name="Line 275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57" name="Line 276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54" name="Oval 277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35" name="Group 278"/>
            <p:cNvGrpSpPr>
              <a:grpSpLocks/>
            </p:cNvGrpSpPr>
            <p:nvPr/>
          </p:nvGrpSpPr>
          <p:grpSpPr bwMode="auto">
            <a:xfrm>
              <a:off x="2393" y="2656"/>
              <a:ext cx="205" cy="144"/>
              <a:chOff x="2553" y="2692"/>
              <a:chExt cx="205" cy="144"/>
            </a:xfrm>
          </p:grpSpPr>
          <p:grpSp>
            <p:nvGrpSpPr>
              <p:cNvPr id="27748" name="Group 279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50" name="Picture 280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51" name="Line 281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52" name="Line 282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49" name="Oval 283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36" name="Group 284"/>
            <p:cNvGrpSpPr>
              <a:grpSpLocks/>
            </p:cNvGrpSpPr>
            <p:nvPr/>
          </p:nvGrpSpPr>
          <p:grpSpPr bwMode="auto">
            <a:xfrm>
              <a:off x="2734" y="2656"/>
              <a:ext cx="205" cy="144"/>
              <a:chOff x="2553" y="2692"/>
              <a:chExt cx="205" cy="144"/>
            </a:xfrm>
          </p:grpSpPr>
          <p:grpSp>
            <p:nvGrpSpPr>
              <p:cNvPr id="27743" name="Group 285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45" name="Picture 286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46" name="Line 287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47" name="Line 288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44" name="Oval 289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37" name="Group 290"/>
            <p:cNvGrpSpPr>
              <a:grpSpLocks/>
            </p:cNvGrpSpPr>
            <p:nvPr/>
          </p:nvGrpSpPr>
          <p:grpSpPr bwMode="auto">
            <a:xfrm>
              <a:off x="3075" y="2655"/>
              <a:ext cx="205" cy="144"/>
              <a:chOff x="2553" y="2692"/>
              <a:chExt cx="205" cy="144"/>
            </a:xfrm>
          </p:grpSpPr>
          <p:grpSp>
            <p:nvGrpSpPr>
              <p:cNvPr id="27738" name="Group 291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40" name="Picture 292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41" name="Line 293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42" name="Line 294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39" name="Oval 295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7680" name="Group 326"/>
          <p:cNvGrpSpPr>
            <a:grpSpLocks/>
          </p:cNvGrpSpPr>
          <p:nvPr/>
        </p:nvGrpSpPr>
        <p:grpSpPr bwMode="auto">
          <a:xfrm>
            <a:off x="3094038" y="4879975"/>
            <a:ext cx="2490787" cy="230188"/>
            <a:chOff x="1754" y="2976"/>
            <a:chExt cx="1569" cy="145"/>
          </a:xfrm>
        </p:grpSpPr>
        <p:grpSp>
          <p:nvGrpSpPr>
            <p:cNvPr id="27703" name="Group 296"/>
            <p:cNvGrpSpPr>
              <a:grpSpLocks/>
            </p:cNvGrpSpPr>
            <p:nvPr/>
          </p:nvGrpSpPr>
          <p:grpSpPr bwMode="auto">
            <a:xfrm>
              <a:off x="1754" y="2976"/>
              <a:ext cx="205" cy="144"/>
              <a:chOff x="2553" y="2692"/>
              <a:chExt cx="205" cy="144"/>
            </a:xfrm>
          </p:grpSpPr>
          <p:grpSp>
            <p:nvGrpSpPr>
              <p:cNvPr id="27728" name="Group 297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30" name="Picture 298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31" name="Line 299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32" name="Line 300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29" name="Oval 301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04" name="Group 302"/>
            <p:cNvGrpSpPr>
              <a:grpSpLocks/>
            </p:cNvGrpSpPr>
            <p:nvPr/>
          </p:nvGrpSpPr>
          <p:grpSpPr bwMode="auto">
            <a:xfrm>
              <a:off x="2095" y="2977"/>
              <a:ext cx="205" cy="144"/>
              <a:chOff x="2553" y="2692"/>
              <a:chExt cx="205" cy="144"/>
            </a:xfrm>
          </p:grpSpPr>
          <p:grpSp>
            <p:nvGrpSpPr>
              <p:cNvPr id="27723" name="Group 303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25" name="Picture 304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26" name="Line 305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27" name="Line 306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24" name="Oval 307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05" name="Group 308"/>
            <p:cNvGrpSpPr>
              <a:grpSpLocks/>
            </p:cNvGrpSpPr>
            <p:nvPr/>
          </p:nvGrpSpPr>
          <p:grpSpPr bwMode="auto">
            <a:xfrm>
              <a:off x="2436" y="2977"/>
              <a:ext cx="205" cy="144"/>
              <a:chOff x="2553" y="2692"/>
              <a:chExt cx="205" cy="144"/>
            </a:xfrm>
          </p:grpSpPr>
          <p:grpSp>
            <p:nvGrpSpPr>
              <p:cNvPr id="27718" name="Group 309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20" name="Picture 310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21" name="Line 311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22" name="Line 312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19" name="Oval 313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06" name="Group 314"/>
            <p:cNvGrpSpPr>
              <a:grpSpLocks/>
            </p:cNvGrpSpPr>
            <p:nvPr/>
          </p:nvGrpSpPr>
          <p:grpSpPr bwMode="auto">
            <a:xfrm>
              <a:off x="2777" y="2977"/>
              <a:ext cx="205" cy="144"/>
              <a:chOff x="2553" y="2692"/>
              <a:chExt cx="205" cy="144"/>
            </a:xfrm>
          </p:grpSpPr>
          <p:grpSp>
            <p:nvGrpSpPr>
              <p:cNvPr id="27713" name="Group 315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15" name="Picture 316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16" name="Line 317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17" name="Line 318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14" name="Oval 319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7707" name="Group 320"/>
            <p:cNvGrpSpPr>
              <a:grpSpLocks/>
            </p:cNvGrpSpPr>
            <p:nvPr/>
          </p:nvGrpSpPr>
          <p:grpSpPr bwMode="auto">
            <a:xfrm>
              <a:off x="3118" y="2976"/>
              <a:ext cx="205" cy="144"/>
              <a:chOff x="2553" y="2692"/>
              <a:chExt cx="205" cy="144"/>
            </a:xfrm>
          </p:grpSpPr>
          <p:grpSp>
            <p:nvGrpSpPr>
              <p:cNvPr id="27708" name="Group 321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27710" name="Picture 322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7711" name="Line 323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7712" name="Line 324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709" name="Oval 325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303432" name="Text Box 328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303433" name="Text Box 329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27683" name="Group 330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27701" name="Rectangle 331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27702" name="Picture 332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7684" name="Rectangle 333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7685" name="Text Box 33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En l’absence de polarisation, </a:t>
            </a:r>
            <a:r>
              <a:rPr lang="fr-FR" altLang="fr-FR" sz="2400">
                <a:solidFill>
                  <a:srgbClr val="FF0000"/>
                </a:solidFill>
              </a:rPr>
              <a:t>création des 2 ZCE</a:t>
            </a:r>
          </a:p>
        </p:txBody>
      </p:sp>
      <p:grpSp>
        <p:nvGrpSpPr>
          <p:cNvPr id="303443" name="Group 339"/>
          <p:cNvGrpSpPr>
            <a:grpSpLocks/>
          </p:cNvGrpSpPr>
          <p:nvPr/>
        </p:nvGrpSpPr>
        <p:grpSpPr bwMode="auto">
          <a:xfrm>
            <a:off x="6743700" y="5537200"/>
            <a:ext cx="1922463" cy="877888"/>
            <a:chOff x="4258" y="2773"/>
            <a:chExt cx="1211" cy="553"/>
          </a:xfrm>
        </p:grpSpPr>
        <p:sp>
          <p:nvSpPr>
            <p:cNvPr id="27699" name="Rectangle 338"/>
            <p:cNvSpPr>
              <a:spLocks noChangeArrowheads="1"/>
            </p:cNvSpPr>
            <p:nvPr/>
          </p:nvSpPr>
          <p:spPr bwMode="auto">
            <a:xfrm>
              <a:off x="4258" y="2773"/>
              <a:ext cx="1211" cy="553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7700" name="Text Box 337"/>
            <p:cNvSpPr txBox="1">
              <a:spLocks noChangeArrowheads="1"/>
            </p:cNvSpPr>
            <p:nvPr/>
          </p:nvSpPr>
          <p:spPr bwMode="auto">
            <a:xfrm>
              <a:off x="4372" y="2847"/>
              <a:ext cx="956" cy="42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Faisons varier </a:t>
              </a:r>
              <a:r>
                <a:rPr lang="fr-FR" altLang="fr-FR" sz="2000">
                  <a:solidFill>
                    <a:srgbClr val="FF0000"/>
                  </a:solidFill>
                </a:rPr>
                <a:t>Vds</a:t>
              </a:r>
            </a:p>
          </p:txBody>
        </p:sp>
      </p:grpSp>
      <p:grpSp>
        <p:nvGrpSpPr>
          <p:cNvPr id="303453" name="Group 349"/>
          <p:cNvGrpSpPr>
            <a:grpSpLocks/>
          </p:cNvGrpSpPr>
          <p:nvPr/>
        </p:nvGrpSpPr>
        <p:grpSpPr bwMode="auto">
          <a:xfrm>
            <a:off x="3979863" y="3838575"/>
            <a:ext cx="503237" cy="457200"/>
            <a:chOff x="2595" y="2418"/>
            <a:chExt cx="317" cy="288"/>
          </a:xfrm>
        </p:grpSpPr>
        <p:sp>
          <p:nvSpPr>
            <p:cNvPr id="27697" name="AutoShape 344"/>
            <p:cNvSpPr>
              <a:spLocks noChangeArrowheads="1"/>
            </p:cNvSpPr>
            <p:nvPr/>
          </p:nvSpPr>
          <p:spPr bwMode="auto">
            <a:xfrm rot="16200000" flipH="1">
              <a:off x="2584" y="2492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98" name="Text Box 345"/>
            <p:cNvSpPr txBox="1">
              <a:spLocks noChangeArrowheads="1"/>
            </p:cNvSpPr>
            <p:nvPr/>
          </p:nvSpPr>
          <p:spPr bwMode="auto">
            <a:xfrm flipH="1">
              <a:off x="2655" y="2418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grpSp>
        <p:nvGrpSpPr>
          <p:cNvPr id="303457" name="Group 353"/>
          <p:cNvGrpSpPr>
            <a:grpSpLocks/>
          </p:cNvGrpSpPr>
          <p:nvPr/>
        </p:nvGrpSpPr>
        <p:grpSpPr bwMode="auto">
          <a:xfrm>
            <a:off x="3979863" y="5068888"/>
            <a:ext cx="544512" cy="457200"/>
            <a:chOff x="2609" y="3193"/>
            <a:chExt cx="343" cy="288"/>
          </a:xfrm>
        </p:grpSpPr>
        <p:sp>
          <p:nvSpPr>
            <p:cNvPr id="27695" name="AutoShape 351"/>
            <p:cNvSpPr>
              <a:spLocks noChangeArrowheads="1"/>
            </p:cNvSpPr>
            <p:nvPr/>
          </p:nvSpPr>
          <p:spPr bwMode="auto">
            <a:xfrm rot="5400000" flipH="1">
              <a:off x="2598" y="3267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96" name="Text Box 352"/>
            <p:cNvSpPr txBox="1">
              <a:spLocks noChangeArrowheads="1"/>
            </p:cNvSpPr>
            <p:nvPr/>
          </p:nvSpPr>
          <p:spPr bwMode="auto">
            <a:xfrm flipH="1">
              <a:off x="2695" y="3193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grpSp>
        <p:nvGrpSpPr>
          <p:cNvPr id="303458" name="Group 354"/>
          <p:cNvGrpSpPr>
            <a:grpSpLocks/>
          </p:cNvGrpSpPr>
          <p:nvPr/>
        </p:nvGrpSpPr>
        <p:grpSpPr bwMode="auto">
          <a:xfrm>
            <a:off x="5035550" y="3838575"/>
            <a:ext cx="503238" cy="457200"/>
            <a:chOff x="2595" y="2418"/>
            <a:chExt cx="317" cy="288"/>
          </a:xfrm>
        </p:grpSpPr>
        <p:sp>
          <p:nvSpPr>
            <p:cNvPr id="27693" name="AutoShape 355"/>
            <p:cNvSpPr>
              <a:spLocks noChangeArrowheads="1"/>
            </p:cNvSpPr>
            <p:nvPr/>
          </p:nvSpPr>
          <p:spPr bwMode="auto">
            <a:xfrm rot="16200000" flipH="1">
              <a:off x="2584" y="2492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94" name="Text Box 356"/>
            <p:cNvSpPr txBox="1">
              <a:spLocks noChangeArrowheads="1"/>
            </p:cNvSpPr>
            <p:nvPr/>
          </p:nvSpPr>
          <p:spPr bwMode="auto">
            <a:xfrm flipH="1">
              <a:off x="2655" y="2418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grpSp>
        <p:nvGrpSpPr>
          <p:cNvPr id="303461" name="Group 357"/>
          <p:cNvGrpSpPr>
            <a:grpSpLocks/>
          </p:cNvGrpSpPr>
          <p:nvPr/>
        </p:nvGrpSpPr>
        <p:grpSpPr bwMode="auto">
          <a:xfrm>
            <a:off x="5035550" y="5068888"/>
            <a:ext cx="544513" cy="457200"/>
            <a:chOff x="2609" y="3193"/>
            <a:chExt cx="343" cy="288"/>
          </a:xfrm>
        </p:grpSpPr>
        <p:sp>
          <p:nvSpPr>
            <p:cNvPr id="27691" name="AutoShape 358"/>
            <p:cNvSpPr>
              <a:spLocks noChangeArrowheads="1"/>
            </p:cNvSpPr>
            <p:nvPr/>
          </p:nvSpPr>
          <p:spPr bwMode="auto">
            <a:xfrm rot="5400000" flipH="1">
              <a:off x="2598" y="3267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92" name="Text Box 359"/>
            <p:cNvSpPr txBox="1">
              <a:spLocks noChangeArrowheads="1"/>
            </p:cNvSpPr>
            <p:nvPr/>
          </p:nvSpPr>
          <p:spPr bwMode="auto">
            <a:xfrm flipH="1">
              <a:off x="2695" y="3193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0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322" grpId="0" animBg="1"/>
      <p:bldP spid="303321" grpId="0" animBg="1"/>
      <p:bldP spid="303320" grpId="0" animBg="1"/>
      <p:bldP spid="303432" grpId="0"/>
      <p:bldP spid="3034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8677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1697038" y="3589338"/>
            <a:ext cx="957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= 0</a:t>
            </a:r>
          </a:p>
        </p:txBody>
      </p:sp>
      <p:sp>
        <p:nvSpPr>
          <p:cNvPr id="28685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1963738" y="5211763"/>
            <a:ext cx="94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&gt; 0</a:t>
            </a: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28691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28830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831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92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5897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n°1 : Vgs = 0 et Vds &gt; 0</a:t>
            </a:r>
            <a:endParaRPr lang="fr-FR" altLang="fr-FR"/>
          </a:p>
        </p:txBody>
      </p:sp>
      <p:grpSp>
        <p:nvGrpSpPr>
          <p:cNvPr id="28693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28828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28829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8694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95" name="Rectangle 27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8696" name="Line 28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697" name="Text Box 29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8698" name="Text Box 30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28699" name="Text Box 31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8700" name="Line 32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28701" name="Group 33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28808" name="Group 34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28824" name="Group 3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826" name="Picture 3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827" name="Line 3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825" name="Oval 3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8809" name="Group 39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28820" name="Group 4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822" name="Picture 4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823" name="Line 4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821" name="Oval 4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8810" name="Group 44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28816" name="Group 4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818" name="Picture 4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819" name="Line 4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817" name="Oval 4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8811" name="Group 49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28812" name="Group 5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814" name="Picture 5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815" name="Line 5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813" name="Oval 5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8702" name="Group 54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28788" name="Group 55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28804" name="Group 5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806" name="Picture 5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807" name="Line 5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805" name="Oval 5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8789" name="Group 60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28800" name="Group 6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802" name="Picture 6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803" name="Line 6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801" name="Oval 6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8790" name="Group 65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28796" name="Group 6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798" name="Picture 6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799" name="Line 6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797" name="Oval 6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8791" name="Group 70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28792" name="Group 7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8794" name="Picture 7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8795" name="Line 7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793" name="Oval 7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8703" name="Group 76"/>
          <p:cNvGrpSpPr>
            <a:grpSpLocks/>
          </p:cNvGrpSpPr>
          <p:nvPr/>
        </p:nvGrpSpPr>
        <p:grpSpPr bwMode="auto">
          <a:xfrm>
            <a:off x="3094038" y="4287838"/>
            <a:ext cx="325437" cy="228600"/>
            <a:chOff x="2553" y="2692"/>
            <a:chExt cx="205" cy="144"/>
          </a:xfrm>
        </p:grpSpPr>
        <p:grpSp>
          <p:nvGrpSpPr>
            <p:cNvPr id="28783" name="Group 77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85" name="Picture 78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86" name="Line 79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87" name="Line 80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84" name="Oval 81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04" name="Group 82"/>
          <p:cNvGrpSpPr>
            <a:grpSpLocks/>
          </p:cNvGrpSpPr>
          <p:nvPr/>
        </p:nvGrpSpPr>
        <p:grpSpPr bwMode="auto">
          <a:xfrm>
            <a:off x="3635375" y="4289425"/>
            <a:ext cx="325438" cy="228600"/>
            <a:chOff x="2553" y="2692"/>
            <a:chExt cx="205" cy="144"/>
          </a:xfrm>
        </p:grpSpPr>
        <p:grpSp>
          <p:nvGrpSpPr>
            <p:cNvPr id="28778" name="Group 83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80" name="Picture 84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81" name="Line 85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82" name="Line 86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79" name="Oval 87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05" name="Group 88"/>
          <p:cNvGrpSpPr>
            <a:grpSpLocks/>
          </p:cNvGrpSpPr>
          <p:nvPr/>
        </p:nvGrpSpPr>
        <p:grpSpPr bwMode="auto">
          <a:xfrm>
            <a:off x="4176713" y="4289425"/>
            <a:ext cx="325437" cy="228600"/>
            <a:chOff x="2553" y="2692"/>
            <a:chExt cx="205" cy="144"/>
          </a:xfrm>
        </p:grpSpPr>
        <p:grpSp>
          <p:nvGrpSpPr>
            <p:cNvPr id="28773" name="Group 89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75" name="Picture 90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76" name="Line 91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77" name="Line 92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74" name="Oval 93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06" name="Group 94"/>
          <p:cNvGrpSpPr>
            <a:grpSpLocks/>
          </p:cNvGrpSpPr>
          <p:nvPr/>
        </p:nvGrpSpPr>
        <p:grpSpPr bwMode="auto">
          <a:xfrm>
            <a:off x="4718050" y="4289425"/>
            <a:ext cx="325438" cy="228600"/>
            <a:chOff x="2553" y="2692"/>
            <a:chExt cx="205" cy="144"/>
          </a:xfrm>
        </p:grpSpPr>
        <p:grpSp>
          <p:nvGrpSpPr>
            <p:cNvPr id="28768" name="Group 95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70" name="Picture 96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71" name="Line 97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72" name="Line 98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69" name="Oval 99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07" name="Group 100"/>
          <p:cNvGrpSpPr>
            <a:grpSpLocks/>
          </p:cNvGrpSpPr>
          <p:nvPr/>
        </p:nvGrpSpPr>
        <p:grpSpPr bwMode="auto">
          <a:xfrm>
            <a:off x="5259388" y="4287838"/>
            <a:ext cx="325437" cy="228600"/>
            <a:chOff x="2553" y="2692"/>
            <a:chExt cx="205" cy="144"/>
          </a:xfrm>
        </p:grpSpPr>
        <p:grpSp>
          <p:nvGrpSpPr>
            <p:cNvPr id="28763" name="Group 101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65" name="Picture 102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66" name="Line 103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67" name="Line 104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64" name="Oval 105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08" name="Group 107"/>
          <p:cNvGrpSpPr>
            <a:grpSpLocks/>
          </p:cNvGrpSpPr>
          <p:nvPr/>
        </p:nvGrpSpPr>
        <p:grpSpPr bwMode="auto">
          <a:xfrm>
            <a:off x="3094038" y="4879975"/>
            <a:ext cx="325437" cy="228600"/>
            <a:chOff x="2553" y="2692"/>
            <a:chExt cx="205" cy="144"/>
          </a:xfrm>
        </p:grpSpPr>
        <p:grpSp>
          <p:nvGrpSpPr>
            <p:cNvPr id="28758" name="Group 108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60" name="Picture 109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61" name="Line 110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62" name="Line 111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59" name="Oval 112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09" name="Group 113"/>
          <p:cNvGrpSpPr>
            <a:grpSpLocks/>
          </p:cNvGrpSpPr>
          <p:nvPr/>
        </p:nvGrpSpPr>
        <p:grpSpPr bwMode="auto">
          <a:xfrm>
            <a:off x="3635375" y="4881563"/>
            <a:ext cx="325438" cy="228600"/>
            <a:chOff x="2553" y="2692"/>
            <a:chExt cx="205" cy="144"/>
          </a:xfrm>
        </p:grpSpPr>
        <p:grpSp>
          <p:nvGrpSpPr>
            <p:cNvPr id="28753" name="Group 114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55" name="Picture 115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56" name="Line 116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57" name="Line 117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54" name="Oval 118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10" name="Group 119"/>
          <p:cNvGrpSpPr>
            <a:grpSpLocks/>
          </p:cNvGrpSpPr>
          <p:nvPr/>
        </p:nvGrpSpPr>
        <p:grpSpPr bwMode="auto">
          <a:xfrm>
            <a:off x="4176713" y="4881563"/>
            <a:ext cx="325437" cy="228600"/>
            <a:chOff x="2553" y="2692"/>
            <a:chExt cx="205" cy="144"/>
          </a:xfrm>
        </p:grpSpPr>
        <p:grpSp>
          <p:nvGrpSpPr>
            <p:cNvPr id="28748" name="Group 120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50" name="Picture 121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51" name="Line 122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52" name="Line 123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49" name="Oval 124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11" name="Group 125"/>
          <p:cNvGrpSpPr>
            <a:grpSpLocks/>
          </p:cNvGrpSpPr>
          <p:nvPr/>
        </p:nvGrpSpPr>
        <p:grpSpPr bwMode="auto">
          <a:xfrm>
            <a:off x="4718050" y="4881563"/>
            <a:ext cx="325438" cy="228600"/>
            <a:chOff x="2553" y="2692"/>
            <a:chExt cx="205" cy="144"/>
          </a:xfrm>
        </p:grpSpPr>
        <p:grpSp>
          <p:nvGrpSpPr>
            <p:cNvPr id="28743" name="Group 126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45" name="Picture 127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46" name="Line 128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47" name="Line 129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44" name="Oval 130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8712" name="Group 131"/>
          <p:cNvGrpSpPr>
            <a:grpSpLocks/>
          </p:cNvGrpSpPr>
          <p:nvPr/>
        </p:nvGrpSpPr>
        <p:grpSpPr bwMode="auto">
          <a:xfrm>
            <a:off x="5259388" y="4879975"/>
            <a:ext cx="325437" cy="228600"/>
            <a:chOff x="2553" y="2692"/>
            <a:chExt cx="205" cy="144"/>
          </a:xfrm>
        </p:grpSpPr>
        <p:grpSp>
          <p:nvGrpSpPr>
            <p:cNvPr id="28738" name="Group 132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8740" name="Picture 133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8741" name="Line 134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742" name="Line 135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8739" name="Oval 136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713" name="Text Box 137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28714" name="Text Box 138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28715" name="Group 139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28736" name="Rectangle 140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28737" name="Picture 141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8716" name="Rectangle 142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412854" name="Group 182"/>
          <p:cNvGrpSpPr>
            <a:grpSpLocks/>
          </p:cNvGrpSpPr>
          <p:nvPr/>
        </p:nvGrpSpPr>
        <p:grpSpPr bwMode="auto">
          <a:xfrm>
            <a:off x="6743700" y="2790825"/>
            <a:ext cx="1922463" cy="628650"/>
            <a:chOff x="4248" y="1758"/>
            <a:chExt cx="1211" cy="396"/>
          </a:xfrm>
        </p:grpSpPr>
        <p:sp>
          <p:nvSpPr>
            <p:cNvPr id="28734" name="Rectangle 145"/>
            <p:cNvSpPr>
              <a:spLocks noChangeArrowheads="1"/>
            </p:cNvSpPr>
            <p:nvPr/>
          </p:nvSpPr>
          <p:spPr bwMode="auto">
            <a:xfrm>
              <a:off x="4248" y="1758"/>
              <a:ext cx="1211" cy="396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8735" name="Text Box 146"/>
            <p:cNvSpPr txBox="1">
              <a:spLocks noChangeArrowheads="1"/>
            </p:cNvSpPr>
            <p:nvPr/>
          </p:nvSpPr>
          <p:spPr bwMode="auto">
            <a:xfrm>
              <a:off x="4248" y="1831"/>
              <a:ext cx="1093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Rajout de </a:t>
              </a:r>
              <a:r>
                <a:rPr lang="fr-FR" altLang="fr-FR" sz="2000">
                  <a:solidFill>
                    <a:srgbClr val="FF0000"/>
                  </a:solidFill>
                </a:rPr>
                <a:t>Vdg</a:t>
              </a:r>
            </a:p>
          </p:txBody>
        </p:sp>
      </p:grpSp>
      <p:grpSp>
        <p:nvGrpSpPr>
          <p:cNvPr id="28718" name="Group 147"/>
          <p:cNvGrpSpPr>
            <a:grpSpLocks/>
          </p:cNvGrpSpPr>
          <p:nvPr/>
        </p:nvGrpSpPr>
        <p:grpSpPr bwMode="auto">
          <a:xfrm>
            <a:off x="3979863" y="3838575"/>
            <a:ext cx="503237" cy="457200"/>
            <a:chOff x="2595" y="2418"/>
            <a:chExt cx="317" cy="288"/>
          </a:xfrm>
        </p:grpSpPr>
        <p:sp>
          <p:nvSpPr>
            <p:cNvPr id="28732" name="AutoShape 148"/>
            <p:cNvSpPr>
              <a:spLocks noChangeArrowheads="1"/>
            </p:cNvSpPr>
            <p:nvPr/>
          </p:nvSpPr>
          <p:spPr bwMode="auto">
            <a:xfrm rot="16200000" flipH="1">
              <a:off x="2584" y="2492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733" name="Text Box 149"/>
            <p:cNvSpPr txBox="1">
              <a:spLocks noChangeArrowheads="1"/>
            </p:cNvSpPr>
            <p:nvPr/>
          </p:nvSpPr>
          <p:spPr bwMode="auto">
            <a:xfrm flipH="1">
              <a:off x="2655" y="2418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grpSp>
        <p:nvGrpSpPr>
          <p:cNvPr id="28719" name="Group 150"/>
          <p:cNvGrpSpPr>
            <a:grpSpLocks/>
          </p:cNvGrpSpPr>
          <p:nvPr/>
        </p:nvGrpSpPr>
        <p:grpSpPr bwMode="auto">
          <a:xfrm>
            <a:off x="3979863" y="5068888"/>
            <a:ext cx="544512" cy="457200"/>
            <a:chOff x="2609" y="3193"/>
            <a:chExt cx="343" cy="288"/>
          </a:xfrm>
        </p:grpSpPr>
        <p:sp>
          <p:nvSpPr>
            <p:cNvPr id="28730" name="AutoShape 151"/>
            <p:cNvSpPr>
              <a:spLocks noChangeArrowheads="1"/>
            </p:cNvSpPr>
            <p:nvPr/>
          </p:nvSpPr>
          <p:spPr bwMode="auto">
            <a:xfrm rot="5400000" flipH="1">
              <a:off x="2598" y="3267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731" name="Text Box 152"/>
            <p:cNvSpPr txBox="1">
              <a:spLocks noChangeArrowheads="1"/>
            </p:cNvSpPr>
            <p:nvPr/>
          </p:nvSpPr>
          <p:spPr bwMode="auto">
            <a:xfrm flipH="1">
              <a:off x="2695" y="3193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sp>
        <p:nvSpPr>
          <p:cNvPr id="412826" name="AutoShape 154"/>
          <p:cNvSpPr>
            <a:spLocks noChangeArrowheads="1"/>
          </p:cNvSpPr>
          <p:nvPr/>
        </p:nvSpPr>
        <p:spPr bwMode="auto">
          <a:xfrm rot="16200000" flipH="1">
            <a:off x="5018882" y="3955256"/>
            <a:ext cx="271462" cy="238125"/>
          </a:xfrm>
          <a:prstGeom prst="rightArrow">
            <a:avLst>
              <a:gd name="adj1" fmla="val 30574"/>
              <a:gd name="adj2" fmla="val 2413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721" name="Text Box 155"/>
          <p:cNvSpPr txBox="1">
            <a:spLocks noChangeArrowheads="1"/>
          </p:cNvSpPr>
          <p:nvPr/>
        </p:nvSpPr>
        <p:spPr bwMode="auto">
          <a:xfrm flipH="1">
            <a:off x="5130800" y="3838575"/>
            <a:ext cx="407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400">
                <a:solidFill>
                  <a:schemeClr val="bg1"/>
                </a:solidFill>
                <a:latin typeface="Tahoma" pitchFamily="34" charset="0"/>
              </a:rPr>
              <a:t>V</a:t>
            </a:r>
          </a:p>
        </p:txBody>
      </p:sp>
      <p:sp>
        <p:nvSpPr>
          <p:cNvPr id="412829" name="AutoShape 157"/>
          <p:cNvSpPr>
            <a:spLocks noChangeArrowheads="1"/>
          </p:cNvSpPr>
          <p:nvPr/>
        </p:nvSpPr>
        <p:spPr bwMode="auto">
          <a:xfrm rot="5400000" flipH="1">
            <a:off x="5018881" y="5185569"/>
            <a:ext cx="271463" cy="238125"/>
          </a:xfrm>
          <a:prstGeom prst="rightArrow">
            <a:avLst>
              <a:gd name="adj1" fmla="val 30574"/>
              <a:gd name="adj2" fmla="val 24130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8723" name="Text Box 158"/>
          <p:cNvSpPr txBox="1">
            <a:spLocks noChangeArrowheads="1"/>
          </p:cNvSpPr>
          <p:nvPr/>
        </p:nvSpPr>
        <p:spPr bwMode="auto">
          <a:xfrm flipH="1">
            <a:off x="5172075" y="5068888"/>
            <a:ext cx="407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400">
                <a:solidFill>
                  <a:schemeClr val="bg1"/>
                </a:solidFill>
                <a:latin typeface="Tahoma" pitchFamily="34" charset="0"/>
              </a:rPr>
              <a:t>V</a:t>
            </a:r>
          </a:p>
        </p:txBody>
      </p:sp>
      <p:sp>
        <p:nvSpPr>
          <p:cNvPr id="28724" name="Text Box 159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Polarisation inverse </a:t>
            </a:r>
            <a:r>
              <a:rPr lang="fr-FR" altLang="fr-FR" sz="2400">
                <a:solidFill>
                  <a:srgbClr val="FF0000"/>
                </a:solidFill>
              </a:rPr>
              <a:t>plus forte</a:t>
            </a:r>
            <a:r>
              <a:rPr lang="fr-FR" altLang="fr-FR" sz="2000"/>
              <a:t> du côté </a:t>
            </a:r>
            <a:r>
              <a:rPr lang="fr-FR" altLang="fr-FR" sz="2400">
                <a:solidFill>
                  <a:srgbClr val="FF0000"/>
                </a:solidFill>
              </a:rPr>
              <a:t>drain</a:t>
            </a:r>
          </a:p>
        </p:txBody>
      </p:sp>
      <p:sp>
        <p:nvSpPr>
          <p:cNvPr id="412834" name="AutoShape 162"/>
          <p:cNvSpPr>
            <a:spLocks noChangeArrowheads="1"/>
          </p:cNvSpPr>
          <p:nvPr/>
        </p:nvSpPr>
        <p:spPr bwMode="auto">
          <a:xfrm rot="16200000" flipH="1">
            <a:off x="5035550" y="4276725"/>
            <a:ext cx="241300" cy="273050"/>
          </a:xfrm>
          <a:prstGeom prst="rightArrow">
            <a:avLst>
              <a:gd name="adj1" fmla="val 30574"/>
              <a:gd name="adj2" fmla="val 21167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2837" name="AutoShape 165"/>
          <p:cNvSpPr>
            <a:spLocks noChangeArrowheads="1"/>
          </p:cNvSpPr>
          <p:nvPr/>
        </p:nvSpPr>
        <p:spPr bwMode="auto">
          <a:xfrm rot="5400000" flipH="1" flipV="1">
            <a:off x="5038725" y="4846638"/>
            <a:ext cx="234950" cy="273050"/>
          </a:xfrm>
          <a:prstGeom prst="rightArrow">
            <a:avLst>
              <a:gd name="adj1" fmla="val 30574"/>
              <a:gd name="adj2" fmla="val 21167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2838" name="Text Box 166"/>
          <p:cNvSpPr txBox="1">
            <a:spLocks noChangeArrowheads="1"/>
          </p:cNvSpPr>
          <p:nvPr/>
        </p:nvSpPr>
        <p:spPr bwMode="auto">
          <a:xfrm flipH="1">
            <a:off x="4592638" y="4530725"/>
            <a:ext cx="8461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1600">
                <a:solidFill>
                  <a:schemeClr val="bg1"/>
                </a:solidFill>
              </a:rPr>
              <a:t>Vdg</a:t>
            </a:r>
          </a:p>
        </p:txBody>
      </p:sp>
      <p:sp>
        <p:nvSpPr>
          <p:cNvPr id="412840" name="AutoShape 168"/>
          <p:cNvSpPr>
            <a:spLocks noChangeArrowheads="1"/>
          </p:cNvSpPr>
          <p:nvPr/>
        </p:nvSpPr>
        <p:spPr bwMode="auto">
          <a:xfrm rot="16200000" flipH="1">
            <a:off x="4860925" y="4111625"/>
            <a:ext cx="587375" cy="238125"/>
          </a:xfrm>
          <a:prstGeom prst="rightArrow">
            <a:avLst>
              <a:gd name="adj1" fmla="val 30574"/>
              <a:gd name="adj2" fmla="val 52211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2842" name="AutoShape 170"/>
          <p:cNvSpPr>
            <a:spLocks noChangeArrowheads="1"/>
          </p:cNvSpPr>
          <p:nvPr/>
        </p:nvSpPr>
        <p:spPr bwMode="auto">
          <a:xfrm rot="5400000" flipH="1">
            <a:off x="4860925" y="5030788"/>
            <a:ext cx="587375" cy="238125"/>
          </a:xfrm>
          <a:prstGeom prst="rightArrow">
            <a:avLst>
              <a:gd name="adj1" fmla="val 30574"/>
              <a:gd name="adj2" fmla="val 52211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1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1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826" grpId="0" animBg="1"/>
      <p:bldP spid="412829" grpId="0" animBg="1"/>
      <p:bldP spid="412834" grpId="0" animBg="1"/>
      <p:bldP spid="412834" grpId="1" animBg="1"/>
      <p:bldP spid="412837" grpId="0" animBg="1"/>
      <p:bldP spid="412837" grpId="1" animBg="1"/>
      <p:bldP spid="412838" grpId="0"/>
      <p:bldP spid="412838" grpId="1"/>
      <p:bldP spid="412840" grpId="0" animBg="1"/>
      <p:bldP spid="4128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9701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07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1697038" y="3589338"/>
            <a:ext cx="957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= 0</a:t>
            </a:r>
          </a:p>
        </p:txBody>
      </p:sp>
      <p:sp>
        <p:nvSpPr>
          <p:cNvPr id="29709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1963738" y="5211763"/>
            <a:ext cx="94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&gt; 0</a:t>
            </a: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29715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29854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855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716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5897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n°1 : Vgs = 0 et Vds &gt; 0</a:t>
            </a:r>
            <a:endParaRPr lang="fr-FR" altLang="fr-FR"/>
          </a:p>
        </p:txBody>
      </p:sp>
      <p:grpSp>
        <p:nvGrpSpPr>
          <p:cNvPr id="29717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29852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29853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9718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19" name="Rectangle 27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29720" name="Line 28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21" name="Text Box 29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9722" name="Text Box 30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29723" name="Text Box 31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9724" name="Line 32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29725" name="Group 33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29832" name="Group 34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29848" name="Group 3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50" name="Picture 3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51" name="Line 3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49" name="Oval 3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9833" name="Group 39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29844" name="Group 4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46" name="Picture 4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47" name="Line 4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45" name="Oval 4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9834" name="Group 44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29840" name="Group 4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42" name="Picture 4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43" name="Line 4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41" name="Oval 4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9835" name="Group 49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29836" name="Group 5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38" name="Picture 5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39" name="Line 5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37" name="Oval 5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9726" name="Group 54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29812" name="Group 55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29828" name="Group 5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30" name="Picture 5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31" name="Line 5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29" name="Oval 5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9813" name="Group 60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29824" name="Group 6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26" name="Picture 6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27" name="Line 6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25" name="Oval 6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9814" name="Group 65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29820" name="Group 6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22" name="Picture 6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23" name="Line 6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21" name="Oval 6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29815" name="Group 70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29816" name="Group 7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29818" name="Picture 7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9819" name="Line 7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817" name="Oval 7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29727" name="Group 75"/>
          <p:cNvGrpSpPr>
            <a:grpSpLocks/>
          </p:cNvGrpSpPr>
          <p:nvPr/>
        </p:nvGrpSpPr>
        <p:grpSpPr bwMode="auto">
          <a:xfrm>
            <a:off x="3094038" y="4287838"/>
            <a:ext cx="325437" cy="228600"/>
            <a:chOff x="2553" y="2692"/>
            <a:chExt cx="205" cy="144"/>
          </a:xfrm>
        </p:grpSpPr>
        <p:grpSp>
          <p:nvGrpSpPr>
            <p:cNvPr id="29807" name="Group 76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809" name="Picture 77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810" name="Line 78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811" name="Line 79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808" name="Oval 80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13856" name="Freeform 160"/>
          <p:cNvSpPr>
            <a:spLocks/>
          </p:cNvSpPr>
          <p:nvPr/>
        </p:nvSpPr>
        <p:spPr bwMode="auto">
          <a:xfrm>
            <a:off x="3222625" y="4229100"/>
            <a:ext cx="2347913" cy="301625"/>
          </a:xfrm>
          <a:custGeom>
            <a:avLst/>
            <a:gdLst>
              <a:gd name="T0" fmla="*/ 0 w 1479"/>
              <a:gd name="T1" fmla="*/ 4763 h 190"/>
              <a:gd name="T2" fmla="*/ 1936750 w 1479"/>
              <a:gd name="T3" fmla="*/ 301625 h 190"/>
              <a:gd name="T4" fmla="*/ 2347913 w 1479"/>
              <a:gd name="T5" fmla="*/ 0 h 190"/>
              <a:gd name="T6" fmla="*/ 0 w 1479"/>
              <a:gd name="T7" fmla="*/ 4763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190">
                <a:moveTo>
                  <a:pt x="0" y="3"/>
                </a:moveTo>
                <a:cubicBezTo>
                  <a:pt x="487" y="96"/>
                  <a:pt x="974" y="190"/>
                  <a:pt x="1220" y="190"/>
                </a:cubicBezTo>
                <a:cubicBezTo>
                  <a:pt x="1466" y="190"/>
                  <a:pt x="1472" y="95"/>
                  <a:pt x="1479" y="0"/>
                </a:cubicBezTo>
                <a:cubicBezTo>
                  <a:pt x="1479" y="0"/>
                  <a:pt x="0" y="3"/>
                  <a:pt x="0" y="3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413857" name="Freeform 161"/>
          <p:cNvSpPr>
            <a:spLocks/>
          </p:cNvSpPr>
          <p:nvPr/>
        </p:nvSpPr>
        <p:spPr bwMode="auto">
          <a:xfrm flipV="1">
            <a:off x="3222625" y="4840288"/>
            <a:ext cx="2347913" cy="301625"/>
          </a:xfrm>
          <a:custGeom>
            <a:avLst/>
            <a:gdLst>
              <a:gd name="T0" fmla="*/ 0 w 1479"/>
              <a:gd name="T1" fmla="*/ 4763 h 190"/>
              <a:gd name="T2" fmla="*/ 1936750 w 1479"/>
              <a:gd name="T3" fmla="*/ 301625 h 190"/>
              <a:gd name="T4" fmla="*/ 2347913 w 1479"/>
              <a:gd name="T5" fmla="*/ 0 h 190"/>
              <a:gd name="T6" fmla="*/ 0 w 1479"/>
              <a:gd name="T7" fmla="*/ 4763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190">
                <a:moveTo>
                  <a:pt x="0" y="3"/>
                </a:moveTo>
                <a:cubicBezTo>
                  <a:pt x="487" y="96"/>
                  <a:pt x="974" y="190"/>
                  <a:pt x="1220" y="190"/>
                </a:cubicBezTo>
                <a:cubicBezTo>
                  <a:pt x="1466" y="190"/>
                  <a:pt x="1472" y="95"/>
                  <a:pt x="1479" y="0"/>
                </a:cubicBezTo>
                <a:cubicBezTo>
                  <a:pt x="1479" y="0"/>
                  <a:pt x="0" y="3"/>
                  <a:pt x="0" y="3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grpSp>
        <p:nvGrpSpPr>
          <p:cNvPr id="413777" name="Group 81"/>
          <p:cNvGrpSpPr>
            <a:grpSpLocks/>
          </p:cNvGrpSpPr>
          <p:nvPr/>
        </p:nvGrpSpPr>
        <p:grpSpPr bwMode="auto">
          <a:xfrm>
            <a:off x="3635375" y="4289425"/>
            <a:ext cx="325438" cy="228600"/>
            <a:chOff x="2553" y="2692"/>
            <a:chExt cx="205" cy="144"/>
          </a:xfrm>
        </p:grpSpPr>
        <p:grpSp>
          <p:nvGrpSpPr>
            <p:cNvPr id="29802" name="Group 82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804" name="Picture 83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805" name="Line 84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806" name="Line 85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803" name="Oval 86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783" name="Group 87"/>
          <p:cNvGrpSpPr>
            <a:grpSpLocks/>
          </p:cNvGrpSpPr>
          <p:nvPr/>
        </p:nvGrpSpPr>
        <p:grpSpPr bwMode="auto">
          <a:xfrm>
            <a:off x="4176713" y="4289425"/>
            <a:ext cx="325437" cy="228600"/>
            <a:chOff x="2553" y="2692"/>
            <a:chExt cx="205" cy="144"/>
          </a:xfrm>
        </p:grpSpPr>
        <p:grpSp>
          <p:nvGrpSpPr>
            <p:cNvPr id="29797" name="Group 88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99" name="Picture 89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800" name="Line 90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801" name="Line 91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98" name="Oval 92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789" name="Group 93"/>
          <p:cNvGrpSpPr>
            <a:grpSpLocks/>
          </p:cNvGrpSpPr>
          <p:nvPr/>
        </p:nvGrpSpPr>
        <p:grpSpPr bwMode="auto">
          <a:xfrm>
            <a:off x="4718050" y="4289425"/>
            <a:ext cx="325438" cy="228600"/>
            <a:chOff x="2553" y="2692"/>
            <a:chExt cx="205" cy="144"/>
          </a:xfrm>
        </p:grpSpPr>
        <p:grpSp>
          <p:nvGrpSpPr>
            <p:cNvPr id="29792" name="Group 94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94" name="Picture 95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95" name="Line 96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96" name="Line 97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93" name="Oval 98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795" name="Group 99"/>
          <p:cNvGrpSpPr>
            <a:grpSpLocks/>
          </p:cNvGrpSpPr>
          <p:nvPr/>
        </p:nvGrpSpPr>
        <p:grpSpPr bwMode="auto">
          <a:xfrm>
            <a:off x="5259388" y="4287838"/>
            <a:ext cx="325437" cy="228600"/>
            <a:chOff x="2553" y="2692"/>
            <a:chExt cx="205" cy="144"/>
          </a:xfrm>
        </p:grpSpPr>
        <p:grpSp>
          <p:nvGrpSpPr>
            <p:cNvPr id="29787" name="Group 100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89" name="Picture 101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90" name="Line 102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91" name="Line 103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88" name="Oval 104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29734" name="Group 105"/>
          <p:cNvGrpSpPr>
            <a:grpSpLocks/>
          </p:cNvGrpSpPr>
          <p:nvPr/>
        </p:nvGrpSpPr>
        <p:grpSpPr bwMode="auto">
          <a:xfrm>
            <a:off x="3094038" y="4879975"/>
            <a:ext cx="325437" cy="228600"/>
            <a:chOff x="2553" y="2692"/>
            <a:chExt cx="205" cy="144"/>
          </a:xfrm>
        </p:grpSpPr>
        <p:grpSp>
          <p:nvGrpSpPr>
            <p:cNvPr id="29782" name="Group 106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84" name="Picture 107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85" name="Line 108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86" name="Line 109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83" name="Oval 110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807" name="Group 111"/>
          <p:cNvGrpSpPr>
            <a:grpSpLocks/>
          </p:cNvGrpSpPr>
          <p:nvPr/>
        </p:nvGrpSpPr>
        <p:grpSpPr bwMode="auto">
          <a:xfrm>
            <a:off x="3635375" y="4881563"/>
            <a:ext cx="325438" cy="228600"/>
            <a:chOff x="2553" y="2692"/>
            <a:chExt cx="205" cy="144"/>
          </a:xfrm>
        </p:grpSpPr>
        <p:grpSp>
          <p:nvGrpSpPr>
            <p:cNvPr id="29777" name="Group 112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79" name="Picture 113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80" name="Line 114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81" name="Line 115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78" name="Oval 116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813" name="Group 117"/>
          <p:cNvGrpSpPr>
            <a:grpSpLocks/>
          </p:cNvGrpSpPr>
          <p:nvPr/>
        </p:nvGrpSpPr>
        <p:grpSpPr bwMode="auto">
          <a:xfrm>
            <a:off x="4176713" y="4881563"/>
            <a:ext cx="325437" cy="228600"/>
            <a:chOff x="2553" y="2692"/>
            <a:chExt cx="205" cy="144"/>
          </a:xfrm>
        </p:grpSpPr>
        <p:grpSp>
          <p:nvGrpSpPr>
            <p:cNvPr id="29772" name="Group 118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74" name="Picture 119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75" name="Line 120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76" name="Line 121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73" name="Oval 122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819" name="Group 123"/>
          <p:cNvGrpSpPr>
            <a:grpSpLocks/>
          </p:cNvGrpSpPr>
          <p:nvPr/>
        </p:nvGrpSpPr>
        <p:grpSpPr bwMode="auto">
          <a:xfrm>
            <a:off x="4718050" y="4881563"/>
            <a:ext cx="325438" cy="228600"/>
            <a:chOff x="2553" y="2692"/>
            <a:chExt cx="205" cy="144"/>
          </a:xfrm>
        </p:grpSpPr>
        <p:grpSp>
          <p:nvGrpSpPr>
            <p:cNvPr id="29767" name="Group 124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69" name="Picture 125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70" name="Line 126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71" name="Line 127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68" name="Oval 128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3825" name="Group 129"/>
          <p:cNvGrpSpPr>
            <a:grpSpLocks/>
          </p:cNvGrpSpPr>
          <p:nvPr/>
        </p:nvGrpSpPr>
        <p:grpSpPr bwMode="auto">
          <a:xfrm>
            <a:off x="5259388" y="4879975"/>
            <a:ext cx="325437" cy="228600"/>
            <a:chOff x="2553" y="2692"/>
            <a:chExt cx="205" cy="144"/>
          </a:xfrm>
        </p:grpSpPr>
        <p:grpSp>
          <p:nvGrpSpPr>
            <p:cNvPr id="29762" name="Group 130"/>
            <p:cNvGrpSpPr>
              <a:grpSpLocks/>
            </p:cNvGrpSpPr>
            <p:nvPr/>
          </p:nvGrpSpPr>
          <p:grpSpPr bwMode="auto">
            <a:xfrm>
              <a:off x="2553" y="2692"/>
              <a:ext cx="143" cy="144"/>
              <a:chOff x="2427" y="3155"/>
              <a:chExt cx="96" cy="108"/>
            </a:xfrm>
          </p:grpSpPr>
          <p:pic>
            <p:nvPicPr>
              <p:cNvPr id="29764" name="Picture 131" descr="boulej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 l="52966" t="33055" r="39301" b="56898"/>
              <a:stretch>
                <a:fillRect/>
              </a:stretch>
            </p:blipFill>
            <p:spPr bwMode="auto">
              <a:xfrm>
                <a:off x="2427" y="3155"/>
                <a:ext cx="9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65" name="Line 132"/>
              <p:cNvSpPr>
                <a:spLocks noChangeShapeType="1"/>
              </p:cNvSpPr>
              <p:nvPr/>
            </p:nvSpPr>
            <p:spPr bwMode="auto">
              <a:xfrm>
                <a:off x="2478" y="3190"/>
                <a:ext cx="0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766" name="Line 133"/>
              <p:cNvSpPr>
                <a:spLocks noChangeShapeType="1"/>
              </p:cNvSpPr>
              <p:nvPr/>
            </p:nvSpPr>
            <p:spPr bwMode="auto">
              <a:xfrm rot="-5400000">
                <a:off x="2478" y="3192"/>
                <a:ext cx="0" cy="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9763" name="Oval 134"/>
            <p:cNvSpPr>
              <a:spLocks noChangeArrowheads="1"/>
            </p:cNvSpPr>
            <p:nvPr/>
          </p:nvSpPr>
          <p:spPr bwMode="auto">
            <a:xfrm flipH="1" flipV="1">
              <a:off x="2711" y="2740"/>
              <a:ext cx="47" cy="47"/>
            </a:xfrm>
            <a:prstGeom prst="ellipse">
              <a:avLst/>
            </a:prstGeom>
            <a:solidFill>
              <a:srgbClr val="FF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739" name="Text Box 135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29740" name="Text Box 136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29741" name="Group 137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29760" name="Rectangle 138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29761" name="Picture 139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9742" name="Rectangle 140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29743" name="Group 144"/>
          <p:cNvGrpSpPr>
            <a:grpSpLocks/>
          </p:cNvGrpSpPr>
          <p:nvPr/>
        </p:nvGrpSpPr>
        <p:grpSpPr bwMode="auto">
          <a:xfrm>
            <a:off x="3979863" y="3838575"/>
            <a:ext cx="503237" cy="457200"/>
            <a:chOff x="2595" y="2418"/>
            <a:chExt cx="317" cy="288"/>
          </a:xfrm>
        </p:grpSpPr>
        <p:sp>
          <p:nvSpPr>
            <p:cNvPr id="29758" name="AutoShape 145"/>
            <p:cNvSpPr>
              <a:spLocks noChangeArrowheads="1"/>
            </p:cNvSpPr>
            <p:nvPr/>
          </p:nvSpPr>
          <p:spPr bwMode="auto">
            <a:xfrm rot="16200000" flipH="1">
              <a:off x="2584" y="2492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59" name="Text Box 146"/>
            <p:cNvSpPr txBox="1">
              <a:spLocks noChangeArrowheads="1"/>
            </p:cNvSpPr>
            <p:nvPr/>
          </p:nvSpPr>
          <p:spPr bwMode="auto">
            <a:xfrm flipH="1">
              <a:off x="2655" y="2418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grpSp>
        <p:nvGrpSpPr>
          <p:cNvPr id="29744" name="Group 147"/>
          <p:cNvGrpSpPr>
            <a:grpSpLocks/>
          </p:cNvGrpSpPr>
          <p:nvPr/>
        </p:nvGrpSpPr>
        <p:grpSpPr bwMode="auto">
          <a:xfrm>
            <a:off x="3979863" y="5068888"/>
            <a:ext cx="544512" cy="457200"/>
            <a:chOff x="2609" y="3193"/>
            <a:chExt cx="343" cy="288"/>
          </a:xfrm>
        </p:grpSpPr>
        <p:sp>
          <p:nvSpPr>
            <p:cNvPr id="29756" name="AutoShape 148"/>
            <p:cNvSpPr>
              <a:spLocks noChangeArrowheads="1"/>
            </p:cNvSpPr>
            <p:nvPr/>
          </p:nvSpPr>
          <p:spPr bwMode="auto">
            <a:xfrm rot="5400000" flipH="1">
              <a:off x="2598" y="3267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57" name="Text Box 149"/>
            <p:cNvSpPr txBox="1">
              <a:spLocks noChangeArrowheads="1"/>
            </p:cNvSpPr>
            <p:nvPr/>
          </p:nvSpPr>
          <p:spPr bwMode="auto">
            <a:xfrm flipH="1">
              <a:off x="2695" y="3193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sp>
        <p:nvSpPr>
          <p:cNvPr id="29745" name="Text Box 151"/>
          <p:cNvSpPr txBox="1">
            <a:spLocks noChangeArrowheads="1"/>
          </p:cNvSpPr>
          <p:nvPr/>
        </p:nvSpPr>
        <p:spPr bwMode="auto">
          <a:xfrm flipH="1">
            <a:off x="5130800" y="3838575"/>
            <a:ext cx="407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400">
                <a:solidFill>
                  <a:schemeClr val="bg1"/>
                </a:solidFill>
                <a:latin typeface="Tahoma" pitchFamily="34" charset="0"/>
              </a:rPr>
              <a:t>V</a:t>
            </a:r>
          </a:p>
        </p:txBody>
      </p:sp>
      <p:sp>
        <p:nvSpPr>
          <p:cNvPr id="29746" name="Text Box 153"/>
          <p:cNvSpPr txBox="1">
            <a:spLocks noChangeArrowheads="1"/>
          </p:cNvSpPr>
          <p:nvPr/>
        </p:nvSpPr>
        <p:spPr bwMode="auto">
          <a:xfrm flipH="1">
            <a:off x="5172075" y="5068888"/>
            <a:ext cx="407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400">
                <a:solidFill>
                  <a:schemeClr val="bg1"/>
                </a:solidFill>
                <a:latin typeface="Tahoma" pitchFamily="34" charset="0"/>
              </a:rPr>
              <a:t>V</a:t>
            </a:r>
          </a:p>
        </p:txBody>
      </p:sp>
      <p:sp>
        <p:nvSpPr>
          <p:cNvPr id="29747" name="Text Box 15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Polarisation inverse </a:t>
            </a:r>
            <a:r>
              <a:rPr lang="fr-FR" altLang="fr-FR" sz="2400">
                <a:solidFill>
                  <a:srgbClr val="FF0000"/>
                </a:solidFill>
              </a:rPr>
              <a:t>plus forte</a:t>
            </a:r>
            <a:r>
              <a:rPr lang="fr-FR" altLang="fr-FR" sz="2000"/>
              <a:t> du côté </a:t>
            </a:r>
            <a:r>
              <a:rPr lang="fr-FR" altLang="fr-FR" sz="2400">
                <a:solidFill>
                  <a:srgbClr val="FF0000"/>
                </a:solidFill>
              </a:rPr>
              <a:t>drain</a:t>
            </a:r>
          </a:p>
        </p:txBody>
      </p:sp>
      <p:sp>
        <p:nvSpPr>
          <p:cNvPr id="29748" name="AutoShape 158"/>
          <p:cNvSpPr>
            <a:spLocks noChangeArrowheads="1"/>
          </p:cNvSpPr>
          <p:nvPr/>
        </p:nvSpPr>
        <p:spPr bwMode="auto">
          <a:xfrm rot="16200000" flipH="1">
            <a:off x="4860925" y="4111625"/>
            <a:ext cx="587375" cy="238125"/>
          </a:xfrm>
          <a:prstGeom prst="rightArrow">
            <a:avLst>
              <a:gd name="adj1" fmla="val 30574"/>
              <a:gd name="adj2" fmla="val 52211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29749" name="AutoShape 159"/>
          <p:cNvSpPr>
            <a:spLocks noChangeArrowheads="1"/>
          </p:cNvSpPr>
          <p:nvPr/>
        </p:nvSpPr>
        <p:spPr bwMode="auto">
          <a:xfrm rot="5400000" flipH="1">
            <a:off x="4860925" y="5030788"/>
            <a:ext cx="587375" cy="238125"/>
          </a:xfrm>
          <a:prstGeom prst="rightArrow">
            <a:avLst>
              <a:gd name="adj1" fmla="val 30574"/>
              <a:gd name="adj2" fmla="val 52211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3869" name="Group 173"/>
          <p:cNvGrpSpPr>
            <a:grpSpLocks/>
          </p:cNvGrpSpPr>
          <p:nvPr/>
        </p:nvGrpSpPr>
        <p:grpSpPr bwMode="auto">
          <a:xfrm>
            <a:off x="6743700" y="3740150"/>
            <a:ext cx="1922463" cy="1066800"/>
            <a:chOff x="4248" y="2476"/>
            <a:chExt cx="1211" cy="672"/>
          </a:xfrm>
        </p:grpSpPr>
        <p:sp>
          <p:nvSpPr>
            <p:cNvPr id="29754" name="Rectangle 167"/>
            <p:cNvSpPr>
              <a:spLocks noChangeArrowheads="1"/>
            </p:cNvSpPr>
            <p:nvPr/>
          </p:nvSpPr>
          <p:spPr bwMode="auto">
            <a:xfrm>
              <a:off x="4248" y="2476"/>
              <a:ext cx="1211" cy="672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9755" name="Text Box 168"/>
            <p:cNvSpPr txBox="1">
              <a:spLocks noChangeArrowheads="1"/>
            </p:cNvSpPr>
            <p:nvPr/>
          </p:nvSpPr>
          <p:spPr bwMode="auto">
            <a:xfrm>
              <a:off x="4248" y="2514"/>
              <a:ext cx="1164" cy="63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>
                  <a:solidFill>
                    <a:srgbClr val="FF0000"/>
                  </a:solidFill>
                </a:rPr>
                <a:t>Elargissement </a:t>
              </a:r>
              <a:r>
                <a:rPr lang="fr-FR" altLang="fr-FR"/>
                <a:t>de la </a:t>
              </a:r>
              <a:r>
                <a:rPr lang="fr-FR" altLang="fr-FR" sz="2000">
                  <a:solidFill>
                    <a:srgbClr val="FF0000"/>
                  </a:solidFill>
                </a:rPr>
                <a:t>ZCE</a:t>
              </a:r>
              <a:r>
                <a:rPr lang="fr-FR" altLang="fr-FR"/>
                <a:t> du côté du </a:t>
              </a:r>
              <a:r>
                <a:rPr lang="fr-FR" altLang="fr-FR" sz="2000">
                  <a:solidFill>
                    <a:srgbClr val="FF0000"/>
                  </a:solidFill>
                </a:rPr>
                <a:t>drain</a:t>
              </a:r>
            </a:p>
          </p:txBody>
        </p:sp>
      </p:grpSp>
      <p:grpSp>
        <p:nvGrpSpPr>
          <p:cNvPr id="29751" name="Group 174"/>
          <p:cNvGrpSpPr>
            <a:grpSpLocks/>
          </p:cNvGrpSpPr>
          <p:nvPr/>
        </p:nvGrpSpPr>
        <p:grpSpPr bwMode="auto">
          <a:xfrm>
            <a:off x="6743700" y="2790825"/>
            <a:ext cx="1922463" cy="628650"/>
            <a:chOff x="4248" y="1758"/>
            <a:chExt cx="1211" cy="396"/>
          </a:xfrm>
        </p:grpSpPr>
        <p:sp>
          <p:nvSpPr>
            <p:cNvPr id="29752" name="Rectangle 175"/>
            <p:cNvSpPr>
              <a:spLocks noChangeArrowheads="1"/>
            </p:cNvSpPr>
            <p:nvPr/>
          </p:nvSpPr>
          <p:spPr bwMode="auto">
            <a:xfrm>
              <a:off x="4248" y="1758"/>
              <a:ext cx="1211" cy="396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29753" name="Text Box 176"/>
            <p:cNvSpPr txBox="1">
              <a:spLocks noChangeArrowheads="1"/>
            </p:cNvSpPr>
            <p:nvPr/>
          </p:nvSpPr>
          <p:spPr bwMode="auto">
            <a:xfrm>
              <a:off x="4248" y="1831"/>
              <a:ext cx="1093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Rajout de </a:t>
              </a:r>
              <a:r>
                <a:rPr lang="fr-FR" altLang="fr-FR" sz="2000">
                  <a:solidFill>
                    <a:srgbClr val="FF0000"/>
                  </a:solidFill>
                </a:rPr>
                <a:t>Vdg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22222E-6 C 2.22222E-6 -0.00185 0.00087 -0.00741 0.00052 -0.01065 C 0.00017 -0.01389 -0.00174 -0.01782 -0.00243 -0.01967 " pathEditMode="relative" rAng="0" ptsTypes="aaa">
                                      <p:cBhvr>
                                        <p:cTn id="6" dur="1000" fill="hold"/>
                                        <p:tgtEl>
                                          <p:spTgt spid="413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1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7037E-7 C 2.22222E-6 0.00185 0.00104 0.00787 0.00052 0.01111 C 2.22222E-6 0.01435 -0.00209 0.01736 -0.00278 0.01898 " pathEditMode="relative" rAng="0" ptsTypes="aaa">
                                      <p:cBhvr>
                                        <p:cTn id="8" dur="1000" fill="hold"/>
                                        <p:tgtEl>
                                          <p:spTgt spid="4137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7037E-7 C -0.00017 0.00324 0.00208 0.01458 -0.0007 0.01898 C -0.00347 0.02338 -0.01354 0.02477 -0.01701 0.02616 " pathEditMode="relative" rAng="0" ptsTypes="aaa">
                                      <p:cBhvr>
                                        <p:cTn id="10" dur="1000" fill="hold"/>
                                        <p:tgtEl>
                                          <p:spTgt spid="413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" y="1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C 0.00052 -0.00602 0.00121 -0.01273 8.33333E-7 -0.01666 C -0.00122 -0.0206 -0.00399 -0.02199 -0.00695 -0.02407 C -0.0099 -0.02616 -0.01528 -0.02847 -0.01736 -0.02963 " pathEditMode="relative" rAng="0" ptsTypes="aaaa">
                                      <p:cBhvr>
                                        <p:cTn id="12" dur="1000" fill="hold"/>
                                        <p:tgtEl>
                                          <p:spTgt spid="4138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" y="-1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22222E-6 C -0.00052 -0.00416 -0.00087 -0.01921 -0.00365 -0.02523 C -0.00642 -0.03125 -0.01076 -0.03356 -0.01701 -0.0368 C -0.02326 -0.04004 -0.03576 -0.04352 -0.0408 -0.04514 " pathEditMode="relative" rAng="0" ptsTypes="aaaa">
                                      <p:cBhvr>
                                        <p:cTn id="14" dur="1000" fill="hold"/>
                                        <p:tgtEl>
                                          <p:spTgt spid="4138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" y="-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7037E-7 C -0.00087 0.00255 -0.00434 0.01134 -0.00486 0.01574 C -0.00538 0.02014 -0.0033 0.02292 -0.00278 0.02685 C -0.00226 0.03079 -0.00156 0.03727 -0.00121 0.04005 " pathEditMode="relative" rAng="0" ptsTypes="aaaa">
                                      <p:cBhvr>
                                        <p:cTn id="16" dur="1000" fill="hold"/>
                                        <p:tgtEl>
                                          <p:spTgt spid="4137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" y="2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85185E-6 C 0.00018 0.00602 0.00035 0.01157 -0.00035 0.01574 C -0.00104 0.01991 -0.00208 0.02245 -0.00416 0.02523 C -0.00625 0.02801 -0.0092 0.02986 -0.0125 0.03264 C -0.0158 0.03541 -0.02135 0.04004 -0.02378 0.0419 " pathEditMode="relative" rAng="0" ptsTypes="aaaaa">
                                      <p:cBhvr>
                                        <p:cTn id="18" dur="1000" fill="hold"/>
                                        <p:tgtEl>
                                          <p:spTgt spid="4137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" y="2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C -0.00052 -0.00625 -0.00087 -0.0125 -1.94444E-6 -0.01782 C 0.00087 -0.02315 0.004 -0.02778 0.00573 -0.03218 C 0.00747 -0.03657 0.0099 -0.04143 0.01094 -0.04375 " pathEditMode="relative" rAng="0" ptsTypes="aaaa">
                                      <p:cBhvr>
                                        <p:cTn id="20" dur="1000" fill="hold"/>
                                        <p:tgtEl>
                                          <p:spTgt spid="4138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" y="-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3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3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3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3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1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856" grpId="0" animBg="1"/>
      <p:bldP spid="41385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0725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1697038" y="3589338"/>
            <a:ext cx="957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= 0</a:t>
            </a:r>
          </a:p>
        </p:txBody>
      </p:sp>
      <p:sp>
        <p:nvSpPr>
          <p:cNvPr id="30733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36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1963738" y="5211763"/>
            <a:ext cx="94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&gt; 0</a:t>
            </a: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30739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30874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75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40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5897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n°1 : Vgs = 0 et Vds &gt; 0</a:t>
            </a:r>
            <a:endParaRPr lang="fr-FR" altLang="fr-FR"/>
          </a:p>
        </p:txBody>
      </p:sp>
      <p:grpSp>
        <p:nvGrpSpPr>
          <p:cNvPr id="30741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30872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0873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742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4891" name="Group 171"/>
          <p:cNvGrpSpPr>
            <a:grpSpLocks/>
          </p:cNvGrpSpPr>
          <p:nvPr/>
        </p:nvGrpSpPr>
        <p:grpSpPr bwMode="auto">
          <a:xfrm>
            <a:off x="5732463" y="5227638"/>
            <a:ext cx="647700" cy="892175"/>
            <a:chOff x="3611" y="3293"/>
            <a:chExt cx="408" cy="562"/>
          </a:xfrm>
        </p:grpSpPr>
        <p:sp>
          <p:nvSpPr>
            <p:cNvPr id="30870" name="AutoShape 160"/>
            <p:cNvSpPr>
              <a:spLocks noChangeArrowheads="1"/>
            </p:cNvSpPr>
            <p:nvPr/>
          </p:nvSpPr>
          <p:spPr bwMode="auto">
            <a:xfrm rot="10800000">
              <a:off x="3823" y="3293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30871" name="Text Box 161"/>
            <p:cNvSpPr txBox="1">
              <a:spLocks noChangeArrowheads="1"/>
            </p:cNvSpPr>
            <p:nvPr/>
          </p:nvSpPr>
          <p:spPr bwMode="auto">
            <a:xfrm>
              <a:off x="3611" y="3605"/>
              <a:ext cx="408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/>
                <a:t>Id</a:t>
              </a:r>
            </a:p>
          </p:txBody>
        </p:sp>
      </p:grpSp>
      <p:sp>
        <p:nvSpPr>
          <p:cNvPr id="30744" name="Rectangle 27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0745" name="Line 28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46" name="Text Box 29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0747" name="Text Box 30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30748" name="Text Box 31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0749" name="Line 32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0750" name="Group 33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30850" name="Group 34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0866" name="Group 3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68" name="Picture 3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69" name="Line 3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67" name="Oval 3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0851" name="Group 39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0862" name="Group 4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64" name="Picture 4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65" name="Line 4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63" name="Oval 4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0852" name="Group 44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0858" name="Group 4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60" name="Picture 4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61" name="Line 4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59" name="Oval 4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0853" name="Group 49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0854" name="Group 5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56" name="Picture 5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57" name="Line 5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55" name="Oval 5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0751" name="Group 54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30830" name="Group 55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0846" name="Group 5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48" name="Picture 5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49" name="Line 5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47" name="Oval 5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0831" name="Group 60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0842" name="Group 6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44" name="Picture 6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45" name="Line 6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43" name="Oval 6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0832" name="Group 65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0838" name="Group 6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40" name="Picture 6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41" name="Line 6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39" name="Oval 6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0833" name="Group 70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0834" name="Group 7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0836" name="Picture 7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0837" name="Line 7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835" name="Oval 7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0752" name="Group 76"/>
          <p:cNvGrpSpPr>
            <a:grpSpLocks/>
          </p:cNvGrpSpPr>
          <p:nvPr/>
        </p:nvGrpSpPr>
        <p:grpSpPr bwMode="auto">
          <a:xfrm>
            <a:off x="3094038" y="4287838"/>
            <a:ext cx="227012" cy="228600"/>
            <a:chOff x="2427" y="3155"/>
            <a:chExt cx="96" cy="108"/>
          </a:xfrm>
        </p:grpSpPr>
        <p:pic>
          <p:nvPicPr>
            <p:cNvPr id="30827" name="Picture 7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28" name="Line 78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29" name="Line 79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3" name="Freeform 81"/>
          <p:cNvSpPr>
            <a:spLocks/>
          </p:cNvSpPr>
          <p:nvPr/>
        </p:nvSpPr>
        <p:spPr bwMode="auto">
          <a:xfrm>
            <a:off x="3222625" y="4219575"/>
            <a:ext cx="2347913" cy="301625"/>
          </a:xfrm>
          <a:custGeom>
            <a:avLst/>
            <a:gdLst>
              <a:gd name="T0" fmla="*/ 0 w 1479"/>
              <a:gd name="T1" fmla="*/ 4763 h 190"/>
              <a:gd name="T2" fmla="*/ 1936750 w 1479"/>
              <a:gd name="T3" fmla="*/ 301625 h 190"/>
              <a:gd name="T4" fmla="*/ 2347913 w 1479"/>
              <a:gd name="T5" fmla="*/ 0 h 190"/>
              <a:gd name="T6" fmla="*/ 0 w 1479"/>
              <a:gd name="T7" fmla="*/ 4763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190">
                <a:moveTo>
                  <a:pt x="0" y="3"/>
                </a:moveTo>
                <a:cubicBezTo>
                  <a:pt x="487" y="96"/>
                  <a:pt x="974" y="190"/>
                  <a:pt x="1220" y="190"/>
                </a:cubicBezTo>
                <a:cubicBezTo>
                  <a:pt x="1466" y="190"/>
                  <a:pt x="1472" y="95"/>
                  <a:pt x="1479" y="0"/>
                </a:cubicBezTo>
                <a:cubicBezTo>
                  <a:pt x="1479" y="0"/>
                  <a:pt x="0" y="3"/>
                  <a:pt x="0" y="3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0754" name="Freeform 82"/>
          <p:cNvSpPr>
            <a:spLocks/>
          </p:cNvSpPr>
          <p:nvPr/>
        </p:nvSpPr>
        <p:spPr bwMode="auto">
          <a:xfrm flipV="1">
            <a:off x="3222625" y="4840288"/>
            <a:ext cx="2347913" cy="301625"/>
          </a:xfrm>
          <a:custGeom>
            <a:avLst/>
            <a:gdLst>
              <a:gd name="T0" fmla="*/ 0 w 1479"/>
              <a:gd name="T1" fmla="*/ 4763 h 190"/>
              <a:gd name="T2" fmla="*/ 1936750 w 1479"/>
              <a:gd name="T3" fmla="*/ 301625 h 190"/>
              <a:gd name="T4" fmla="*/ 2347913 w 1479"/>
              <a:gd name="T5" fmla="*/ 0 h 190"/>
              <a:gd name="T6" fmla="*/ 0 w 1479"/>
              <a:gd name="T7" fmla="*/ 4763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190">
                <a:moveTo>
                  <a:pt x="0" y="3"/>
                </a:moveTo>
                <a:cubicBezTo>
                  <a:pt x="487" y="96"/>
                  <a:pt x="974" y="190"/>
                  <a:pt x="1220" y="190"/>
                </a:cubicBezTo>
                <a:cubicBezTo>
                  <a:pt x="1466" y="190"/>
                  <a:pt x="1472" y="95"/>
                  <a:pt x="1479" y="0"/>
                </a:cubicBezTo>
                <a:cubicBezTo>
                  <a:pt x="1479" y="0"/>
                  <a:pt x="0" y="3"/>
                  <a:pt x="0" y="3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grpSp>
        <p:nvGrpSpPr>
          <p:cNvPr id="30755" name="Group 84"/>
          <p:cNvGrpSpPr>
            <a:grpSpLocks/>
          </p:cNvGrpSpPr>
          <p:nvPr/>
        </p:nvGrpSpPr>
        <p:grpSpPr bwMode="auto">
          <a:xfrm>
            <a:off x="3619500" y="4422775"/>
            <a:ext cx="227013" cy="228600"/>
            <a:chOff x="2427" y="3155"/>
            <a:chExt cx="96" cy="108"/>
          </a:xfrm>
        </p:grpSpPr>
        <p:pic>
          <p:nvPicPr>
            <p:cNvPr id="30824" name="Picture 8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25" name="Line 86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26" name="Line 87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56" name="Group 90"/>
          <p:cNvGrpSpPr>
            <a:grpSpLocks/>
          </p:cNvGrpSpPr>
          <p:nvPr/>
        </p:nvGrpSpPr>
        <p:grpSpPr bwMode="auto">
          <a:xfrm>
            <a:off x="4014788" y="4464050"/>
            <a:ext cx="227012" cy="228600"/>
            <a:chOff x="2427" y="3155"/>
            <a:chExt cx="96" cy="108"/>
          </a:xfrm>
        </p:grpSpPr>
        <p:pic>
          <p:nvPicPr>
            <p:cNvPr id="30821" name="Picture 9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22" name="Line 92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23" name="Line 93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57" name="Group 96"/>
          <p:cNvGrpSpPr>
            <a:grpSpLocks/>
          </p:cNvGrpSpPr>
          <p:nvPr/>
        </p:nvGrpSpPr>
        <p:grpSpPr bwMode="auto">
          <a:xfrm>
            <a:off x="4708525" y="4573588"/>
            <a:ext cx="227013" cy="228600"/>
            <a:chOff x="2427" y="3155"/>
            <a:chExt cx="96" cy="108"/>
          </a:xfrm>
        </p:grpSpPr>
        <p:pic>
          <p:nvPicPr>
            <p:cNvPr id="30818" name="Picture 9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19" name="Line 98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20" name="Line 99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58" name="Group 102"/>
          <p:cNvGrpSpPr>
            <a:grpSpLocks/>
          </p:cNvGrpSpPr>
          <p:nvPr/>
        </p:nvGrpSpPr>
        <p:grpSpPr bwMode="auto">
          <a:xfrm>
            <a:off x="5364163" y="4576763"/>
            <a:ext cx="227012" cy="228600"/>
            <a:chOff x="2427" y="3155"/>
            <a:chExt cx="96" cy="108"/>
          </a:xfrm>
        </p:grpSpPr>
        <p:pic>
          <p:nvPicPr>
            <p:cNvPr id="30815" name="Picture 10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16" name="Line 104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7" name="Line 105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59" name="Group 108"/>
          <p:cNvGrpSpPr>
            <a:grpSpLocks/>
          </p:cNvGrpSpPr>
          <p:nvPr/>
        </p:nvGrpSpPr>
        <p:grpSpPr bwMode="auto">
          <a:xfrm>
            <a:off x="3094038" y="4879975"/>
            <a:ext cx="227012" cy="228600"/>
            <a:chOff x="2427" y="3155"/>
            <a:chExt cx="96" cy="108"/>
          </a:xfrm>
        </p:grpSpPr>
        <p:pic>
          <p:nvPicPr>
            <p:cNvPr id="30812" name="Picture 10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13" name="Line 11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4" name="Line 11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60" name="Group 114"/>
          <p:cNvGrpSpPr>
            <a:grpSpLocks/>
          </p:cNvGrpSpPr>
          <p:nvPr/>
        </p:nvGrpSpPr>
        <p:grpSpPr bwMode="auto">
          <a:xfrm>
            <a:off x="3606800" y="4748213"/>
            <a:ext cx="227013" cy="228600"/>
            <a:chOff x="2427" y="3155"/>
            <a:chExt cx="96" cy="108"/>
          </a:xfrm>
        </p:grpSpPr>
        <p:pic>
          <p:nvPicPr>
            <p:cNvPr id="30809" name="Picture 11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10" name="Line 116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1" name="Line 117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61" name="Group 120"/>
          <p:cNvGrpSpPr>
            <a:grpSpLocks/>
          </p:cNvGrpSpPr>
          <p:nvPr/>
        </p:nvGrpSpPr>
        <p:grpSpPr bwMode="auto">
          <a:xfrm>
            <a:off x="4014788" y="4678363"/>
            <a:ext cx="227012" cy="228600"/>
            <a:chOff x="2427" y="3155"/>
            <a:chExt cx="96" cy="108"/>
          </a:xfrm>
        </p:grpSpPr>
        <p:pic>
          <p:nvPicPr>
            <p:cNvPr id="30806" name="Picture 12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7" name="Line 122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8" name="Line 123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62" name="Group 126"/>
          <p:cNvGrpSpPr>
            <a:grpSpLocks/>
          </p:cNvGrpSpPr>
          <p:nvPr/>
        </p:nvGrpSpPr>
        <p:grpSpPr bwMode="auto">
          <a:xfrm>
            <a:off x="4349750" y="4572000"/>
            <a:ext cx="227013" cy="228600"/>
            <a:chOff x="2427" y="3155"/>
            <a:chExt cx="96" cy="108"/>
          </a:xfrm>
        </p:grpSpPr>
        <p:pic>
          <p:nvPicPr>
            <p:cNvPr id="30803" name="Picture 12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4" name="Line 128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5" name="Line 129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0763" name="Group 132"/>
          <p:cNvGrpSpPr>
            <a:grpSpLocks/>
          </p:cNvGrpSpPr>
          <p:nvPr/>
        </p:nvGrpSpPr>
        <p:grpSpPr bwMode="auto">
          <a:xfrm>
            <a:off x="5053013" y="4570413"/>
            <a:ext cx="227012" cy="228600"/>
            <a:chOff x="2427" y="3155"/>
            <a:chExt cx="96" cy="108"/>
          </a:xfrm>
        </p:grpSpPr>
        <p:pic>
          <p:nvPicPr>
            <p:cNvPr id="30800" name="Picture 13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1" name="Line 134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2" name="Line 135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64" name="Text Box 137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30765" name="Text Box 138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30766" name="Group 139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30798" name="Rectangle 140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0799" name="Picture 141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767" name="Rectangle 142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30768" name="Group 143"/>
          <p:cNvGrpSpPr>
            <a:grpSpLocks/>
          </p:cNvGrpSpPr>
          <p:nvPr/>
        </p:nvGrpSpPr>
        <p:grpSpPr bwMode="auto">
          <a:xfrm>
            <a:off x="3979863" y="3838575"/>
            <a:ext cx="503237" cy="457200"/>
            <a:chOff x="2595" y="2418"/>
            <a:chExt cx="317" cy="288"/>
          </a:xfrm>
        </p:grpSpPr>
        <p:sp>
          <p:nvSpPr>
            <p:cNvPr id="30796" name="AutoShape 144"/>
            <p:cNvSpPr>
              <a:spLocks noChangeArrowheads="1"/>
            </p:cNvSpPr>
            <p:nvPr/>
          </p:nvSpPr>
          <p:spPr bwMode="auto">
            <a:xfrm rot="16200000" flipH="1">
              <a:off x="2584" y="2492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7" name="Text Box 145"/>
            <p:cNvSpPr txBox="1">
              <a:spLocks noChangeArrowheads="1"/>
            </p:cNvSpPr>
            <p:nvPr/>
          </p:nvSpPr>
          <p:spPr bwMode="auto">
            <a:xfrm flipH="1">
              <a:off x="2655" y="2418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grpSp>
        <p:nvGrpSpPr>
          <p:cNvPr id="30769" name="Group 146"/>
          <p:cNvGrpSpPr>
            <a:grpSpLocks/>
          </p:cNvGrpSpPr>
          <p:nvPr/>
        </p:nvGrpSpPr>
        <p:grpSpPr bwMode="auto">
          <a:xfrm>
            <a:off x="3979863" y="5068888"/>
            <a:ext cx="544512" cy="457200"/>
            <a:chOff x="2609" y="3193"/>
            <a:chExt cx="343" cy="288"/>
          </a:xfrm>
        </p:grpSpPr>
        <p:sp>
          <p:nvSpPr>
            <p:cNvPr id="30794" name="AutoShape 147"/>
            <p:cNvSpPr>
              <a:spLocks noChangeArrowheads="1"/>
            </p:cNvSpPr>
            <p:nvPr/>
          </p:nvSpPr>
          <p:spPr bwMode="auto">
            <a:xfrm rot="5400000" flipH="1">
              <a:off x="2598" y="3267"/>
              <a:ext cx="171" cy="150"/>
            </a:xfrm>
            <a:prstGeom prst="rightArrow">
              <a:avLst>
                <a:gd name="adj1" fmla="val 30574"/>
                <a:gd name="adj2" fmla="val 24130"/>
              </a:avLst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5" name="Text Box 148"/>
            <p:cNvSpPr txBox="1">
              <a:spLocks noChangeArrowheads="1"/>
            </p:cNvSpPr>
            <p:nvPr/>
          </p:nvSpPr>
          <p:spPr bwMode="auto">
            <a:xfrm flipH="1">
              <a:off x="2695" y="3193"/>
              <a:ext cx="2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fr-FR" altLang="fr-FR" sz="2400">
                  <a:solidFill>
                    <a:schemeClr val="bg1"/>
                  </a:solidFill>
                  <a:latin typeface="Tahoma" pitchFamily="34" charset="0"/>
                </a:rPr>
                <a:t>V</a:t>
              </a:r>
            </a:p>
          </p:txBody>
        </p:sp>
      </p:grpSp>
      <p:sp>
        <p:nvSpPr>
          <p:cNvPr id="30770" name="Text Box 149"/>
          <p:cNvSpPr txBox="1">
            <a:spLocks noChangeArrowheads="1"/>
          </p:cNvSpPr>
          <p:nvPr/>
        </p:nvSpPr>
        <p:spPr bwMode="auto">
          <a:xfrm flipH="1">
            <a:off x="5130800" y="3838575"/>
            <a:ext cx="407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400">
                <a:solidFill>
                  <a:schemeClr val="bg1"/>
                </a:solidFill>
                <a:latin typeface="Tahoma" pitchFamily="34" charset="0"/>
              </a:rPr>
              <a:t>V</a:t>
            </a:r>
          </a:p>
        </p:txBody>
      </p:sp>
      <p:sp>
        <p:nvSpPr>
          <p:cNvPr id="30771" name="Text Box 150"/>
          <p:cNvSpPr txBox="1">
            <a:spLocks noChangeArrowheads="1"/>
          </p:cNvSpPr>
          <p:nvPr/>
        </p:nvSpPr>
        <p:spPr bwMode="auto">
          <a:xfrm flipH="1">
            <a:off x="5172075" y="5068888"/>
            <a:ext cx="407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2400">
                <a:solidFill>
                  <a:schemeClr val="bg1"/>
                </a:solidFill>
                <a:latin typeface="Tahoma" pitchFamily="34" charset="0"/>
              </a:rPr>
              <a:t>V</a:t>
            </a:r>
          </a:p>
        </p:txBody>
      </p:sp>
      <p:sp>
        <p:nvSpPr>
          <p:cNvPr id="30772" name="Text Box 151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Polarisation inverse </a:t>
            </a:r>
            <a:r>
              <a:rPr lang="fr-FR" altLang="fr-FR" sz="2400">
                <a:solidFill>
                  <a:srgbClr val="FF0000"/>
                </a:solidFill>
              </a:rPr>
              <a:t>plus forte</a:t>
            </a:r>
            <a:r>
              <a:rPr lang="fr-FR" altLang="fr-FR" sz="2000"/>
              <a:t> du côté </a:t>
            </a:r>
            <a:r>
              <a:rPr lang="fr-FR" altLang="fr-FR" sz="2400">
                <a:solidFill>
                  <a:srgbClr val="FF0000"/>
                </a:solidFill>
              </a:rPr>
              <a:t>drain</a:t>
            </a:r>
          </a:p>
        </p:txBody>
      </p:sp>
      <p:sp>
        <p:nvSpPr>
          <p:cNvPr id="30773" name="AutoShape 152"/>
          <p:cNvSpPr>
            <a:spLocks noChangeArrowheads="1"/>
          </p:cNvSpPr>
          <p:nvPr/>
        </p:nvSpPr>
        <p:spPr bwMode="auto">
          <a:xfrm rot="16200000" flipH="1">
            <a:off x="4860925" y="4111625"/>
            <a:ext cx="587375" cy="238125"/>
          </a:xfrm>
          <a:prstGeom prst="rightArrow">
            <a:avLst>
              <a:gd name="adj1" fmla="val 30574"/>
              <a:gd name="adj2" fmla="val 52211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74" name="AutoShape 153"/>
          <p:cNvSpPr>
            <a:spLocks noChangeArrowheads="1"/>
          </p:cNvSpPr>
          <p:nvPr/>
        </p:nvSpPr>
        <p:spPr bwMode="auto">
          <a:xfrm rot="5400000" flipH="1">
            <a:off x="4860925" y="5030788"/>
            <a:ext cx="587375" cy="238125"/>
          </a:xfrm>
          <a:prstGeom prst="rightArrow">
            <a:avLst>
              <a:gd name="adj1" fmla="val 30574"/>
              <a:gd name="adj2" fmla="val 52211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00" name="Oval 80"/>
          <p:cNvSpPr>
            <a:spLocks noChangeArrowheads="1"/>
          </p:cNvSpPr>
          <p:nvPr/>
        </p:nvSpPr>
        <p:spPr bwMode="auto">
          <a:xfrm flipH="1" flipV="1">
            <a:off x="3344863" y="436403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08" name="Oval 88"/>
          <p:cNvSpPr>
            <a:spLocks noChangeArrowheads="1"/>
          </p:cNvSpPr>
          <p:nvPr/>
        </p:nvSpPr>
        <p:spPr bwMode="auto">
          <a:xfrm flipH="1" flipV="1">
            <a:off x="3870325" y="4498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14" name="Oval 94"/>
          <p:cNvSpPr>
            <a:spLocks noChangeArrowheads="1"/>
          </p:cNvSpPr>
          <p:nvPr/>
        </p:nvSpPr>
        <p:spPr bwMode="auto">
          <a:xfrm flipH="1" flipV="1">
            <a:off x="4265613" y="454025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20" name="Oval 100"/>
          <p:cNvSpPr>
            <a:spLocks noChangeArrowheads="1"/>
          </p:cNvSpPr>
          <p:nvPr/>
        </p:nvSpPr>
        <p:spPr bwMode="auto">
          <a:xfrm flipH="1" flipV="1">
            <a:off x="4959350" y="46497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26" name="Oval 106"/>
          <p:cNvSpPr>
            <a:spLocks noChangeArrowheads="1"/>
          </p:cNvSpPr>
          <p:nvPr/>
        </p:nvSpPr>
        <p:spPr bwMode="auto">
          <a:xfrm flipH="1" flipV="1">
            <a:off x="5614988" y="465296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32" name="Oval 112"/>
          <p:cNvSpPr>
            <a:spLocks noChangeArrowheads="1"/>
          </p:cNvSpPr>
          <p:nvPr/>
        </p:nvSpPr>
        <p:spPr bwMode="auto">
          <a:xfrm flipH="1" flipV="1">
            <a:off x="3344863" y="49561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38" name="Oval 118"/>
          <p:cNvSpPr>
            <a:spLocks noChangeArrowheads="1"/>
          </p:cNvSpPr>
          <p:nvPr/>
        </p:nvSpPr>
        <p:spPr bwMode="auto">
          <a:xfrm flipH="1" flipV="1">
            <a:off x="3857625" y="482441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44" name="Oval 124"/>
          <p:cNvSpPr>
            <a:spLocks noChangeArrowheads="1"/>
          </p:cNvSpPr>
          <p:nvPr/>
        </p:nvSpPr>
        <p:spPr bwMode="auto">
          <a:xfrm flipH="1" flipV="1">
            <a:off x="4265613" y="475456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50" name="Oval 130"/>
          <p:cNvSpPr>
            <a:spLocks noChangeArrowheads="1"/>
          </p:cNvSpPr>
          <p:nvPr/>
        </p:nvSpPr>
        <p:spPr bwMode="auto">
          <a:xfrm flipH="1" flipV="1">
            <a:off x="4600575" y="46482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4856" name="Oval 136"/>
          <p:cNvSpPr>
            <a:spLocks noChangeArrowheads="1"/>
          </p:cNvSpPr>
          <p:nvPr/>
        </p:nvSpPr>
        <p:spPr bwMode="auto">
          <a:xfrm flipH="1" flipV="1">
            <a:off x="5303838" y="464661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4892" name="Group 172"/>
          <p:cNvGrpSpPr>
            <a:grpSpLocks/>
          </p:cNvGrpSpPr>
          <p:nvPr/>
        </p:nvGrpSpPr>
        <p:grpSpPr bwMode="auto">
          <a:xfrm>
            <a:off x="6696075" y="5259388"/>
            <a:ext cx="2146300" cy="1146175"/>
            <a:chOff x="4218" y="3313"/>
            <a:chExt cx="1352" cy="722"/>
          </a:xfrm>
        </p:grpSpPr>
        <p:sp>
          <p:nvSpPr>
            <p:cNvPr id="30792" name="Rectangle 169"/>
            <p:cNvSpPr>
              <a:spLocks noChangeArrowheads="1"/>
            </p:cNvSpPr>
            <p:nvPr/>
          </p:nvSpPr>
          <p:spPr bwMode="auto">
            <a:xfrm>
              <a:off x="4248" y="3313"/>
              <a:ext cx="1211" cy="72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0793" name="Text Box 170"/>
            <p:cNvSpPr txBox="1">
              <a:spLocks noChangeArrowheads="1"/>
            </p:cNvSpPr>
            <p:nvPr/>
          </p:nvSpPr>
          <p:spPr bwMode="auto">
            <a:xfrm>
              <a:off x="4218" y="3333"/>
              <a:ext cx="1352" cy="68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Fonctionnement en </a:t>
              </a:r>
              <a:r>
                <a:rPr lang="fr-FR" altLang="fr-FR" sz="2000">
                  <a:solidFill>
                    <a:srgbClr val="FF0000"/>
                  </a:solidFill>
                </a:rPr>
                <a:t>zone ohmique</a:t>
              </a:r>
            </a:p>
            <a:p>
              <a:r>
                <a:rPr lang="fr-FR" altLang="fr-FR"/>
                <a:t>Id = f(Vds)</a:t>
              </a:r>
              <a:endParaRPr lang="fr-FR" altLang="fr-FR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30786" name="Group 173"/>
          <p:cNvGrpSpPr>
            <a:grpSpLocks/>
          </p:cNvGrpSpPr>
          <p:nvPr/>
        </p:nvGrpSpPr>
        <p:grpSpPr bwMode="auto">
          <a:xfrm>
            <a:off x="6743700" y="2790825"/>
            <a:ext cx="1922463" cy="628650"/>
            <a:chOff x="4248" y="1758"/>
            <a:chExt cx="1211" cy="396"/>
          </a:xfrm>
        </p:grpSpPr>
        <p:sp>
          <p:nvSpPr>
            <p:cNvPr id="30790" name="Rectangle 174"/>
            <p:cNvSpPr>
              <a:spLocks noChangeArrowheads="1"/>
            </p:cNvSpPr>
            <p:nvPr/>
          </p:nvSpPr>
          <p:spPr bwMode="auto">
            <a:xfrm>
              <a:off x="4248" y="1758"/>
              <a:ext cx="1211" cy="396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0791" name="Text Box 175"/>
            <p:cNvSpPr txBox="1">
              <a:spLocks noChangeArrowheads="1"/>
            </p:cNvSpPr>
            <p:nvPr/>
          </p:nvSpPr>
          <p:spPr bwMode="auto">
            <a:xfrm>
              <a:off x="4248" y="1831"/>
              <a:ext cx="1093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Rajout de </a:t>
              </a:r>
              <a:r>
                <a:rPr lang="fr-FR" altLang="fr-FR" sz="2000">
                  <a:solidFill>
                    <a:srgbClr val="FF0000"/>
                  </a:solidFill>
                </a:rPr>
                <a:t>Vdg</a:t>
              </a:r>
            </a:p>
          </p:txBody>
        </p:sp>
      </p:grpSp>
      <p:grpSp>
        <p:nvGrpSpPr>
          <p:cNvPr id="30787" name="Group 176"/>
          <p:cNvGrpSpPr>
            <a:grpSpLocks/>
          </p:cNvGrpSpPr>
          <p:nvPr/>
        </p:nvGrpSpPr>
        <p:grpSpPr bwMode="auto">
          <a:xfrm>
            <a:off x="6743700" y="3740150"/>
            <a:ext cx="1922463" cy="1066800"/>
            <a:chOff x="4248" y="2476"/>
            <a:chExt cx="1211" cy="672"/>
          </a:xfrm>
        </p:grpSpPr>
        <p:sp>
          <p:nvSpPr>
            <p:cNvPr id="30788" name="Rectangle 177"/>
            <p:cNvSpPr>
              <a:spLocks noChangeArrowheads="1"/>
            </p:cNvSpPr>
            <p:nvPr/>
          </p:nvSpPr>
          <p:spPr bwMode="auto">
            <a:xfrm>
              <a:off x="4248" y="2476"/>
              <a:ext cx="1211" cy="672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0789" name="Text Box 178"/>
            <p:cNvSpPr txBox="1">
              <a:spLocks noChangeArrowheads="1"/>
            </p:cNvSpPr>
            <p:nvPr/>
          </p:nvSpPr>
          <p:spPr bwMode="auto">
            <a:xfrm>
              <a:off x="4248" y="2514"/>
              <a:ext cx="1164" cy="63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>
                  <a:solidFill>
                    <a:srgbClr val="FF0000"/>
                  </a:solidFill>
                </a:rPr>
                <a:t>Elargissement </a:t>
              </a:r>
              <a:r>
                <a:rPr lang="fr-FR" altLang="fr-FR"/>
                <a:t>de la </a:t>
              </a:r>
              <a:r>
                <a:rPr lang="fr-FR" altLang="fr-FR" sz="2000">
                  <a:solidFill>
                    <a:srgbClr val="FF0000"/>
                  </a:solidFill>
                </a:rPr>
                <a:t>ZCE</a:t>
              </a:r>
              <a:r>
                <a:rPr lang="fr-FR" altLang="fr-FR"/>
                <a:t> du côté du </a:t>
              </a:r>
              <a:r>
                <a:rPr lang="fr-FR" altLang="fr-FR" sz="2000">
                  <a:solidFill>
                    <a:srgbClr val="FF0000"/>
                  </a:solidFill>
                </a:rPr>
                <a:t>drain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44444E-6 L 0.06562 -4.44444E-6 L 0.06336 0.2132 L -0.44219 0.21482 L -0.44115 -0.0044 L -1.11111E-6 -4.44444E-6 Z " pathEditMode="relative" ptsTypes="AAAAAA">
                                      <p:cBhvr>
                                        <p:cTn id="6" dur="3000" fill="hold"/>
                                        <p:tgtEl>
                                          <p:spTgt spid="4148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41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5.55556E-6 -3.7037E-7 L 0.09669 -0.00162 L 0.09669 0.2132 L -0.40886 0.21482 L -0.40782 -0.00301 L -5.55556E-6 -3.7037E-7 Z " pathEditMode="relative" ptsTypes="AAAAAA">
                                      <p:cBhvr>
                                        <p:cTn id="11" dur="3000" fill="hold"/>
                                        <p:tgtEl>
                                          <p:spTgt spid="4148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035 -0.00046 L 0.13473 -0.00046 L 0.13473 0.21436 L -0.37083 0.21598 L -0.36961 -0.00324 L 0.00035 -0.00046 Z " pathEditMode="relative" ptsTypes="AAAAAA">
                                      <p:cBhvr>
                                        <p:cTn id="13" dur="3000" fill="hold"/>
                                        <p:tgtEl>
                                          <p:spTgt spid="4148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0052 -0.00023 L 0.17517 -0.00023 L 0.17517 0.21181 L -0.33386 0.21759 L -0.33038 -0.00023 L -0.00052 -0.00023 Z " pathEditMode="relative" ptsTypes="AAAAAA">
                                      <p:cBhvr>
                                        <p:cTn id="18" dur="3000" fill="hold"/>
                                        <p:tgtEl>
                                          <p:spTgt spid="4148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7.5E-6 5.55556E-6 L 0.15225 0.01644 L 0.21215 0.01644 L 0.2111 0.22964 L -0.29445 0.22825 L -0.29219 0.01482 L -0.1356 0.01482 L -7.5E-6 5.55556E-6 Z " pathEditMode="relative" ptsTypes="AAAAAAAA">
                                      <p:cBhvr>
                                        <p:cTn id="20" dur="3000" fill="hold"/>
                                        <p:tgtEl>
                                          <p:spTgt spid="4148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88889E-6 0.00208 L 0.15329 -0.01435 L 0.21111 -0.01273 L 0.21007 0.19908 L -0.29445 0.19769 L -0.29323 -0.01435 L -0.12657 -0.01435 L 3.88889E-6 0.00208 Z " pathEditMode="relative" rAng="0" ptsTypes="AAAAAAAA">
                                      <p:cBhvr>
                                        <p:cTn id="22" dur="3000" fill="hold"/>
                                        <p:tgtEl>
                                          <p:spTgt spid="4148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" y="9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3.88889E-6 4.07407E-6 L 0.1934 0.0206 L 0.25556 0.02222 L 0.25556 0.23842 L -0.25104 0.23403 L -0.24878 0.01782 L -0.08437 0.0206 L -3.88889E-6 4.07407E-6 Z " pathEditMode="relative" ptsTypes="AAAAAAAA">
                                      <p:cBhvr>
                                        <p:cTn id="24" dur="3000" fill="hold"/>
                                        <p:tgtEl>
                                          <p:spTgt spid="4148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1.11111E-6 -5.92593E-6 L 0.19549 -0.02524 L 0.25781 -0.02524 L 0.25555 0.18796 L -0.24896 0.18958 L -0.24896 -0.02964 L -0.08333 -0.02825 L -1.11111E-6 -5.92593E-6 Z " pathEditMode="relative" ptsTypes="AAAAAAAA">
                                      <p:cBhvr>
                                        <p:cTn id="26" dur="3000" fill="hold"/>
                                        <p:tgtEl>
                                          <p:spTgt spid="414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6.38889E-6 1.11111E-6 L 0.24219 0.04143 L 0.31233 0.04143 L 0.31112 0.25763 L -0.19548 0.25324 L -0.19444 0.03703 L -0.03558 0.03981 L 6.38889E-6 1.11111E-6 Z " pathEditMode="relative" ptsTypes="AAAAAAAA">
                                      <p:cBhvr>
                                        <p:cTn id="28" dur="3000" fill="hold"/>
                                        <p:tgtEl>
                                          <p:spTgt spid="4148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0.00087 0.00093 L 0.23802 -0.04514 L 0.31354 -0.04213 L 0.31129 0.16968 L -0.19531 0.16968 L -0.19305 -0.04792 L -0.03316 -0.04514 L -0.00087 0.00093 Z " pathEditMode="relative" ptsTypes="AAAAAAAA">
                                      <p:cBhvr>
                                        <p:cTn id="30" dur="3000" fill="hold"/>
                                        <p:tgtEl>
                                          <p:spTgt spid="4148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800" grpId="0" animBg="1"/>
      <p:bldP spid="414808" grpId="0" animBg="1"/>
      <p:bldP spid="414814" grpId="0" animBg="1"/>
      <p:bldP spid="414820" grpId="0" animBg="1"/>
      <p:bldP spid="414826" grpId="0" animBg="1"/>
      <p:bldP spid="414832" grpId="0" animBg="1"/>
      <p:bldP spid="414838" grpId="0" animBg="1"/>
      <p:bldP spid="414844" grpId="0" animBg="1"/>
      <p:bldP spid="414850" grpId="0" animBg="1"/>
      <p:bldP spid="41485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5897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n°1 : Vgs = 0 et Vds &gt; 0</a:t>
            </a:r>
            <a:endParaRPr lang="fr-FR" altLang="fr-FR"/>
          </a:p>
        </p:txBody>
      </p:sp>
      <p:sp>
        <p:nvSpPr>
          <p:cNvPr id="31747" name="Rectangle 125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1748" name="Text Box 13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Fonctionnement en </a:t>
            </a:r>
            <a:r>
              <a:rPr lang="fr-FR" altLang="fr-FR" sz="2400">
                <a:solidFill>
                  <a:srgbClr val="FF0000"/>
                </a:solidFill>
              </a:rPr>
              <a:t>zone ohmique</a:t>
            </a:r>
            <a:r>
              <a:rPr lang="fr-FR" altLang="fr-FR" sz="2000"/>
              <a:t> </a:t>
            </a:r>
            <a:endParaRPr lang="fr-FR" altLang="fr-FR" sz="2400">
              <a:solidFill>
                <a:srgbClr val="FF0000"/>
              </a:solidFill>
            </a:endParaRPr>
          </a:p>
        </p:txBody>
      </p:sp>
      <p:sp>
        <p:nvSpPr>
          <p:cNvPr id="416925" name="Line 157"/>
          <p:cNvSpPr>
            <a:spLocks noChangeShapeType="1"/>
          </p:cNvSpPr>
          <p:nvPr/>
        </p:nvSpPr>
        <p:spPr bwMode="auto">
          <a:xfrm flipV="1">
            <a:off x="1249363" y="3908425"/>
            <a:ext cx="814387" cy="15557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0" name="Line 155"/>
          <p:cNvSpPr>
            <a:spLocks noChangeShapeType="1"/>
          </p:cNvSpPr>
          <p:nvPr/>
        </p:nvSpPr>
        <p:spPr bwMode="auto">
          <a:xfrm flipH="1" flipV="1">
            <a:off x="1228725" y="3167063"/>
            <a:ext cx="4763" cy="230822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1" name="Line 156"/>
          <p:cNvSpPr>
            <a:spLocks noChangeShapeType="1"/>
          </p:cNvSpPr>
          <p:nvPr/>
        </p:nvSpPr>
        <p:spPr bwMode="auto">
          <a:xfrm flipV="1">
            <a:off x="1230313" y="5470525"/>
            <a:ext cx="2203450" cy="158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2" name="Text Box 158"/>
          <p:cNvSpPr txBox="1">
            <a:spLocks noChangeArrowheads="1"/>
          </p:cNvSpPr>
          <p:nvPr/>
        </p:nvSpPr>
        <p:spPr bwMode="auto">
          <a:xfrm>
            <a:off x="2770188" y="5557838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Vds (V)</a:t>
            </a:r>
          </a:p>
        </p:txBody>
      </p:sp>
      <p:sp>
        <p:nvSpPr>
          <p:cNvPr id="31753" name="Text Box 159"/>
          <p:cNvSpPr txBox="1">
            <a:spLocks noChangeArrowheads="1"/>
          </p:cNvSpPr>
          <p:nvPr/>
        </p:nvSpPr>
        <p:spPr bwMode="auto">
          <a:xfrm>
            <a:off x="1212850" y="29845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Id (mA)</a:t>
            </a:r>
          </a:p>
        </p:txBody>
      </p:sp>
      <p:sp>
        <p:nvSpPr>
          <p:cNvPr id="31754" name="Line 173"/>
          <p:cNvSpPr>
            <a:spLocks noChangeShapeType="1"/>
          </p:cNvSpPr>
          <p:nvPr/>
        </p:nvSpPr>
        <p:spPr bwMode="auto">
          <a:xfrm>
            <a:off x="1235075" y="3378200"/>
            <a:ext cx="2071688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5" name="Line 174"/>
          <p:cNvSpPr>
            <a:spLocks noChangeShapeType="1"/>
          </p:cNvSpPr>
          <p:nvPr/>
        </p:nvSpPr>
        <p:spPr bwMode="auto">
          <a:xfrm flipV="1">
            <a:off x="1220788" y="3900488"/>
            <a:ext cx="2127250" cy="158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6" name="Line 175"/>
          <p:cNvSpPr>
            <a:spLocks noChangeShapeType="1"/>
          </p:cNvSpPr>
          <p:nvPr/>
        </p:nvSpPr>
        <p:spPr bwMode="auto">
          <a:xfrm>
            <a:off x="1235075" y="4425950"/>
            <a:ext cx="2116138" cy="1270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7" name="Line 176"/>
          <p:cNvSpPr>
            <a:spLocks noChangeShapeType="1"/>
          </p:cNvSpPr>
          <p:nvPr/>
        </p:nvSpPr>
        <p:spPr bwMode="auto">
          <a:xfrm>
            <a:off x="1223963" y="4943475"/>
            <a:ext cx="2165350" cy="476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8" name="Line 181"/>
          <p:cNvSpPr>
            <a:spLocks noChangeShapeType="1"/>
          </p:cNvSpPr>
          <p:nvPr/>
        </p:nvSpPr>
        <p:spPr bwMode="auto">
          <a:xfrm flipH="1" flipV="1">
            <a:off x="1847850" y="3167063"/>
            <a:ext cx="15875" cy="2289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59" name="Line 182"/>
          <p:cNvSpPr>
            <a:spLocks noChangeShapeType="1"/>
          </p:cNvSpPr>
          <p:nvPr/>
        </p:nvSpPr>
        <p:spPr bwMode="auto">
          <a:xfrm flipH="1" flipV="1">
            <a:off x="2468563" y="3167063"/>
            <a:ext cx="4762" cy="23034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60" name="Line 183"/>
          <p:cNvSpPr>
            <a:spLocks noChangeShapeType="1"/>
          </p:cNvSpPr>
          <p:nvPr/>
        </p:nvSpPr>
        <p:spPr bwMode="auto">
          <a:xfrm flipH="1" flipV="1">
            <a:off x="3087688" y="3167063"/>
            <a:ext cx="6350" cy="23145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1761" name="Text Box 185"/>
          <p:cNvSpPr txBox="1">
            <a:spLocks noChangeArrowheads="1"/>
          </p:cNvSpPr>
          <p:nvPr/>
        </p:nvSpPr>
        <p:spPr bwMode="auto">
          <a:xfrm>
            <a:off x="2085975" y="3430588"/>
            <a:ext cx="957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Vgs = 0</a:t>
            </a:r>
          </a:p>
        </p:txBody>
      </p:sp>
      <p:grpSp>
        <p:nvGrpSpPr>
          <p:cNvPr id="416971" name="Group 203"/>
          <p:cNvGrpSpPr>
            <a:grpSpLocks/>
          </p:cNvGrpSpPr>
          <p:nvPr/>
        </p:nvGrpSpPr>
        <p:grpSpPr bwMode="auto">
          <a:xfrm>
            <a:off x="4316413" y="3084513"/>
            <a:ext cx="4381500" cy="1695450"/>
            <a:chOff x="2719" y="1733"/>
            <a:chExt cx="2760" cy="1068"/>
          </a:xfrm>
        </p:grpSpPr>
        <p:sp>
          <p:nvSpPr>
            <p:cNvPr id="31769" name="Rectangle 196"/>
            <p:cNvSpPr>
              <a:spLocks noChangeArrowheads="1"/>
            </p:cNvSpPr>
            <p:nvPr/>
          </p:nvSpPr>
          <p:spPr bwMode="auto">
            <a:xfrm>
              <a:off x="2719" y="1733"/>
              <a:ext cx="2760" cy="1068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1770" name="Text Box 197"/>
            <p:cNvSpPr txBox="1">
              <a:spLocks noChangeArrowheads="1"/>
            </p:cNvSpPr>
            <p:nvPr/>
          </p:nvSpPr>
          <p:spPr bwMode="auto">
            <a:xfrm>
              <a:off x="2788" y="1790"/>
              <a:ext cx="2651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La </a:t>
              </a:r>
              <a:r>
                <a:rPr lang="fr-FR" altLang="fr-FR" sz="2400">
                  <a:solidFill>
                    <a:srgbClr val="FF0000"/>
                  </a:solidFill>
                </a:rPr>
                <a:t>pente</a:t>
              </a:r>
              <a:r>
                <a:rPr lang="fr-FR" altLang="fr-FR" sz="2000"/>
                <a:t> de la courbe dépend :</a:t>
              </a:r>
            </a:p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fr-FR" altLang="fr-FR" sz="2000"/>
                <a:t>du </a:t>
              </a:r>
              <a:r>
                <a:rPr lang="fr-FR" altLang="fr-FR" sz="2400">
                  <a:solidFill>
                    <a:srgbClr val="FF0000"/>
                  </a:solidFill>
                </a:rPr>
                <a:t>dopage</a:t>
              </a:r>
              <a:r>
                <a:rPr lang="fr-FR" altLang="fr-FR" sz="2000"/>
                <a:t> du canal,</a:t>
              </a:r>
            </a:p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fr-FR" altLang="fr-FR" sz="2000"/>
                <a:t>de la</a:t>
              </a:r>
              <a:r>
                <a:rPr lang="fr-FR" altLang="fr-FR" sz="2400"/>
                <a:t> </a:t>
              </a:r>
              <a:r>
                <a:rPr lang="fr-FR" altLang="fr-FR" sz="2400">
                  <a:solidFill>
                    <a:srgbClr val="FF0000"/>
                  </a:solidFill>
                </a:rPr>
                <a:t>longueur</a:t>
              </a:r>
              <a:r>
                <a:rPr lang="fr-FR" altLang="fr-FR" sz="2400"/>
                <a:t> </a:t>
              </a:r>
              <a:r>
                <a:rPr lang="fr-FR" altLang="fr-FR" sz="2000"/>
                <a:t>du canal,</a:t>
              </a:r>
            </a:p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fr-FR" altLang="fr-FR" sz="2000"/>
                <a:t>de la </a:t>
              </a:r>
              <a:r>
                <a:rPr lang="fr-FR" altLang="fr-FR" sz="2400">
                  <a:solidFill>
                    <a:srgbClr val="FF0000"/>
                  </a:solidFill>
                </a:rPr>
                <a:t>section</a:t>
              </a:r>
              <a:r>
                <a:rPr lang="fr-FR" altLang="fr-FR" sz="2000"/>
                <a:t> du canal.</a:t>
              </a:r>
            </a:p>
          </p:txBody>
        </p:sp>
      </p:grpSp>
      <p:grpSp>
        <p:nvGrpSpPr>
          <p:cNvPr id="416976" name="Group 208"/>
          <p:cNvGrpSpPr>
            <a:grpSpLocks/>
          </p:cNvGrpSpPr>
          <p:nvPr/>
        </p:nvGrpSpPr>
        <p:grpSpPr bwMode="auto">
          <a:xfrm>
            <a:off x="4308475" y="5519738"/>
            <a:ext cx="4389438" cy="882650"/>
            <a:chOff x="2714" y="3477"/>
            <a:chExt cx="2765" cy="556"/>
          </a:xfrm>
        </p:grpSpPr>
        <p:sp>
          <p:nvSpPr>
            <p:cNvPr id="31764" name="Rectangle 200"/>
            <p:cNvSpPr>
              <a:spLocks noChangeArrowheads="1"/>
            </p:cNvSpPr>
            <p:nvPr/>
          </p:nvSpPr>
          <p:spPr bwMode="auto">
            <a:xfrm>
              <a:off x="2739" y="3500"/>
              <a:ext cx="2740" cy="511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1765" name="Text Box 201"/>
            <p:cNvSpPr txBox="1">
              <a:spLocks noChangeArrowheads="1"/>
            </p:cNvSpPr>
            <p:nvPr/>
          </p:nvSpPr>
          <p:spPr bwMode="auto">
            <a:xfrm>
              <a:off x="3582" y="3515"/>
              <a:ext cx="185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Que se passe t’il si on </a:t>
              </a:r>
              <a:r>
                <a:rPr lang="fr-FR" altLang="fr-FR" sz="2400">
                  <a:solidFill>
                    <a:srgbClr val="FF0000"/>
                  </a:solidFill>
                </a:rPr>
                <a:t>augmente</a:t>
              </a:r>
              <a:r>
                <a:rPr lang="fr-FR" altLang="fr-FR" sz="2000"/>
                <a:t> </a:t>
              </a:r>
              <a:r>
                <a:rPr lang="fr-FR" altLang="fr-FR" sz="2400">
                  <a:solidFill>
                    <a:srgbClr val="FF0000"/>
                  </a:solidFill>
                </a:rPr>
                <a:t>Vds</a:t>
              </a:r>
              <a:r>
                <a:rPr lang="fr-FR" altLang="fr-FR" sz="2000"/>
                <a:t> ?</a:t>
              </a:r>
              <a:endParaRPr lang="fr-FR" altLang="fr-FR" sz="2400">
                <a:solidFill>
                  <a:srgbClr val="FF0000"/>
                </a:solidFill>
              </a:endParaRPr>
            </a:p>
          </p:txBody>
        </p:sp>
        <p:grpSp>
          <p:nvGrpSpPr>
            <p:cNvPr id="31766" name="Group 205"/>
            <p:cNvGrpSpPr>
              <a:grpSpLocks/>
            </p:cNvGrpSpPr>
            <p:nvPr/>
          </p:nvGrpSpPr>
          <p:grpSpPr bwMode="auto">
            <a:xfrm>
              <a:off x="2714" y="3477"/>
              <a:ext cx="856" cy="556"/>
              <a:chOff x="718" y="1053"/>
              <a:chExt cx="856" cy="556"/>
            </a:xfrm>
          </p:grpSpPr>
          <p:sp>
            <p:nvSpPr>
              <p:cNvPr id="31767" name="AutoShape 206"/>
              <p:cNvSpPr>
                <a:spLocks noChangeArrowheads="1"/>
              </p:cNvSpPr>
              <p:nvPr/>
            </p:nvSpPr>
            <p:spPr bwMode="auto">
              <a:xfrm rot="-1385031">
                <a:off x="718" y="1053"/>
                <a:ext cx="856" cy="556"/>
              </a:xfrm>
              <a:prstGeom prst="irregularSeal1">
                <a:avLst/>
              </a:prstGeom>
              <a:solidFill>
                <a:srgbClr val="3366FF">
                  <a:alpha val="70195"/>
                </a:srgb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31768" name="Text Box 207"/>
              <p:cNvSpPr txBox="1">
                <a:spLocks noChangeArrowheads="1"/>
              </p:cNvSpPr>
              <p:nvPr/>
            </p:nvSpPr>
            <p:spPr bwMode="auto">
              <a:xfrm rot="-1385031">
                <a:off x="889" y="1235"/>
                <a:ext cx="514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fr-FR" altLang="fr-FR" sz="1400" b="1">
                    <a:solidFill>
                      <a:srgbClr val="FFFF66"/>
                    </a:solidFill>
                  </a:rPr>
                  <a:t>QUIZZ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6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9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2773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79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1697038" y="3589338"/>
            <a:ext cx="957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= 0</a:t>
            </a:r>
          </a:p>
        </p:txBody>
      </p:sp>
      <p:sp>
        <p:nvSpPr>
          <p:cNvPr id="32781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1884363" y="5211763"/>
            <a:ext cx="11033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= Vp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32787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32911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912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788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62912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n°2 : Vgs = 0 et Vds = Vp</a:t>
            </a:r>
            <a:endParaRPr lang="fr-FR" altLang="fr-FR"/>
          </a:p>
        </p:txBody>
      </p:sp>
      <p:grpSp>
        <p:nvGrpSpPr>
          <p:cNvPr id="32789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32909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2910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790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5771" name="Group 27"/>
          <p:cNvGrpSpPr>
            <a:grpSpLocks/>
          </p:cNvGrpSpPr>
          <p:nvPr/>
        </p:nvGrpSpPr>
        <p:grpSpPr bwMode="auto">
          <a:xfrm>
            <a:off x="5732463" y="5227638"/>
            <a:ext cx="647700" cy="892175"/>
            <a:chOff x="3611" y="3293"/>
            <a:chExt cx="408" cy="562"/>
          </a:xfrm>
        </p:grpSpPr>
        <p:sp>
          <p:nvSpPr>
            <p:cNvPr id="32907" name="AutoShape 28"/>
            <p:cNvSpPr>
              <a:spLocks noChangeArrowheads="1"/>
            </p:cNvSpPr>
            <p:nvPr/>
          </p:nvSpPr>
          <p:spPr bwMode="auto">
            <a:xfrm rot="10800000">
              <a:off x="3823" y="3293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32908" name="Text Box 29"/>
            <p:cNvSpPr txBox="1">
              <a:spLocks noChangeArrowheads="1"/>
            </p:cNvSpPr>
            <p:nvPr/>
          </p:nvSpPr>
          <p:spPr bwMode="auto">
            <a:xfrm>
              <a:off x="3611" y="3605"/>
              <a:ext cx="408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/>
                <a:t>Id</a:t>
              </a:r>
            </a:p>
          </p:txBody>
        </p:sp>
      </p:grpSp>
      <p:sp>
        <p:nvSpPr>
          <p:cNvPr id="32792" name="Rectangle 30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2793" name="Line 31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794" name="Text Box 32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2795" name="Text Box 33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32796" name="Text Box 34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2797" name="Line 35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2798" name="Group 36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32887" name="Group 37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2903" name="Group 38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905" name="Picture 39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906" name="Line 40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904" name="Oval 41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2888" name="Group 42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2899" name="Group 43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901" name="Picture 44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902" name="Line 45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900" name="Oval 46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2889" name="Group 47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2895" name="Group 48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897" name="Picture 49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898" name="Line 50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896" name="Oval 51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2890" name="Group 52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2891" name="Group 53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893" name="Picture 54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894" name="Line 55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892" name="Oval 56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2799" name="Group 57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32867" name="Group 58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2883" name="Group 59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885" name="Picture 60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886" name="Line 61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884" name="Oval 62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2868" name="Group 63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2879" name="Group 64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881" name="Picture 65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882" name="Line 66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880" name="Oval 67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2869" name="Group 68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2875" name="Group 69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877" name="Picture 70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878" name="Line 71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876" name="Oval 72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2870" name="Group 73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2871" name="Group 74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2873" name="Picture 75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2874" name="Line 76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872" name="Oval 77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2800" name="Group 78"/>
          <p:cNvGrpSpPr>
            <a:grpSpLocks/>
          </p:cNvGrpSpPr>
          <p:nvPr/>
        </p:nvGrpSpPr>
        <p:grpSpPr bwMode="auto">
          <a:xfrm>
            <a:off x="3094038" y="4287838"/>
            <a:ext cx="227012" cy="228600"/>
            <a:chOff x="2427" y="3155"/>
            <a:chExt cx="96" cy="108"/>
          </a:xfrm>
        </p:grpSpPr>
        <p:pic>
          <p:nvPicPr>
            <p:cNvPr id="32864" name="Picture 7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65" name="Line 8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66" name="Line 8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801" name="Freeform 82"/>
          <p:cNvSpPr>
            <a:spLocks/>
          </p:cNvSpPr>
          <p:nvPr/>
        </p:nvSpPr>
        <p:spPr bwMode="auto">
          <a:xfrm>
            <a:off x="3222625" y="4232275"/>
            <a:ext cx="2347913" cy="301625"/>
          </a:xfrm>
          <a:custGeom>
            <a:avLst/>
            <a:gdLst>
              <a:gd name="T0" fmla="*/ 0 w 1479"/>
              <a:gd name="T1" fmla="*/ 4763 h 190"/>
              <a:gd name="T2" fmla="*/ 1936750 w 1479"/>
              <a:gd name="T3" fmla="*/ 301625 h 190"/>
              <a:gd name="T4" fmla="*/ 2347913 w 1479"/>
              <a:gd name="T5" fmla="*/ 0 h 190"/>
              <a:gd name="T6" fmla="*/ 0 w 1479"/>
              <a:gd name="T7" fmla="*/ 4763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190">
                <a:moveTo>
                  <a:pt x="0" y="3"/>
                </a:moveTo>
                <a:cubicBezTo>
                  <a:pt x="487" y="96"/>
                  <a:pt x="974" y="190"/>
                  <a:pt x="1220" y="190"/>
                </a:cubicBezTo>
                <a:cubicBezTo>
                  <a:pt x="1466" y="190"/>
                  <a:pt x="1472" y="95"/>
                  <a:pt x="1479" y="0"/>
                </a:cubicBezTo>
                <a:cubicBezTo>
                  <a:pt x="1479" y="0"/>
                  <a:pt x="0" y="3"/>
                  <a:pt x="0" y="3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2802" name="Freeform 83"/>
          <p:cNvSpPr>
            <a:spLocks/>
          </p:cNvSpPr>
          <p:nvPr/>
        </p:nvSpPr>
        <p:spPr bwMode="auto">
          <a:xfrm flipV="1">
            <a:off x="3219450" y="4840288"/>
            <a:ext cx="2347913" cy="301625"/>
          </a:xfrm>
          <a:custGeom>
            <a:avLst/>
            <a:gdLst>
              <a:gd name="T0" fmla="*/ 0 w 1479"/>
              <a:gd name="T1" fmla="*/ 4763 h 190"/>
              <a:gd name="T2" fmla="*/ 1936750 w 1479"/>
              <a:gd name="T3" fmla="*/ 301625 h 190"/>
              <a:gd name="T4" fmla="*/ 2347913 w 1479"/>
              <a:gd name="T5" fmla="*/ 0 h 190"/>
              <a:gd name="T6" fmla="*/ 0 w 1479"/>
              <a:gd name="T7" fmla="*/ 4763 h 1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79" h="190">
                <a:moveTo>
                  <a:pt x="0" y="3"/>
                </a:moveTo>
                <a:cubicBezTo>
                  <a:pt x="487" y="96"/>
                  <a:pt x="974" y="190"/>
                  <a:pt x="1220" y="190"/>
                </a:cubicBezTo>
                <a:cubicBezTo>
                  <a:pt x="1466" y="190"/>
                  <a:pt x="1472" y="95"/>
                  <a:pt x="1479" y="0"/>
                </a:cubicBezTo>
                <a:cubicBezTo>
                  <a:pt x="1479" y="0"/>
                  <a:pt x="0" y="3"/>
                  <a:pt x="0" y="3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grpSp>
        <p:nvGrpSpPr>
          <p:cNvPr id="32803" name="Group 84"/>
          <p:cNvGrpSpPr>
            <a:grpSpLocks/>
          </p:cNvGrpSpPr>
          <p:nvPr/>
        </p:nvGrpSpPr>
        <p:grpSpPr bwMode="auto">
          <a:xfrm>
            <a:off x="3619500" y="4422775"/>
            <a:ext cx="227013" cy="228600"/>
            <a:chOff x="2427" y="3155"/>
            <a:chExt cx="96" cy="108"/>
          </a:xfrm>
        </p:grpSpPr>
        <p:pic>
          <p:nvPicPr>
            <p:cNvPr id="32861" name="Picture 8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62" name="Line 86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63" name="Line 87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2804" name="Group 88"/>
          <p:cNvGrpSpPr>
            <a:grpSpLocks/>
          </p:cNvGrpSpPr>
          <p:nvPr/>
        </p:nvGrpSpPr>
        <p:grpSpPr bwMode="auto">
          <a:xfrm>
            <a:off x="4014788" y="4464050"/>
            <a:ext cx="227012" cy="228600"/>
            <a:chOff x="2427" y="3155"/>
            <a:chExt cx="96" cy="108"/>
          </a:xfrm>
        </p:grpSpPr>
        <p:pic>
          <p:nvPicPr>
            <p:cNvPr id="32858" name="Picture 8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59" name="Line 9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60" name="Line 9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5836" name="Group 92"/>
          <p:cNvGrpSpPr>
            <a:grpSpLocks/>
          </p:cNvGrpSpPr>
          <p:nvPr/>
        </p:nvGrpSpPr>
        <p:grpSpPr bwMode="auto">
          <a:xfrm>
            <a:off x="4708525" y="4573588"/>
            <a:ext cx="227013" cy="228600"/>
            <a:chOff x="2427" y="3155"/>
            <a:chExt cx="96" cy="108"/>
          </a:xfrm>
        </p:grpSpPr>
        <p:pic>
          <p:nvPicPr>
            <p:cNvPr id="32855" name="Picture 9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56" name="Line 94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57" name="Line 95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5840" name="Group 96"/>
          <p:cNvGrpSpPr>
            <a:grpSpLocks/>
          </p:cNvGrpSpPr>
          <p:nvPr/>
        </p:nvGrpSpPr>
        <p:grpSpPr bwMode="auto">
          <a:xfrm>
            <a:off x="5364163" y="4576763"/>
            <a:ext cx="227012" cy="228600"/>
            <a:chOff x="2427" y="3155"/>
            <a:chExt cx="96" cy="108"/>
          </a:xfrm>
        </p:grpSpPr>
        <p:pic>
          <p:nvPicPr>
            <p:cNvPr id="32852" name="Picture 9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53" name="Line 98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54" name="Line 99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2807" name="Group 100"/>
          <p:cNvGrpSpPr>
            <a:grpSpLocks/>
          </p:cNvGrpSpPr>
          <p:nvPr/>
        </p:nvGrpSpPr>
        <p:grpSpPr bwMode="auto">
          <a:xfrm>
            <a:off x="3094038" y="4879975"/>
            <a:ext cx="227012" cy="228600"/>
            <a:chOff x="2427" y="3155"/>
            <a:chExt cx="96" cy="108"/>
          </a:xfrm>
        </p:grpSpPr>
        <p:pic>
          <p:nvPicPr>
            <p:cNvPr id="32849" name="Picture 10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50" name="Line 102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51" name="Line 103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2808" name="Group 104"/>
          <p:cNvGrpSpPr>
            <a:grpSpLocks/>
          </p:cNvGrpSpPr>
          <p:nvPr/>
        </p:nvGrpSpPr>
        <p:grpSpPr bwMode="auto">
          <a:xfrm>
            <a:off x="3606800" y="4748213"/>
            <a:ext cx="227013" cy="228600"/>
            <a:chOff x="2427" y="3155"/>
            <a:chExt cx="96" cy="108"/>
          </a:xfrm>
        </p:grpSpPr>
        <p:pic>
          <p:nvPicPr>
            <p:cNvPr id="32846" name="Picture 10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47" name="Line 106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48" name="Line 107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2809" name="Group 108"/>
          <p:cNvGrpSpPr>
            <a:grpSpLocks/>
          </p:cNvGrpSpPr>
          <p:nvPr/>
        </p:nvGrpSpPr>
        <p:grpSpPr bwMode="auto">
          <a:xfrm>
            <a:off x="4014788" y="4678363"/>
            <a:ext cx="227012" cy="228600"/>
            <a:chOff x="2427" y="3155"/>
            <a:chExt cx="96" cy="108"/>
          </a:xfrm>
        </p:grpSpPr>
        <p:pic>
          <p:nvPicPr>
            <p:cNvPr id="32843" name="Picture 10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44" name="Line 11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45" name="Line 11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2810" name="Group 112"/>
          <p:cNvGrpSpPr>
            <a:grpSpLocks/>
          </p:cNvGrpSpPr>
          <p:nvPr/>
        </p:nvGrpSpPr>
        <p:grpSpPr bwMode="auto">
          <a:xfrm>
            <a:off x="4349750" y="4572000"/>
            <a:ext cx="227013" cy="228600"/>
            <a:chOff x="2427" y="3155"/>
            <a:chExt cx="96" cy="108"/>
          </a:xfrm>
        </p:grpSpPr>
        <p:pic>
          <p:nvPicPr>
            <p:cNvPr id="32840" name="Picture 11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41" name="Line 114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42" name="Line 115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5860" name="Group 116"/>
          <p:cNvGrpSpPr>
            <a:grpSpLocks/>
          </p:cNvGrpSpPr>
          <p:nvPr/>
        </p:nvGrpSpPr>
        <p:grpSpPr bwMode="auto">
          <a:xfrm>
            <a:off x="5053013" y="4570413"/>
            <a:ext cx="227012" cy="228600"/>
            <a:chOff x="2427" y="3155"/>
            <a:chExt cx="96" cy="108"/>
          </a:xfrm>
        </p:grpSpPr>
        <p:pic>
          <p:nvPicPr>
            <p:cNvPr id="32837" name="Picture 117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38" name="Line 118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839" name="Line 119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812" name="Text Box 120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32813" name="Text Box 121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32814" name="Group 122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32835" name="Rectangle 123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2836" name="Picture 124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815" name="Rectangle 125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2816" name="Text Box 13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Pincement</a:t>
            </a:r>
            <a:r>
              <a:rPr lang="fr-FR" altLang="fr-FR" sz="2000"/>
              <a:t> du canal au niveau du drain</a:t>
            </a:r>
            <a:endParaRPr lang="fr-FR" altLang="fr-FR" sz="2400">
              <a:solidFill>
                <a:srgbClr val="FF0000"/>
              </a:solidFill>
            </a:endParaRPr>
          </a:p>
        </p:txBody>
      </p:sp>
      <p:grpSp>
        <p:nvGrpSpPr>
          <p:cNvPr id="415906" name="Group 162"/>
          <p:cNvGrpSpPr>
            <a:grpSpLocks/>
          </p:cNvGrpSpPr>
          <p:nvPr/>
        </p:nvGrpSpPr>
        <p:grpSpPr bwMode="auto">
          <a:xfrm>
            <a:off x="6743700" y="2790825"/>
            <a:ext cx="1944688" cy="1093788"/>
            <a:chOff x="4248" y="1758"/>
            <a:chExt cx="1225" cy="689"/>
          </a:xfrm>
        </p:grpSpPr>
        <p:sp>
          <p:nvSpPr>
            <p:cNvPr id="32833" name="Rectangle 137"/>
            <p:cNvSpPr>
              <a:spLocks noChangeArrowheads="1"/>
            </p:cNvSpPr>
            <p:nvPr/>
          </p:nvSpPr>
          <p:spPr bwMode="auto">
            <a:xfrm>
              <a:off x="4248" y="1758"/>
              <a:ext cx="1211" cy="68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2834" name="Text Box 138"/>
            <p:cNvSpPr txBox="1">
              <a:spLocks noChangeArrowheads="1"/>
            </p:cNvSpPr>
            <p:nvPr/>
          </p:nvSpPr>
          <p:spPr bwMode="auto">
            <a:xfrm>
              <a:off x="4248" y="1832"/>
              <a:ext cx="1225" cy="61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Fonctionnement en </a:t>
              </a:r>
              <a:r>
                <a:rPr lang="fr-FR" altLang="fr-FR" sz="2000">
                  <a:solidFill>
                    <a:srgbClr val="FF0000"/>
                  </a:solidFill>
                </a:rPr>
                <a:t>Zone de pincement</a:t>
              </a:r>
            </a:p>
          </p:txBody>
        </p:sp>
      </p:grpSp>
      <p:sp>
        <p:nvSpPr>
          <p:cNvPr id="415883" name="Oval 139"/>
          <p:cNvSpPr>
            <a:spLocks noChangeArrowheads="1"/>
          </p:cNvSpPr>
          <p:nvPr/>
        </p:nvSpPr>
        <p:spPr bwMode="auto">
          <a:xfrm flipH="1" flipV="1">
            <a:off x="3344863" y="436403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84" name="Oval 140"/>
          <p:cNvSpPr>
            <a:spLocks noChangeArrowheads="1"/>
          </p:cNvSpPr>
          <p:nvPr/>
        </p:nvSpPr>
        <p:spPr bwMode="auto">
          <a:xfrm flipH="1" flipV="1">
            <a:off x="3870325" y="4498975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85" name="Oval 141"/>
          <p:cNvSpPr>
            <a:spLocks noChangeArrowheads="1"/>
          </p:cNvSpPr>
          <p:nvPr/>
        </p:nvSpPr>
        <p:spPr bwMode="auto">
          <a:xfrm flipH="1" flipV="1">
            <a:off x="4265613" y="454025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86" name="Oval 142"/>
          <p:cNvSpPr>
            <a:spLocks noChangeArrowheads="1"/>
          </p:cNvSpPr>
          <p:nvPr/>
        </p:nvSpPr>
        <p:spPr bwMode="auto">
          <a:xfrm flipH="1" flipV="1">
            <a:off x="4959350" y="464978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87" name="Oval 143"/>
          <p:cNvSpPr>
            <a:spLocks noChangeArrowheads="1"/>
          </p:cNvSpPr>
          <p:nvPr/>
        </p:nvSpPr>
        <p:spPr bwMode="auto">
          <a:xfrm flipH="1" flipV="1">
            <a:off x="5614988" y="465296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88" name="Oval 144"/>
          <p:cNvSpPr>
            <a:spLocks noChangeArrowheads="1"/>
          </p:cNvSpPr>
          <p:nvPr/>
        </p:nvSpPr>
        <p:spPr bwMode="auto">
          <a:xfrm flipH="1" flipV="1">
            <a:off x="3344863" y="49561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89" name="Oval 145"/>
          <p:cNvSpPr>
            <a:spLocks noChangeArrowheads="1"/>
          </p:cNvSpPr>
          <p:nvPr/>
        </p:nvSpPr>
        <p:spPr bwMode="auto">
          <a:xfrm flipH="1" flipV="1">
            <a:off x="3857625" y="482441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90" name="Oval 146"/>
          <p:cNvSpPr>
            <a:spLocks noChangeArrowheads="1"/>
          </p:cNvSpPr>
          <p:nvPr/>
        </p:nvSpPr>
        <p:spPr bwMode="auto">
          <a:xfrm flipH="1" flipV="1">
            <a:off x="4265613" y="475456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91" name="Oval 147"/>
          <p:cNvSpPr>
            <a:spLocks noChangeArrowheads="1"/>
          </p:cNvSpPr>
          <p:nvPr/>
        </p:nvSpPr>
        <p:spPr bwMode="auto">
          <a:xfrm flipH="1" flipV="1">
            <a:off x="4600575" y="46482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5892" name="Oval 148"/>
          <p:cNvSpPr>
            <a:spLocks noChangeArrowheads="1"/>
          </p:cNvSpPr>
          <p:nvPr/>
        </p:nvSpPr>
        <p:spPr bwMode="auto">
          <a:xfrm flipH="1" flipV="1">
            <a:off x="5303838" y="464661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5905" name="Group 161"/>
          <p:cNvGrpSpPr>
            <a:grpSpLocks/>
          </p:cNvGrpSpPr>
          <p:nvPr/>
        </p:nvGrpSpPr>
        <p:grpSpPr bwMode="auto">
          <a:xfrm>
            <a:off x="6743700" y="4264025"/>
            <a:ext cx="1922463" cy="798513"/>
            <a:chOff x="4248" y="2686"/>
            <a:chExt cx="1211" cy="503"/>
          </a:xfrm>
        </p:grpSpPr>
        <p:sp>
          <p:nvSpPr>
            <p:cNvPr id="32831" name="Rectangle 150"/>
            <p:cNvSpPr>
              <a:spLocks noChangeArrowheads="1"/>
            </p:cNvSpPr>
            <p:nvPr/>
          </p:nvSpPr>
          <p:spPr bwMode="auto">
            <a:xfrm>
              <a:off x="4248" y="2686"/>
              <a:ext cx="1211" cy="503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2832" name="Text Box 151"/>
            <p:cNvSpPr txBox="1">
              <a:spLocks noChangeArrowheads="1"/>
            </p:cNvSpPr>
            <p:nvPr/>
          </p:nvSpPr>
          <p:spPr bwMode="auto">
            <a:xfrm>
              <a:off x="4248" y="2724"/>
              <a:ext cx="1164" cy="44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>
                  <a:solidFill>
                    <a:srgbClr val="FF0000"/>
                  </a:solidFill>
                </a:rPr>
                <a:t>Id </a:t>
              </a:r>
              <a:r>
                <a:rPr lang="fr-FR" altLang="fr-FR"/>
                <a:t>tend à se</a:t>
              </a:r>
              <a:r>
                <a:rPr lang="fr-FR" altLang="fr-FR" sz="2000">
                  <a:solidFill>
                    <a:srgbClr val="FF0000"/>
                  </a:solidFill>
                </a:rPr>
                <a:t> stabiliser</a:t>
              </a:r>
            </a:p>
          </p:txBody>
        </p:sp>
      </p:grpSp>
      <p:sp>
        <p:nvSpPr>
          <p:cNvPr id="415901" name="Freeform 157"/>
          <p:cNvSpPr>
            <a:spLocks/>
          </p:cNvSpPr>
          <p:nvPr/>
        </p:nvSpPr>
        <p:spPr bwMode="auto">
          <a:xfrm>
            <a:off x="3219450" y="4225925"/>
            <a:ext cx="2354263" cy="442913"/>
          </a:xfrm>
          <a:custGeom>
            <a:avLst/>
            <a:gdLst>
              <a:gd name="T0" fmla="*/ 0 w 1483"/>
              <a:gd name="T1" fmla="*/ 3381 h 262"/>
              <a:gd name="T2" fmla="*/ 1954213 w 1483"/>
              <a:gd name="T3" fmla="*/ 442913 h 262"/>
              <a:gd name="T4" fmla="*/ 2354263 w 1483"/>
              <a:gd name="T5" fmla="*/ 0 h 262"/>
              <a:gd name="T6" fmla="*/ 0 w 1483"/>
              <a:gd name="T7" fmla="*/ 3381 h 2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3" h="262">
                <a:moveTo>
                  <a:pt x="0" y="2"/>
                </a:moveTo>
                <a:cubicBezTo>
                  <a:pt x="492" y="132"/>
                  <a:pt x="984" y="262"/>
                  <a:pt x="1231" y="262"/>
                </a:cubicBezTo>
                <a:cubicBezTo>
                  <a:pt x="1478" y="262"/>
                  <a:pt x="1480" y="131"/>
                  <a:pt x="1483" y="0"/>
                </a:cubicBezTo>
                <a:cubicBezTo>
                  <a:pt x="1483" y="0"/>
                  <a:pt x="0" y="2"/>
                  <a:pt x="0" y="2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415904" name="Freeform 160"/>
          <p:cNvSpPr>
            <a:spLocks/>
          </p:cNvSpPr>
          <p:nvPr/>
        </p:nvSpPr>
        <p:spPr bwMode="auto">
          <a:xfrm flipV="1">
            <a:off x="3219450" y="4697413"/>
            <a:ext cx="2354263" cy="446087"/>
          </a:xfrm>
          <a:custGeom>
            <a:avLst/>
            <a:gdLst>
              <a:gd name="T0" fmla="*/ 0 w 1483"/>
              <a:gd name="T1" fmla="*/ 3405 h 262"/>
              <a:gd name="T2" fmla="*/ 1954213 w 1483"/>
              <a:gd name="T3" fmla="*/ 446087 h 262"/>
              <a:gd name="T4" fmla="*/ 2354263 w 1483"/>
              <a:gd name="T5" fmla="*/ 0 h 262"/>
              <a:gd name="T6" fmla="*/ 0 w 1483"/>
              <a:gd name="T7" fmla="*/ 3405 h 2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3" h="262">
                <a:moveTo>
                  <a:pt x="0" y="2"/>
                </a:moveTo>
                <a:cubicBezTo>
                  <a:pt x="492" y="132"/>
                  <a:pt x="984" y="262"/>
                  <a:pt x="1231" y="262"/>
                </a:cubicBezTo>
                <a:cubicBezTo>
                  <a:pt x="1478" y="262"/>
                  <a:pt x="1480" y="131"/>
                  <a:pt x="1483" y="0"/>
                </a:cubicBezTo>
                <a:cubicBezTo>
                  <a:pt x="1483" y="0"/>
                  <a:pt x="0" y="2"/>
                  <a:pt x="0" y="2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415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15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158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415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415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15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15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15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15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15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5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15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415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15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5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415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15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5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5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5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5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5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1 -0.00092 L 0.17535 0.00023 L 0.17448 0.21366 L -0.33125 0.21574 L -0.33038 -0.00092 L 0.00451 -0.00092 Z " pathEditMode="relative" ptsTypes="AAAAAA">
                                      <p:cBhvr>
                                        <p:cTn id="51" dur="3000" fill="hold"/>
                                        <p:tgtEl>
                                          <p:spTgt spid="4158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34 0.00046 L 0.04375 0.01366 L 0.20954 0.01597 L 0.20954 0.2294 L -0.29462 0.23148 L -0.29375 0.01482 L -0.11875 0.01597 L 0.00034 0.00046 Z " pathEditMode="relative" ptsTypes="AAAAAAAA">
                                      <p:cBhvr>
                                        <p:cTn id="53" dur="3000" fill="hold"/>
                                        <p:tgtEl>
                                          <p:spTgt spid="4158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1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7.22222E-6 1.11111E-6 L 0.0434 -0.01551 L 0.21006 -0.01667 L 0.21006 0.19769 L -0.29584 0.2 L -0.29584 -0.01667 L -0.12917 -0.01667 L -7.22222E-6 1.11111E-6 Z " pathEditMode="relative" ptsTypes="AAAAAAAA">
                                      <p:cBhvr>
                                        <p:cTn id="58" dur="3000" fill="hold"/>
                                        <p:tgtEl>
                                          <p:spTgt spid="4158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8.33333E-7 6.66667E-6 L 0.0875 0.02107 L 0.25416 0.01991 L 0.25329 0.23427 L -0.25087 0.23427 L -0.25 0.02107 L -0.08177 0.01991 L 8.33333E-7 6.66667E-6 Z " pathEditMode="relative" ptsTypes="AAAAAAAA">
                                      <p:cBhvr>
                                        <p:cTn id="60" dur="3000" fill="hold"/>
                                        <p:tgtEl>
                                          <p:spTgt spid="4158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1.94444E-6 -0.00093 L 0.08993 -0.02547 L 0.25416 -0.02547 L 0.25503 0.1868 L -0.25174 0.19004 L -0.25 -0.02547 L -0.07761 -0.02662 L 1.94444E-6 -0.00093 Z " pathEditMode="relative" ptsTypes="AAAAAAAA">
                                      <p:cBhvr>
                                        <p:cTn id="62" dur="3000" fill="hold"/>
                                        <p:tgtEl>
                                          <p:spTgt spid="4158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1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0" presetClass="path" presetSubtype="0" repeatCount="indefinite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4.44444E-6 -3.7037E-7 L 0.1434 0.0412 L 0.31093 0.03889 L 0.31093 0.25347 L -0.1941 0.25555 L -0.19236 0.04004 L -0.03247 0.0412 L 4.44444E-6 -3.7037E-7 Z " pathEditMode="relative" ptsTypes="AAAAAAAA">
                                      <p:cBhvr>
                                        <p:cTn id="67" dur="3000" fill="hold"/>
                                        <p:tgtEl>
                                          <p:spTgt spid="4158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repeatCount="indefinite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0018 0.00093 L 0.14445 -0.04583 L 0.31111 -0.04583 L 0.31024 0.16759 L -0.19479 0.17199 L -0.19305 -0.04583 L -0.02986 -0.04583 L 0.00018 0.00093 Z " pathEditMode="relative" ptsTypes="AAAAAAAA">
                                      <p:cBhvr>
                                        <p:cTn id="69" dur="3000" fill="hold"/>
                                        <p:tgtEl>
                                          <p:spTgt spid="4158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883" grpId="0" animBg="1"/>
      <p:bldP spid="415884" grpId="0" animBg="1"/>
      <p:bldP spid="415885" grpId="0" animBg="1"/>
      <p:bldP spid="415886" grpId="0" animBg="1"/>
      <p:bldP spid="415887" grpId="0" animBg="1"/>
      <p:bldP spid="415888" grpId="0" animBg="1"/>
      <p:bldP spid="415889" grpId="0" animBg="1"/>
      <p:bldP spid="415890" grpId="0" animBg="1"/>
      <p:bldP spid="415891" grpId="0" animBg="1"/>
      <p:bldP spid="415892" grpId="0" animBg="1"/>
      <p:bldP spid="415901" grpId="0" animBg="1"/>
      <p:bldP spid="41590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62912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n°2 : Vgs = 0 et Vds = Vp</a:t>
            </a:r>
            <a:endParaRPr lang="fr-FR" altLang="fr-FR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Fonctionnement en </a:t>
            </a:r>
            <a:r>
              <a:rPr lang="fr-FR" altLang="fr-FR" sz="2400">
                <a:solidFill>
                  <a:srgbClr val="FF0000"/>
                </a:solidFill>
              </a:rPr>
              <a:t>zone de pincement</a:t>
            </a: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 flipV="1">
            <a:off x="1249363" y="3908425"/>
            <a:ext cx="814387" cy="15557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 flipH="1" flipV="1">
            <a:off x="1228725" y="3167063"/>
            <a:ext cx="4763" cy="230822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V="1">
            <a:off x="1230313" y="5470525"/>
            <a:ext cx="2203450" cy="158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2770188" y="5557838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Vds (V)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1212850" y="29845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Id (mA)</a:t>
            </a:r>
          </a:p>
        </p:txBody>
      </p:sp>
      <p:sp>
        <p:nvSpPr>
          <p:cNvPr id="33802" name="Line 10"/>
          <p:cNvSpPr>
            <a:spLocks noChangeShapeType="1"/>
          </p:cNvSpPr>
          <p:nvPr/>
        </p:nvSpPr>
        <p:spPr bwMode="auto">
          <a:xfrm>
            <a:off x="1235075" y="3378200"/>
            <a:ext cx="2071688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3" name="Line 11"/>
          <p:cNvSpPr>
            <a:spLocks noChangeShapeType="1"/>
          </p:cNvSpPr>
          <p:nvPr/>
        </p:nvSpPr>
        <p:spPr bwMode="auto">
          <a:xfrm flipV="1">
            <a:off x="1220788" y="3900488"/>
            <a:ext cx="2127250" cy="158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4" name="Line 12"/>
          <p:cNvSpPr>
            <a:spLocks noChangeShapeType="1"/>
          </p:cNvSpPr>
          <p:nvPr/>
        </p:nvSpPr>
        <p:spPr bwMode="auto">
          <a:xfrm>
            <a:off x="1235075" y="4425950"/>
            <a:ext cx="2116138" cy="1270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1223963" y="4943475"/>
            <a:ext cx="2165350" cy="476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 flipH="1" flipV="1">
            <a:off x="1847850" y="3167063"/>
            <a:ext cx="15875" cy="2289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 flipH="1" flipV="1">
            <a:off x="2468563" y="3167063"/>
            <a:ext cx="4762" cy="23034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 flipH="1" flipV="1">
            <a:off x="3087688" y="3167063"/>
            <a:ext cx="6350" cy="23145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2070100" y="4060825"/>
            <a:ext cx="957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Vgs = 0</a:t>
            </a:r>
          </a:p>
        </p:txBody>
      </p:sp>
      <p:grpSp>
        <p:nvGrpSpPr>
          <p:cNvPr id="417820" name="Group 28"/>
          <p:cNvGrpSpPr>
            <a:grpSpLocks/>
          </p:cNvGrpSpPr>
          <p:nvPr/>
        </p:nvGrpSpPr>
        <p:grpSpPr bwMode="auto">
          <a:xfrm>
            <a:off x="4316413" y="2703513"/>
            <a:ext cx="4381500" cy="2309812"/>
            <a:chOff x="2719" y="1703"/>
            <a:chExt cx="2760" cy="1455"/>
          </a:xfrm>
        </p:grpSpPr>
        <p:sp>
          <p:nvSpPr>
            <p:cNvPr id="33818" name="Rectangle 19"/>
            <p:cNvSpPr>
              <a:spLocks noChangeArrowheads="1"/>
            </p:cNvSpPr>
            <p:nvPr/>
          </p:nvSpPr>
          <p:spPr bwMode="auto">
            <a:xfrm>
              <a:off x="2719" y="1703"/>
              <a:ext cx="2760" cy="1455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3819" name="Text Box 20"/>
            <p:cNvSpPr txBox="1">
              <a:spLocks noChangeArrowheads="1"/>
            </p:cNvSpPr>
            <p:nvPr/>
          </p:nvSpPr>
          <p:spPr bwMode="auto">
            <a:xfrm>
              <a:off x="2788" y="1760"/>
              <a:ext cx="2651" cy="1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Id tend :</a:t>
              </a:r>
            </a:p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fr-FR" altLang="fr-FR" sz="2000"/>
                <a:t>à </a:t>
              </a:r>
              <a:r>
                <a:rPr lang="fr-FR" altLang="fr-FR" sz="2400">
                  <a:solidFill>
                    <a:srgbClr val="FF0000"/>
                  </a:solidFill>
                </a:rPr>
                <a:t>augmenter </a:t>
              </a:r>
              <a:r>
                <a:rPr lang="fr-FR" altLang="fr-FR" sz="2000"/>
                <a:t>car </a:t>
              </a:r>
              <a:r>
                <a:rPr lang="fr-FR" altLang="fr-FR" sz="2400">
                  <a:solidFill>
                    <a:srgbClr val="FF0000"/>
                  </a:solidFill>
                </a:rPr>
                <a:t>Vds </a:t>
              </a:r>
              <a:r>
                <a:rPr lang="fr-FR" altLang="fr-FR" sz="2000"/>
                <a:t>est</a:t>
              </a:r>
              <a:r>
                <a:rPr lang="fr-FR" altLang="fr-FR" sz="2400">
                  <a:solidFill>
                    <a:srgbClr val="FF0000"/>
                  </a:solidFill>
                </a:rPr>
                <a:t> grand</a:t>
              </a:r>
              <a:r>
                <a:rPr lang="fr-FR" altLang="fr-FR" sz="2000"/>
                <a:t>,</a:t>
              </a:r>
            </a:p>
            <a:p>
              <a:pPr lvl="1">
                <a:spcBef>
                  <a:spcPct val="0"/>
                </a:spcBef>
                <a:buFontTx/>
                <a:buChar char="•"/>
              </a:pPr>
              <a:r>
                <a:rPr lang="fr-FR" altLang="fr-FR" sz="2000"/>
                <a:t>à </a:t>
              </a:r>
              <a:r>
                <a:rPr lang="fr-FR" altLang="fr-FR" sz="2400">
                  <a:solidFill>
                    <a:srgbClr val="FF0000"/>
                  </a:solidFill>
                </a:rPr>
                <a:t>diminuer</a:t>
              </a:r>
              <a:r>
                <a:rPr lang="fr-FR" altLang="fr-FR" sz="2000"/>
                <a:t> à cause de </a:t>
              </a:r>
              <a:r>
                <a:rPr lang="fr-FR" altLang="fr-FR" sz="2400">
                  <a:solidFill>
                    <a:srgbClr val="FF0000"/>
                  </a:solidFill>
                </a:rPr>
                <a:t>l’étranglement</a:t>
              </a:r>
              <a:r>
                <a:rPr lang="fr-FR" altLang="fr-FR" sz="2000"/>
                <a:t> qui freine le passage des électrons.</a:t>
              </a:r>
            </a:p>
          </p:txBody>
        </p:sp>
      </p:grpSp>
      <p:grpSp>
        <p:nvGrpSpPr>
          <p:cNvPr id="417821" name="Group 29"/>
          <p:cNvGrpSpPr>
            <a:grpSpLocks/>
          </p:cNvGrpSpPr>
          <p:nvPr/>
        </p:nvGrpSpPr>
        <p:grpSpPr bwMode="auto">
          <a:xfrm>
            <a:off x="4308475" y="5519738"/>
            <a:ext cx="4479925" cy="882650"/>
            <a:chOff x="2714" y="3477"/>
            <a:chExt cx="2822" cy="556"/>
          </a:xfrm>
        </p:grpSpPr>
        <p:sp>
          <p:nvSpPr>
            <p:cNvPr id="33813" name="Rectangle 22"/>
            <p:cNvSpPr>
              <a:spLocks noChangeArrowheads="1"/>
            </p:cNvSpPr>
            <p:nvPr/>
          </p:nvSpPr>
          <p:spPr bwMode="auto">
            <a:xfrm>
              <a:off x="2739" y="3500"/>
              <a:ext cx="2740" cy="511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3814" name="Text Box 23"/>
            <p:cNvSpPr txBox="1">
              <a:spLocks noChangeArrowheads="1"/>
            </p:cNvSpPr>
            <p:nvPr/>
          </p:nvSpPr>
          <p:spPr bwMode="auto">
            <a:xfrm>
              <a:off x="3465" y="3515"/>
              <a:ext cx="2071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Que se passe t’il si on </a:t>
              </a:r>
              <a:r>
                <a:rPr lang="fr-FR" altLang="fr-FR" sz="2400">
                  <a:solidFill>
                    <a:srgbClr val="FF0000"/>
                  </a:solidFill>
                </a:rPr>
                <a:t>augmente</a:t>
              </a:r>
              <a:r>
                <a:rPr lang="fr-FR" altLang="fr-FR" sz="2000"/>
                <a:t> encore </a:t>
              </a:r>
              <a:r>
                <a:rPr lang="fr-FR" altLang="fr-FR" sz="2400">
                  <a:solidFill>
                    <a:srgbClr val="FF0000"/>
                  </a:solidFill>
                </a:rPr>
                <a:t>Vds</a:t>
              </a:r>
              <a:r>
                <a:rPr lang="fr-FR" altLang="fr-FR" sz="2000"/>
                <a:t> ?</a:t>
              </a:r>
              <a:endParaRPr lang="fr-FR" altLang="fr-FR" sz="2400">
                <a:solidFill>
                  <a:srgbClr val="FF0000"/>
                </a:solidFill>
              </a:endParaRPr>
            </a:p>
          </p:txBody>
        </p:sp>
        <p:grpSp>
          <p:nvGrpSpPr>
            <p:cNvPr id="33815" name="Group 24"/>
            <p:cNvGrpSpPr>
              <a:grpSpLocks/>
            </p:cNvGrpSpPr>
            <p:nvPr/>
          </p:nvGrpSpPr>
          <p:grpSpPr bwMode="auto">
            <a:xfrm>
              <a:off x="2714" y="3477"/>
              <a:ext cx="856" cy="556"/>
              <a:chOff x="718" y="1053"/>
              <a:chExt cx="856" cy="556"/>
            </a:xfrm>
          </p:grpSpPr>
          <p:sp>
            <p:nvSpPr>
              <p:cNvPr id="33816" name="AutoShape 25"/>
              <p:cNvSpPr>
                <a:spLocks noChangeArrowheads="1"/>
              </p:cNvSpPr>
              <p:nvPr/>
            </p:nvSpPr>
            <p:spPr bwMode="auto">
              <a:xfrm rot="-1385031">
                <a:off x="718" y="1053"/>
                <a:ext cx="856" cy="556"/>
              </a:xfrm>
              <a:prstGeom prst="irregularSeal1">
                <a:avLst/>
              </a:prstGeom>
              <a:solidFill>
                <a:srgbClr val="3366FF">
                  <a:alpha val="70195"/>
                </a:srgb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33817" name="Text Box 26"/>
              <p:cNvSpPr txBox="1">
                <a:spLocks noChangeArrowheads="1"/>
              </p:cNvSpPr>
              <p:nvPr/>
            </p:nvSpPr>
            <p:spPr bwMode="auto">
              <a:xfrm rot="-1385031">
                <a:off x="889" y="1235"/>
                <a:ext cx="514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fr-FR" altLang="fr-FR" sz="1400" b="1">
                    <a:solidFill>
                      <a:srgbClr val="FFFF66"/>
                    </a:solidFill>
                  </a:rPr>
                  <a:t>QUIZZ</a:t>
                </a:r>
              </a:p>
            </p:txBody>
          </p:sp>
        </p:grpSp>
      </p:grpSp>
      <p:sp>
        <p:nvSpPr>
          <p:cNvPr id="417819" name="Freeform 27"/>
          <p:cNvSpPr>
            <a:spLocks/>
          </p:cNvSpPr>
          <p:nvPr/>
        </p:nvSpPr>
        <p:spPr bwMode="auto">
          <a:xfrm>
            <a:off x="2049463" y="3692525"/>
            <a:ext cx="533400" cy="233363"/>
          </a:xfrm>
          <a:custGeom>
            <a:avLst/>
            <a:gdLst>
              <a:gd name="T0" fmla="*/ 0 w 336"/>
              <a:gd name="T1" fmla="*/ 233363 h 147"/>
              <a:gd name="T2" fmla="*/ 141288 w 336"/>
              <a:gd name="T3" fmla="*/ 101600 h 147"/>
              <a:gd name="T4" fmla="*/ 323850 w 336"/>
              <a:gd name="T5" fmla="*/ 22225 h 147"/>
              <a:gd name="T6" fmla="*/ 533400 w 336"/>
              <a:gd name="T7" fmla="*/ 0 h 14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6" h="147">
                <a:moveTo>
                  <a:pt x="0" y="147"/>
                </a:moveTo>
                <a:cubicBezTo>
                  <a:pt x="15" y="133"/>
                  <a:pt x="55" y="86"/>
                  <a:pt x="89" y="64"/>
                </a:cubicBezTo>
                <a:cubicBezTo>
                  <a:pt x="123" y="42"/>
                  <a:pt x="163" y="25"/>
                  <a:pt x="204" y="14"/>
                </a:cubicBezTo>
                <a:cubicBezTo>
                  <a:pt x="245" y="3"/>
                  <a:pt x="309" y="3"/>
                  <a:pt x="336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4821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4826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27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1697038" y="3589338"/>
            <a:ext cx="957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= 0</a:t>
            </a:r>
          </a:p>
        </p:txBody>
      </p:sp>
      <p:sp>
        <p:nvSpPr>
          <p:cNvPr id="34829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31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32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1898650" y="5211763"/>
            <a:ext cx="10747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&gt; Vp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34835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34944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945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4836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6232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n°3 : Vgs = 0 et Vds &gt; Vp</a:t>
            </a:r>
            <a:endParaRPr lang="fr-FR" altLang="fr-FR"/>
          </a:p>
        </p:txBody>
      </p:sp>
      <p:grpSp>
        <p:nvGrpSpPr>
          <p:cNvPr id="34837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34942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4943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838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8843" name="Group 27"/>
          <p:cNvGrpSpPr>
            <a:grpSpLocks/>
          </p:cNvGrpSpPr>
          <p:nvPr/>
        </p:nvGrpSpPr>
        <p:grpSpPr bwMode="auto">
          <a:xfrm>
            <a:off x="5732463" y="5227638"/>
            <a:ext cx="647700" cy="892175"/>
            <a:chOff x="3611" y="3293"/>
            <a:chExt cx="408" cy="562"/>
          </a:xfrm>
        </p:grpSpPr>
        <p:sp>
          <p:nvSpPr>
            <p:cNvPr id="34940" name="AutoShape 28"/>
            <p:cNvSpPr>
              <a:spLocks noChangeArrowheads="1"/>
            </p:cNvSpPr>
            <p:nvPr/>
          </p:nvSpPr>
          <p:spPr bwMode="auto">
            <a:xfrm rot="10800000">
              <a:off x="3823" y="3293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34941" name="Text Box 29"/>
            <p:cNvSpPr txBox="1">
              <a:spLocks noChangeArrowheads="1"/>
            </p:cNvSpPr>
            <p:nvPr/>
          </p:nvSpPr>
          <p:spPr bwMode="auto">
            <a:xfrm>
              <a:off x="3611" y="3605"/>
              <a:ext cx="408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/>
                <a:t>Id</a:t>
              </a:r>
            </a:p>
          </p:txBody>
        </p:sp>
      </p:grpSp>
      <p:sp>
        <p:nvSpPr>
          <p:cNvPr id="34840" name="Rectangle 30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4841" name="Line 31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4842" name="Text Box 32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4843" name="Text Box 33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34844" name="Text Box 34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4845" name="Line 35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4846" name="Group 36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34920" name="Group 37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4936" name="Group 38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38" name="Picture 39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39" name="Line 40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37" name="Oval 41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4921" name="Group 42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4932" name="Group 43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34" name="Picture 44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35" name="Line 45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33" name="Oval 46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4922" name="Group 47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4928" name="Group 48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30" name="Picture 49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31" name="Line 50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29" name="Oval 51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4923" name="Group 52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4924" name="Group 53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26" name="Picture 54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27" name="Line 55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25" name="Oval 56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4847" name="Group 57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34900" name="Group 58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4916" name="Group 59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18" name="Picture 60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19" name="Line 61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17" name="Oval 62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4901" name="Group 63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4912" name="Group 64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14" name="Picture 65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15" name="Line 66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13" name="Oval 67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4902" name="Group 68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4908" name="Group 69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10" name="Picture 70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11" name="Line 71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09" name="Oval 72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4903" name="Group 73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4904" name="Group 74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4906" name="Picture 75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4907" name="Line 76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4905" name="Oval 77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4848" name="Group 78"/>
          <p:cNvGrpSpPr>
            <a:grpSpLocks/>
          </p:cNvGrpSpPr>
          <p:nvPr/>
        </p:nvGrpSpPr>
        <p:grpSpPr bwMode="auto">
          <a:xfrm>
            <a:off x="3094038" y="4287838"/>
            <a:ext cx="227012" cy="228600"/>
            <a:chOff x="2427" y="3155"/>
            <a:chExt cx="96" cy="108"/>
          </a:xfrm>
        </p:grpSpPr>
        <p:pic>
          <p:nvPicPr>
            <p:cNvPr id="34897" name="Picture 7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98" name="Line 8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99" name="Line 8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4849" name="Group 84"/>
          <p:cNvGrpSpPr>
            <a:grpSpLocks/>
          </p:cNvGrpSpPr>
          <p:nvPr/>
        </p:nvGrpSpPr>
        <p:grpSpPr bwMode="auto">
          <a:xfrm>
            <a:off x="3095625" y="4579938"/>
            <a:ext cx="227013" cy="228600"/>
            <a:chOff x="2427" y="3155"/>
            <a:chExt cx="96" cy="108"/>
          </a:xfrm>
        </p:grpSpPr>
        <p:pic>
          <p:nvPicPr>
            <p:cNvPr id="34894" name="Picture 8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95" name="Line 86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96" name="Line 87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4850" name="Group 88"/>
          <p:cNvGrpSpPr>
            <a:grpSpLocks/>
          </p:cNvGrpSpPr>
          <p:nvPr/>
        </p:nvGrpSpPr>
        <p:grpSpPr bwMode="auto">
          <a:xfrm>
            <a:off x="3470275" y="4484688"/>
            <a:ext cx="227013" cy="228600"/>
            <a:chOff x="2427" y="3155"/>
            <a:chExt cx="96" cy="108"/>
          </a:xfrm>
        </p:grpSpPr>
        <p:pic>
          <p:nvPicPr>
            <p:cNvPr id="34891" name="Picture 8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92" name="Line 9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93" name="Line 9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4851" name="Group 100"/>
          <p:cNvGrpSpPr>
            <a:grpSpLocks/>
          </p:cNvGrpSpPr>
          <p:nvPr/>
        </p:nvGrpSpPr>
        <p:grpSpPr bwMode="auto">
          <a:xfrm>
            <a:off x="3094038" y="4879975"/>
            <a:ext cx="227012" cy="228600"/>
            <a:chOff x="2427" y="3155"/>
            <a:chExt cx="96" cy="108"/>
          </a:xfrm>
        </p:grpSpPr>
        <p:pic>
          <p:nvPicPr>
            <p:cNvPr id="34888" name="Picture 101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89" name="Line 102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90" name="Line 103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4852" name="Group 104"/>
          <p:cNvGrpSpPr>
            <a:grpSpLocks/>
          </p:cNvGrpSpPr>
          <p:nvPr/>
        </p:nvGrpSpPr>
        <p:grpSpPr bwMode="auto">
          <a:xfrm>
            <a:off x="3468688" y="4686300"/>
            <a:ext cx="227012" cy="228600"/>
            <a:chOff x="2427" y="3155"/>
            <a:chExt cx="96" cy="108"/>
          </a:xfrm>
        </p:grpSpPr>
        <p:pic>
          <p:nvPicPr>
            <p:cNvPr id="34885" name="Picture 105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86" name="Line 106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87" name="Line 107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8924" name="Group 108"/>
          <p:cNvGrpSpPr>
            <a:grpSpLocks/>
          </p:cNvGrpSpPr>
          <p:nvPr/>
        </p:nvGrpSpPr>
        <p:grpSpPr bwMode="auto">
          <a:xfrm>
            <a:off x="3892550" y="4581525"/>
            <a:ext cx="227013" cy="228600"/>
            <a:chOff x="2427" y="3155"/>
            <a:chExt cx="96" cy="108"/>
          </a:xfrm>
        </p:grpSpPr>
        <p:pic>
          <p:nvPicPr>
            <p:cNvPr id="34882" name="Picture 109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83" name="Line 110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84" name="Line 111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18928" name="Group 112"/>
          <p:cNvGrpSpPr>
            <a:grpSpLocks/>
          </p:cNvGrpSpPr>
          <p:nvPr/>
        </p:nvGrpSpPr>
        <p:grpSpPr bwMode="auto">
          <a:xfrm>
            <a:off x="4349750" y="4572000"/>
            <a:ext cx="227013" cy="228600"/>
            <a:chOff x="2427" y="3155"/>
            <a:chExt cx="96" cy="108"/>
          </a:xfrm>
        </p:grpSpPr>
        <p:pic>
          <p:nvPicPr>
            <p:cNvPr id="34879" name="Picture 113" descr="boulej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 l="52966" t="33055" r="39301" b="56898"/>
            <a:stretch>
              <a:fillRect/>
            </a:stretch>
          </p:blipFill>
          <p:spPr bwMode="auto">
            <a:xfrm>
              <a:off x="2427" y="3155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80" name="Line 114"/>
            <p:cNvSpPr>
              <a:spLocks noChangeShapeType="1"/>
            </p:cNvSpPr>
            <p:nvPr/>
          </p:nvSpPr>
          <p:spPr bwMode="auto">
            <a:xfrm>
              <a:off x="2478" y="3190"/>
              <a:ext cx="0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81" name="Line 115"/>
            <p:cNvSpPr>
              <a:spLocks noChangeShapeType="1"/>
            </p:cNvSpPr>
            <p:nvPr/>
          </p:nvSpPr>
          <p:spPr bwMode="auto">
            <a:xfrm rot="-5400000">
              <a:off x="2478" y="3192"/>
              <a:ext cx="0" cy="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4855" name="Text Box 120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34856" name="Text Box 121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34857" name="Group 122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34877" name="Rectangle 123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4878" name="Picture 124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4858" name="Rectangle 125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4859" name="Text Box 126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Etranglement</a:t>
            </a:r>
            <a:r>
              <a:rPr lang="fr-FR" altLang="fr-FR" sz="2000"/>
              <a:t> du canal au niveau du drain</a:t>
            </a:r>
            <a:endParaRPr lang="fr-FR" altLang="fr-FR" sz="2400">
              <a:solidFill>
                <a:srgbClr val="FF0000"/>
              </a:solidFill>
            </a:endParaRPr>
          </a:p>
        </p:txBody>
      </p:sp>
      <p:grpSp>
        <p:nvGrpSpPr>
          <p:cNvPr id="418943" name="Group 127"/>
          <p:cNvGrpSpPr>
            <a:grpSpLocks/>
          </p:cNvGrpSpPr>
          <p:nvPr/>
        </p:nvGrpSpPr>
        <p:grpSpPr bwMode="auto">
          <a:xfrm>
            <a:off x="6743700" y="2790825"/>
            <a:ext cx="1944688" cy="1093788"/>
            <a:chOff x="4248" y="1758"/>
            <a:chExt cx="1225" cy="689"/>
          </a:xfrm>
        </p:grpSpPr>
        <p:sp>
          <p:nvSpPr>
            <p:cNvPr id="34875" name="Rectangle 128"/>
            <p:cNvSpPr>
              <a:spLocks noChangeArrowheads="1"/>
            </p:cNvSpPr>
            <p:nvPr/>
          </p:nvSpPr>
          <p:spPr bwMode="auto">
            <a:xfrm>
              <a:off x="4248" y="1758"/>
              <a:ext cx="1211" cy="682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4876" name="Text Box 129"/>
            <p:cNvSpPr txBox="1">
              <a:spLocks noChangeArrowheads="1"/>
            </p:cNvSpPr>
            <p:nvPr/>
          </p:nvSpPr>
          <p:spPr bwMode="auto">
            <a:xfrm>
              <a:off x="4248" y="1832"/>
              <a:ext cx="1225" cy="61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Fonctionnement en </a:t>
              </a:r>
              <a:r>
                <a:rPr lang="fr-FR" altLang="fr-FR" sz="2000">
                  <a:solidFill>
                    <a:srgbClr val="FF0000"/>
                  </a:solidFill>
                </a:rPr>
                <a:t>Zone de saturation</a:t>
              </a:r>
            </a:p>
          </p:txBody>
        </p:sp>
      </p:grpSp>
      <p:sp>
        <p:nvSpPr>
          <p:cNvPr id="418947" name="Oval 131"/>
          <p:cNvSpPr>
            <a:spLocks noChangeArrowheads="1"/>
          </p:cNvSpPr>
          <p:nvPr/>
        </p:nvSpPr>
        <p:spPr bwMode="auto">
          <a:xfrm flipH="1" flipV="1">
            <a:off x="3346450" y="4656138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8948" name="Oval 132"/>
          <p:cNvSpPr>
            <a:spLocks noChangeArrowheads="1"/>
          </p:cNvSpPr>
          <p:nvPr/>
        </p:nvSpPr>
        <p:spPr bwMode="auto">
          <a:xfrm flipH="1" flipV="1">
            <a:off x="3721100" y="45847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8951" name="Oval 135"/>
          <p:cNvSpPr>
            <a:spLocks noChangeArrowheads="1"/>
          </p:cNvSpPr>
          <p:nvPr/>
        </p:nvSpPr>
        <p:spPr bwMode="auto">
          <a:xfrm flipH="1" flipV="1">
            <a:off x="3344863" y="490378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8952" name="Oval 136"/>
          <p:cNvSpPr>
            <a:spLocks noChangeArrowheads="1"/>
          </p:cNvSpPr>
          <p:nvPr/>
        </p:nvSpPr>
        <p:spPr bwMode="auto">
          <a:xfrm flipH="1" flipV="1">
            <a:off x="3719513" y="471011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8953" name="Oval 137"/>
          <p:cNvSpPr>
            <a:spLocks noChangeArrowheads="1"/>
          </p:cNvSpPr>
          <p:nvPr/>
        </p:nvSpPr>
        <p:spPr bwMode="auto">
          <a:xfrm flipH="1" flipV="1">
            <a:off x="4143375" y="46482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8954" name="Oval 138"/>
          <p:cNvSpPr>
            <a:spLocks noChangeArrowheads="1"/>
          </p:cNvSpPr>
          <p:nvPr/>
        </p:nvSpPr>
        <p:spPr bwMode="auto">
          <a:xfrm flipH="1" flipV="1">
            <a:off x="4600575" y="4648200"/>
            <a:ext cx="74613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18975" name="Group 159"/>
          <p:cNvGrpSpPr>
            <a:grpSpLocks/>
          </p:cNvGrpSpPr>
          <p:nvPr/>
        </p:nvGrpSpPr>
        <p:grpSpPr bwMode="auto">
          <a:xfrm>
            <a:off x="6743700" y="4264025"/>
            <a:ext cx="1936750" cy="798513"/>
            <a:chOff x="4248" y="2686"/>
            <a:chExt cx="1220" cy="503"/>
          </a:xfrm>
        </p:grpSpPr>
        <p:sp>
          <p:nvSpPr>
            <p:cNvPr id="34873" name="Rectangle 141"/>
            <p:cNvSpPr>
              <a:spLocks noChangeArrowheads="1"/>
            </p:cNvSpPr>
            <p:nvPr/>
          </p:nvSpPr>
          <p:spPr bwMode="auto">
            <a:xfrm>
              <a:off x="4248" y="2686"/>
              <a:ext cx="1211" cy="503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4874" name="Text Box 142"/>
            <p:cNvSpPr txBox="1">
              <a:spLocks noChangeArrowheads="1"/>
            </p:cNvSpPr>
            <p:nvPr/>
          </p:nvSpPr>
          <p:spPr bwMode="auto">
            <a:xfrm>
              <a:off x="4248" y="2724"/>
              <a:ext cx="1220" cy="44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>
                  <a:solidFill>
                    <a:srgbClr val="FF0000"/>
                  </a:solidFill>
                </a:rPr>
                <a:t>Id </a:t>
              </a:r>
              <a:r>
                <a:rPr lang="fr-FR" altLang="fr-FR"/>
                <a:t>devient</a:t>
              </a:r>
              <a:r>
                <a:rPr lang="fr-FR" altLang="fr-FR" sz="2000">
                  <a:solidFill>
                    <a:srgbClr val="FF0000"/>
                  </a:solidFill>
                </a:rPr>
                <a:t> constant</a:t>
              </a:r>
            </a:p>
          </p:txBody>
        </p:sp>
      </p:grpSp>
      <p:sp>
        <p:nvSpPr>
          <p:cNvPr id="34868" name="Freeform 147"/>
          <p:cNvSpPr>
            <a:spLocks/>
          </p:cNvSpPr>
          <p:nvPr/>
        </p:nvSpPr>
        <p:spPr bwMode="auto">
          <a:xfrm flipV="1">
            <a:off x="3219450" y="4697413"/>
            <a:ext cx="2354263" cy="446087"/>
          </a:xfrm>
          <a:custGeom>
            <a:avLst/>
            <a:gdLst>
              <a:gd name="T0" fmla="*/ 0 w 1483"/>
              <a:gd name="T1" fmla="*/ 3405 h 262"/>
              <a:gd name="T2" fmla="*/ 1954213 w 1483"/>
              <a:gd name="T3" fmla="*/ 446087 h 262"/>
              <a:gd name="T4" fmla="*/ 2354263 w 1483"/>
              <a:gd name="T5" fmla="*/ 0 h 262"/>
              <a:gd name="T6" fmla="*/ 0 w 1483"/>
              <a:gd name="T7" fmla="*/ 3405 h 2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3" h="262">
                <a:moveTo>
                  <a:pt x="0" y="2"/>
                </a:moveTo>
                <a:cubicBezTo>
                  <a:pt x="492" y="132"/>
                  <a:pt x="984" y="262"/>
                  <a:pt x="1231" y="262"/>
                </a:cubicBezTo>
                <a:cubicBezTo>
                  <a:pt x="1478" y="262"/>
                  <a:pt x="1480" y="131"/>
                  <a:pt x="1483" y="0"/>
                </a:cubicBezTo>
                <a:cubicBezTo>
                  <a:pt x="1483" y="0"/>
                  <a:pt x="0" y="2"/>
                  <a:pt x="0" y="2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4869" name="Freeform 148"/>
          <p:cNvSpPr>
            <a:spLocks/>
          </p:cNvSpPr>
          <p:nvPr/>
        </p:nvSpPr>
        <p:spPr bwMode="auto">
          <a:xfrm>
            <a:off x="3219450" y="4225925"/>
            <a:ext cx="2354263" cy="442913"/>
          </a:xfrm>
          <a:custGeom>
            <a:avLst/>
            <a:gdLst>
              <a:gd name="T0" fmla="*/ 0 w 1483"/>
              <a:gd name="T1" fmla="*/ 3381 h 262"/>
              <a:gd name="T2" fmla="*/ 1954213 w 1483"/>
              <a:gd name="T3" fmla="*/ 442913 h 262"/>
              <a:gd name="T4" fmla="*/ 2354263 w 1483"/>
              <a:gd name="T5" fmla="*/ 0 h 262"/>
              <a:gd name="T6" fmla="*/ 0 w 1483"/>
              <a:gd name="T7" fmla="*/ 3381 h 2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3" h="262">
                <a:moveTo>
                  <a:pt x="0" y="2"/>
                </a:moveTo>
                <a:cubicBezTo>
                  <a:pt x="492" y="132"/>
                  <a:pt x="984" y="262"/>
                  <a:pt x="1231" y="262"/>
                </a:cubicBezTo>
                <a:cubicBezTo>
                  <a:pt x="1478" y="262"/>
                  <a:pt x="1480" y="131"/>
                  <a:pt x="1483" y="0"/>
                </a:cubicBezTo>
                <a:cubicBezTo>
                  <a:pt x="1483" y="0"/>
                  <a:pt x="0" y="2"/>
                  <a:pt x="0" y="2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418973" name="Freeform 157"/>
          <p:cNvSpPr>
            <a:spLocks/>
          </p:cNvSpPr>
          <p:nvPr/>
        </p:nvSpPr>
        <p:spPr bwMode="auto">
          <a:xfrm>
            <a:off x="3228975" y="4225925"/>
            <a:ext cx="2371725" cy="454025"/>
          </a:xfrm>
          <a:custGeom>
            <a:avLst/>
            <a:gdLst>
              <a:gd name="T0" fmla="*/ 0 w 1494"/>
              <a:gd name="T1" fmla="*/ 0 h 321"/>
              <a:gd name="T2" fmla="*/ 631825 w 1494"/>
              <a:gd name="T3" fmla="*/ 366332 h 321"/>
              <a:gd name="T4" fmla="*/ 2087563 w 1494"/>
              <a:gd name="T5" fmla="*/ 393205 h 321"/>
              <a:gd name="T6" fmla="*/ 2339975 w 1494"/>
              <a:gd name="T7" fmla="*/ 0 h 321"/>
              <a:gd name="T8" fmla="*/ 0 w 1494"/>
              <a:gd name="T9" fmla="*/ 0 h 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94" h="321">
                <a:moveTo>
                  <a:pt x="0" y="0"/>
                </a:moveTo>
                <a:cubicBezTo>
                  <a:pt x="67" y="43"/>
                  <a:pt x="179" y="213"/>
                  <a:pt x="398" y="259"/>
                </a:cubicBezTo>
                <a:cubicBezTo>
                  <a:pt x="617" y="305"/>
                  <a:pt x="1136" y="321"/>
                  <a:pt x="1315" y="278"/>
                </a:cubicBezTo>
                <a:cubicBezTo>
                  <a:pt x="1494" y="235"/>
                  <a:pt x="1441" y="58"/>
                  <a:pt x="1474" y="0"/>
                </a:cubicBezTo>
                <a:cubicBezTo>
                  <a:pt x="1474" y="0"/>
                  <a:pt x="0" y="0"/>
                  <a:pt x="0" y="0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418974" name="Freeform 158"/>
          <p:cNvSpPr>
            <a:spLocks/>
          </p:cNvSpPr>
          <p:nvPr/>
        </p:nvSpPr>
        <p:spPr bwMode="auto">
          <a:xfrm flipV="1">
            <a:off x="3224213" y="4678363"/>
            <a:ext cx="2371725" cy="469900"/>
          </a:xfrm>
          <a:custGeom>
            <a:avLst/>
            <a:gdLst>
              <a:gd name="T0" fmla="*/ 0 w 1494"/>
              <a:gd name="T1" fmla="*/ 0 h 321"/>
              <a:gd name="T2" fmla="*/ 631825 w 1494"/>
              <a:gd name="T3" fmla="*/ 379140 h 321"/>
              <a:gd name="T4" fmla="*/ 2087563 w 1494"/>
              <a:gd name="T5" fmla="*/ 406954 h 321"/>
              <a:gd name="T6" fmla="*/ 2339975 w 1494"/>
              <a:gd name="T7" fmla="*/ 0 h 321"/>
              <a:gd name="T8" fmla="*/ 0 w 1494"/>
              <a:gd name="T9" fmla="*/ 0 h 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94" h="321">
                <a:moveTo>
                  <a:pt x="0" y="0"/>
                </a:moveTo>
                <a:cubicBezTo>
                  <a:pt x="67" y="43"/>
                  <a:pt x="179" y="213"/>
                  <a:pt x="398" y="259"/>
                </a:cubicBezTo>
                <a:cubicBezTo>
                  <a:pt x="617" y="305"/>
                  <a:pt x="1136" y="321"/>
                  <a:pt x="1315" y="278"/>
                </a:cubicBezTo>
                <a:cubicBezTo>
                  <a:pt x="1494" y="235"/>
                  <a:pt x="1441" y="58"/>
                  <a:pt x="1474" y="0"/>
                </a:cubicBezTo>
                <a:cubicBezTo>
                  <a:pt x="1474" y="0"/>
                  <a:pt x="0" y="0"/>
                  <a:pt x="0" y="0"/>
                </a:cubicBezTo>
                <a:close/>
              </a:path>
            </a:pathLst>
          </a:custGeom>
          <a:solidFill>
            <a:srgbClr val="3366FF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418946" name="Oval 130"/>
          <p:cNvSpPr>
            <a:spLocks noChangeArrowheads="1"/>
          </p:cNvSpPr>
          <p:nvPr/>
        </p:nvSpPr>
        <p:spPr bwMode="auto">
          <a:xfrm flipH="1" flipV="1">
            <a:off x="3344863" y="438308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18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4189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418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418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8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8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1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64 -0.00162 L 0.06319 0.00834 L 0.15243 0.00834 L 0.26996 0.01065 L 0.26909 0.225 L -0.23681 0.22616 L -0.2342 0.00718 L -0.07431 0.00834 L -0.00764 -0.00162 Z " pathEditMode="relative" ptsTypes="AAAAAAAAA">
                                      <p:cBhvr>
                                        <p:cTn id="34" dur="3000" fill="hold"/>
                                        <p:tgtEl>
                                          <p:spTgt spid="4189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44444E-6 -4.81481E-6 L 0.04167 -0.01342 L 0.27083 -0.01111 L 0.2691 0.2044 L -0.23507 0.2044 L -0.23333 -0.01111 L -0.0776 -0.01435 L 4.44444E-6 -4.81481E-6 Z " pathEditMode="relative" ptsTypes="AAAAAAAA">
                                      <p:cBhvr>
                                        <p:cTn id="36" dur="3000" fill="hold"/>
                                        <p:tgtEl>
                                          <p:spTgt spid="4189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44444E-6 2.59259E-6 L 0.04253 0.03334 L 0.31007 0.03889 L 0.31007 0.25324 L -0.19497 0.2544 L -0.19236 0.03658 L -0.03403 0.03658 L 4.44444E-6 2.59259E-6 Z " pathEditMode="relative" ptsTypes="AAAAAAAA">
                                      <p:cBhvr>
                                        <p:cTn id="41" dur="3000" fill="hold"/>
                                        <p:tgtEl>
                                          <p:spTgt spid="4189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4.72222E-6 1.11111E-6 L 0.31093 -0.00347 L 0.31093 0.21204 L -0.1941 0.21435 L -0.19254 -0.00347 L 4.72222E-6 1.11111E-6 Z " pathEditMode="relative" ptsTypes="AAAAAA">
                                      <p:cBhvr>
                                        <p:cTn id="43" dur="3000" fill="hold"/>
                                        <p:tgtEl>
                                          <p:spTgt spid="4189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1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repeatCount="indefinite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0.00069 0.00069 L 0.06181 -0.03912 L 0.31024 -0.03472 L 0.30938 0.17755 L -0.19392 0.18079 L -0.19392 -0.03819 L -0.02986 -0.03819 L -0.00069 0.00069 Z " pathEditMode="relative" rAng="0" ptsTypes="AAAAAAAA">
                                      <p:cBhvr>
                                        <p:cTn id="48" dur="3000" fill="hold"/>
                                        <p:tgtEl>
                                          <p:spTgt spid="4189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" y="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947" grpId="0" animBg="1"/>
      <p:bldP spid="418948" grpId="0" animBg="1"/>
      <p:bldP spid="418951" grpId="0" animBg="1"/>
      <p:bldP spid="418952" grpId="0" animBg="1"/>
      <p:bldP spid="418953" grpId="0" animBg="1"/>
      <p:bldP spid="418954" grpId="0" animBg="1"/>
      <p:bldP spid="418973" grpId="0" animBg="1"/>
      <p:bldP spid="418974" grpId="0" animBg="1"/>
      <p:bldP spid="41894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6232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n°3 : Vgs = 0 et Vds &gt; Vp</a:t>
            </a:r>
            <a:endParaRPr lang="fr-FR" altLang="fr-FR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Fonctionnement en </a:t>
            </a:r>
            <a:r>
              <a:rPr lang="fr-FR" altLang="fr-FR" sz="2400">
                <a:solidFill>
                  <a:srgbClr val="FF0000"/>
                </a:solidFill>
              </a:rPr>
              <a:t>zone de saturation</a:t>
            </a:r>
            <a:r>
              <a:rPr lang="fr-FR" altLang="fr-FR" sz="2000"/>
              <a:t> </a:t>
            </a:r>
            <a:endParaRPr lang="fr-FR" altLang="fr-FR" sz="2400">
              <a:solidFill>
                <a:srgbClr val="FF0000"/>
              </a:solidFill>
            </a:endParaRP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 flipV="1">
            <a:off x="1249363" y="3908425"/>
            <a:ext cx="814387" cy="15557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 flipH="1" flipV="1">
            <a:off x="1228725" y="3167063"/>
            <a:ext cx="4763" cy="230822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1230313" y="5470525"/>
            <a:ext cx="2203450" cy="158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2770188" y="5557838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Vds (V)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1212850" y="29845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Id (mA)</a:t>
            </a:r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1235075" y="3378200"/>
            <a:ext cx="2071688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V="1">
            <a:off x="1220788" y="3900488"/>
            <a:ext cx="2127250" cy="158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1235075" y="4425950"/>
            <a:ext cx="2116138" cy="1270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1223963" y="4943475"/>
            <a:ext cx="2165350" cy="476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 flipH="1" flipV="1">
            <a:off x="1847850" y="3167063"/>
            <a:ext cx="15875" cy="2289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 flipH="1" flipV="1">
            <a:off x="2468563" y="3167063"/>
            <a:ext cx="4762" cy="23034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6" name="Line 16"/>
          <p:cNvSpPr>
            <a:spLocks noChangeShapeType="1"/>
          </p:cNvSpPr>
          <p:nvPr/>
        </p:nvSpPr>
        <p:spPr bwMode="auto">
          <a:xfrm flipH="1" flipV="1">
            <a:off x="3087688" y="3167063"/>
            <a:ext cx="6350" cy="23145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2070100" y="4060825"/>
            <a:ext cx="9572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Vgs = 0</a:t>
            </a:r>
          </a:p>
        </p:txBody>
      </p:sp>
      <p:grpSp>
        <p:nvGrpSpPr>
          <p:cNvPr id="420894" name="Group 30"/>
          <p:cNvGrpSpPr>
            <a:grpSpLocks/>
          </p:cNvGrpSpPr>
          <p:nvPr/>
        </p:nvGrpSpPr>
        <p:grpSpPr bwMode="auto">
          <a:xfrm>
            <a:off x="4316413" y="3179763"/>
            <a:ext cx="4381500" cy="1349375"/>
            <a:chOff x="2719" y="2003"/>
            <a:chExt cx="2760" cy="850"/>
          </a:xfrm>
        </p:grpSpPr>
        <p:sp>
          <p:nvSpPr>
            <p:cNvPr id="35867" name="Rectangle 19"/>
            <p:cNvSpPr>
              <a:spLocks noChangeArrowheads="1"/>
            </p:cNvSpPr>
            <p:nvPr/>
          </p:nvSpPr>
          <p:spPr bwMode="auto">
            <a:xfrm>
              <a:off x="2719" y="2003"/>
              <a:ext cx="2760" cy="850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5868" name="Text Box 20"/>
            <p:cNvSpPr txBox="1">
              <a:spLocks noChangeArrowheads="1"/>
            </p:cNvSpPr>
            <p:nvPr/>
          </p:nvSpPr>
          <p:spPr bwMode="auto">
            <a:xfrm>
              <a:off x="2788" y="2060"/>
              <a:ext cx="2651" cy="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400">
                  <a:solidFill>
                    <a:srgbClr val="FF0000"/>
                  </a:solidFill>
                </a:rPr>
                <a:t>Id</a:t>
              </a:r>
              <a:r>
                <a:rPr lang="fr-FR" altLang="fr-FR" sz="2000"/>
                <a:t> est </a:t>
              </a:r>
              <a:r>
                <a:rPr lang="fr-FR" altLang="fr-FR" sz="2400">
                  <a:solidFill>
                    <a:srgbClr val="FF0000"/>
                  </a:solidFill>
                </a:rPr>
                <a:t>constant</a:t>
              </a:r>
              <a:r>
                <a:rPr lang="fr-FR" altLang="fr-FR" sz="2000"/>
                <a:t> car il existe un </a:t>
              </a:r>
              <a:r>
                <a:rPr lang="fr-FR" altLang="fr-FR" sz="2400">
                  <a:solidFill>
                    <a:srgbClr val="FF0000"/>
                  </a:solidFill>
                </a:rPr>
                <a:t>canal minimal</a:t>
              </a:r>
              <a:r>
                <a:rPr lang="fr-FR" altLang="fr-FR" sz="2000"/>
                <a:t> laissant passer les porteurs</a:t>
              </a:r>
            </a:p>
          </p:txBody>
        </p:sp>
      </p:grpSp>
      <p:grpSp>
        <p:nvGrpSpPr>
          <p:cNvPr id="420885" name="Group 21"/>
          <p:cNvGrpSpPr>
            <a:grpSpLocks/>
          </p:cNvGrpSpPr>
          <p:nvPr/>
        </p:nvGrpSpPr>
        <p:grpSpPr bwMode="auto">
          <a:xfrm>
            <a:off x="4308475" y="5519738"/>
            <a:ext cx="4389438" cy="882650"/>
            <a:chOff x="2714" y="3477"/>
            <a:chExt cx="2765" cy="556"/>
          </a:xfrm>
        </p:grpSpPr>
        <p:sp>
          <p:nvSpPr>
            <p:cNvPr id="35862" name="Rectangle 22"/>
            <p:cNvSpPr>
              <a:spLocks noChangeArrowheads="1"/>
            </p:cNvSpPr>
            <p:nvPr/>
          </p:nvSpPr>
          <p:spPr bwMode="auto">
            <a:xfrm>
              <a:off x="2739" y="3500"/>
              <a:ext cx="2740" cy="511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5863" name="Text Box 23"/>
            <p:cNvSpPr txBox="1">
              <a:spLocks noChangeArrowheads="1"/>
            </p:cNvSpPr>
            <p:nvPr/>
          </p:nvSpPr>
          <p:spPr bwMode="auto">
            <a:xfrm>
              <a:off x="3582" y="3515"/>
              <a:ext cx="185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Que se passe t’il si on fait</a:t>
              </a:r>
              <a:r>
                <a:rPr lang="fr-FR" altLang="fr-FR" sz="2400">
                  <a:solidFill>
                    <a:srgbClr val="FF0000"/>
                  </a:solidFill>
                </a:rPr>
                <a:t> varier</a:t>
              </a:r>
              <a:r>
                <a:rPr lang="fr-FR" altLang="fr-FR" sz="2000"/>
                <a:t> </a:t>
              </a:r>
              <a:r>
                <a:rPr lang="fr-FR" altLang="fr-FR" sz="2400">
                  <a:solidFill>
                    <a:srgbClr val="FF0000"/>
                  </a:solidFill>
                </a:rPr>
                <a:t>Vgs</a:t>
              </a:r>
              <a:r>
                <a:rPr lang="fr-FR" altLang="fr-FR" sz="2000"/>
                <a:t> ?</a:t>
              </a:r>
              <a:endParaRPr lang="fr-FR" altLang="fr-FR" sz="2400">
                <a:solidFill>
                  <a:srgbClr val="FF0000"/>
                </a:solidFill>
              </a:endParaRPr>
            </a:p>
          </p:txBody>
        </p:sp>
        <p:grpSp>
          <p:nvGrpSpPr>
            <p:cNvPr id="35864" name="Group 24"/>
            <p:cNvGrpSpPr>
              <a:grpSpLocks/>
            </p:cNvGrpSpPr>
            <p:nvPr/>
          </p:nvGrpSpPr>
          <p:grpSpPr bwMode="auto">
            <a:xfrm>
              <a:off x="2714" y="3477"/>
              <a:ext cx="856" cy="556"/>
              <a:chOff x="718" y="1053"/>
              <a:chExt cx="856" cy="556"/>
            </a:xfrm>
          </p:grpSpPr>
          <p:sp>
            <p:nvSpPr>
              <p:cNvPr id="35865" name="AutoShape 25"/>
              <p:cNvSpPr>
                <a:spLocks noChangeArrowheads="1"/>
              </p:cNvSpPr>
              <p:nvPr/>
            </p:nvSpPr>
            <p:spPr bwMode="auto">
              <a:xfrm rot="-1385031">
                <a:off x="718" y="1053"/>
                <a:ext cx="856" cy="556"/>
              </a:xfrm>
              <a:prstGeom prst="irregularSeal1">
                <a:avLst/>
              </a:prstGeom>
              <a:solidFill>
                <a:srgbClr val="3366FF">
                  <a:alpha val="70195"/>
                </a:srgbClr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35866" name="Text Box 26"/>
              <p:cNvSpPr txBox="1">
                <a:spLocks noChangeArrowheads="1"/>
              </p:cNvSpPr>
              <p:nvPr/>
            </p:nvSpPr>
            <p:spPr bwMode="auto">
              <a:xfrm rot="-1385031">
                <a:off x="889" y="1235"/>
                <a:ext cx="514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fr-FR" altLang="fr-FR" sz="1400" b="1">
                    <a:solidFill>
                      <a:srgbClr val="FFFF66"/>
                    </a:solidFill>
                  </a:rPr>
                  <a:t>QUIZZ</a:t>
                </a:r>
              </a:p>
            </p:txBody>
          </p:sp>
        </p:grpSp>
      </p:grpSp>
      <p:sp>
        <p:nvSpPr>
          <p:cNvPr id="35860" name="Freeform 27"/>
          <p:cNvSpPr>
            <a:spLocks/>
          </p:cNvSpPr>
          <p:nvPr/>
        </p:nvSpPr>
        <p:spPr bwMode="auto">
          <a:xfrm>
            <a:off x="2049463" y="3692525"/>
            <a:ext cx="533400" cy="233363"/>
          </a:xfrm>
          <a:custGeom>
            <a:avLst/>
            <a:gdLst>
              <a:gd name="T0" fmla="*/ 0 w 336"/>
              <a:gd name="T1" fmla="*/ 233363 h 147"/>
              <a:gd name="T2" fmla="*/ 141288 w 336"/>
              <a:gd name="T3" fmla="*/ 101600 h 147"/>
              <a:gd name="T4" fmla="*/ 323850 w 336"/>
              <a:gd name="T5" fmla="*/ 22225 h 147"/>
              <a:gd name="T6" fmla="*/ 533400 w 336"/>
              <a:gd name="T7" fmla="*/ 0 h 14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6" h="147">
                <a:moveTo>
                  <a:pt x="0" y="147"/>
                </a:moveTo>
                <a:cubicBezTo>
                  <a:pt x="15" y="133"/>
                  <a:pt x="55" y="86"/>
                  <a:pt x="89" y="64"/>
                </a:cubicBezTo>
                <a:cubicBezTo>
                  <a:pt x="123" y="42"/>
                  <a:pt x="163" y="25"/>
                  <a:pt x="204" y="14"/>
                </a:cubicBezTo>
                <a:cubicBezTo>
                  <a:pt x="245" y="3"/>
                  <a:pt x="309" y="3"/>
                  <a:pt x="336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420892" name="Line 28"/>
          <p:cNvSpPr>
            <a:spLocks noChangeShapeType="1"/>
          </p:cNvSpPr>
          <p:nvPr/>
        </p:nvSpPr>
        <p:spPr bwMode="auto">
          <a:xfrm>
            <a:off x="2555875" y="3687763"/>
            <a:ext cx="6508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2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9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6869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1711325" y="3589338"/>
            <a:ext cx="928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&lt; 0</a:t>
            </a:r>
          </a:p>
        </p:txBody>
      </p:sp>
      <p:sp>
        <p:nvSpPr>
          <p:cNvPr id="36877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1963738" y="5211763"/>
            <a:ext cx="94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&gt; 0</a:t>
            </a: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36883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37014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015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6884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61452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n°4 : Vgs &lt; 0 et Vds &gt;= 0</a:t>
            </a:r>
            <a:endParaRPr lang="fr-FR" altLang="fr-FR"/>
          </a:p>
        </p:txBody>
      </p:sp>
      <p:grpSp>
        <p:nvGrpSpPr>
          <p:cNvPr id="36885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37012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7013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6886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87" name="Rectangle 27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6888" name="Line 28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889" name="Text Box 29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6890" name="Text Box 30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36891" name="Text Box 31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6892" name="Line 32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6893" name="Group 33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36992" name="Group 34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7008" name="Group 3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7010" name="Picture 3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011" name="Line 3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009" name="Oval 3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93" name="Group 39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7004" name="Group 4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7006" name="Picture 4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007" name="Line 4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005" name="Oval 4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94" name="Group 44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7000" name="Group 4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7002" name="Picture 4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003" name="Line 4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001" name="Oval 4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95" name="Group 49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6996" name="Group 5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6998" name="Picture 5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99" name="Line 5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97" name="Oval 5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6894" name="Group 54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36972" name="Group 55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6988" name="Group 5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6990" name="Picture 5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91" name="Line 5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89" name="Oval 5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73" name="Group 60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6984" name="Group 6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6986" name="Picture 6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87" name="Line 6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85" name="Oval 6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74" name="Group 65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6980" name="Group 6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6982" name="Picture 6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83" name="Line 6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81" name="Oval 6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75" name="Group 70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6976" name="Group 7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6978" name="Picture 7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79" name="Line 7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77" name="Oval 7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36895" name="Text Box 137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36896" name="Text Box 138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36897" name="Group 139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36970" name="Rectangle 140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6971" name="Picture 141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6898" name="Rectangle 142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6899" name="Text Box 143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Vgs</a:t>
            </a:r>
            <a:r>
              <a:rPr lang="fr-FR" altLang="fr-FR" sz="2400">
                <a:solidFill>
                  <a:srgbClr val="FF0000"/>
                </a:solidFill>
              </a:rPr>
              <a:t> influence</a:t>
            </a:r>
            <a:r>
              <a:rPr lang="fr-FR" altLang="fr-FR" sz="2000"/>
              <a:t> la </a:t>
            </a:r>
            <a:r>
              <a:rPr lang="fr-FR" altLang="fr-FR" sz="2400">
                <a:solidFill>
                  <a:srgbClr val="FF0000"/>
                </a:solidFill>
              </a:rPr>
              <a:t>taille du canal</a:t>
            </a:r>
            <a:r>
              <a:rPr lang="fr-FR" altLang="fr-FR" sz="2000"/>
              <a:t> indépendamment de Vds </a:t>
            </a:r>
            <a:endParaRPr lang="fr-FR" altLang="fr-FR" sz="2400">
              <a:solidFill>
                <a:srgbClr val="FF0000"/>
              </a:solidFill>
            </a:endParaRPr>
          </a:p>
        </p:txBody>
      </p:sp>
      <p:grpSp>
        <p:nvGrpSpPr>
          <p:cNvPr id="36900" name="Group 161"/>
          <p:cNvGrpSpPr>
            <a:grpSpLocks/>
          </p:cNvGrpSpPr>
          <p:nvPr/>
        </p:nvGrpSpPr>
        <p:grpSpPr bwMode="auto">
          <a:xfrm>
            <a:off x="6775450" y="3009900"/>
            <a:ext cx="1922463" cy="568325"/>
            <a:chOff x="4268" y="1896"/>
            <a:chExt cx="1211" cy="358"/>
          </a:xfrm>
        </p:grpSpPr>
        <p:sp>
          <p:nvSpPr>
            <p:cNvPr id="36968" name="Rectangle 145"/>
            <p:cNvSpPr>
              <a:spLocks noChangeArrowheads="1"/>
            </p:cNvSpPr>
            <p:nvPr/>
          </p:nvSpPr>
          <p:spPr bwMode="auto">
            <a:xfrm>
              <a:off x="4268" y="1896"/>
              <a:ext cx="1211" cy="358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6969" name="Text Box 146"/>
            <p:cNvSpPr txBox="1">
              <a:spLocks noChangeArrowheads="1"/>
            </p:cNvSpPr>
            <p:nvPr/>
          </p:nvSpPr>
          <p:spPr bwMode="auto">
            <a:xfrm>
              <a:off x="4382" y="1970"/>
              <a:ext cx="956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Vgs = 0 V</a:t>
              </a:r>
              <a:endParaRPr lang="fr-FR" altLang="fr-FR" sz="2000">
                <a:solidFill>
                  <a:srgbClr val="FF0000"/>
                </a:solidFill>
              </a:endParaRPr>
            </a:p>
          </p:txBody>
        </p:sp>
      </p:grpSp>
      <p:sp>
        <p:nvSpPr>
          <p:cNvPr id="422047" name="Rectangle 159"/>
          <p:cNvSpPr>
            <a:spLocks noChangeArrowheads="1"/>
          </p:cNvSpPr>
          <p:nvPr/>
        </p:nvSpPr>
        <p:spPr bwMode="auto">
          <a:xfrm>
            <a:off x="3225800" y="4241800"/>
            <a:ext cx="2354263" cy="173038"/>
          </a:xfrm>
          <a:prstGeom prst="rect">
            <a:avLst/>
          </a:prstGeom>
          <a:solidFill>
            <a:srgbClr val="00CC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22048" name="Rectangle 160"/>
          <p:cNvSpPr>
            <a:spLocks noChangeArrowheads="1"/>
          </p:cNvSpPr>
          <p:nvPr/>
        </p:nvSpPr>
        <p:spPr bwMode="auto">
          <a:xfrm>
            <a:off x="3225800" y="4964113"/>
            <a:ext cx="2354263" cy="173037"/>
          </a:xfrm>
          <a:prstGeom prst="rect">
            <a:avLst/>
          </a:prstGeom>
          <a:solidFill>
            <a:srgbClr val="00CC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422056" name="Group 168"/>
          <p:cNvGrpSpPr>
            <a:grpSpLocks/>
          </p:cNvGrpSpPr>
          <p:nvPr/>
        </p:nvGrpSpPr>
        <p:grpSpPr bwMode="auto">
          <a:xfrm>
            <a:off x="6846888" y="4141788"/>
            <a:ext cx="1922462" cy="568325"/>
            <a:chOff x="4313" y="2609"/>
            <a:chExt cx="1211" cy="358"/>
          </a:xfrm>
        </p:grpSpPr>
        <p:sp>
          <p:nvSpPr>
            <p:cNvPr id="36966" name="Rectangle 163"/>
            <p:cNvSpPr>
              <a:spLocks noChangeArrowheads="1"/>
            </p:cNvSpPr>
            <p:nvPr/>
          </p:nvSpPr>
          <p:spPr bwMode="auto">
            <a:xfrm>
              <a:off x="4313" y="2609"/>
              <a:ext cx="1211" cy="358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6967" name="Text Box 164"/>
            <p:cNvSpPr txBox="1">
              <a:spLocks noChangeArrowheads="1"/>
            </p:cNvSpPr>
            <p:nvPr/>
          </p:nvSpPr>
          <p:spPr bwMode="auto">
            <a:xfrm>
              <a:off x="4427" y="2683"/>
              <a:ext cx="956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Vgs = -0.5 V</a:t>
              </a:r>
              <a:endParaRPr lang="fr-FR" altLang="fr-FR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421963" name="Group 75"/>
          <p:cNvGrpSpPr>
            <a:grpSpLocks/>
          </p:cNvGrpSpPr>
          <p:nvPr/>
        </p:nvGrpSpPr>
        <p:grpSpPr bwMode="auto">
          <a:xfrm>
            <a:off x="3094038" y="4287838"/>
            <a:ext cx="2490787" cy="230187"/>
            <a:chOff x="1711" y="2655"/>
            <a:chExt cx="1569" cy="145"/>
          </a:xfrm>
        </p:grpSpPr>
        <p:grpSp>
          <p:nvGrpSpPr>
            <p:cNvPr id="36936" name="Group 76"/>
            <p:cNvGrpSpPr>
              <a:grpSpLocks/>
            </p:cNvGrpSpPr>
            <p:nvPr/>
          </p:nvGrpSpPr>
          <p:grpSpPr bwMode="auto">
            <a:xfrm>
              <a:off x="1711" y="2655"/>
              <a:ext cx="205" cy="144"/>
              <a:chOff x="2553" y="2692"/>
              <a:chExt cx="205" cy="144"/>
            </a:xfrm>
          </p:grpSpPr>
          <p:grpSp>
            <p:nvGrpSpPr>
              <p:cNvPr id="36961" name="Group 77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63" name="Picture 78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64" name="Line 79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65" name="Line 80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62" name="Oval 81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37" name="Group 82"/>
            <p:cNvGrpSpPr>
              <a:grpSpLocks/>
            </p:cNvGrpSpPr>
            <p:nvPr/>
          </p:nvGrpSpPr>
          <p:grpSpPr bwMode="auto">
            <a:xfrm>
              <a:off x="2052" y="2656"/>
              <a:ext cx="205" cy="144"/>
              <a:chOff x="2553" y="2692"/>
              <a:chExt cx="205" cy="144"/>
            </a:xfrm>
          </p:grpSpPr>
          <p:grpSp>
            <p:nvGrpSpPr>
              <p:cNvPr id="36956" name="Group 83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58" name="Picture 84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59" name="Line 85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60" name="Line 86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57" name="Oval 87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38" name="Group 88"/>
            <p:cNvGrpSpPr>
              <a:grpSpLocks/>
            </p:cNvGrpSpPr>
            <p:nvPr/>
          </p:nvGrpSpPr>
          <p:grpSpPr bwMode="auto">
            <a:xfrm>
              <a:off x="2393" y="2656"/>
              <a:ext cx="205" cy="144"/>
              <a:chOff x="2553" y="2692"/>
              <a:chExt cx="205" cy="144"/>
            </a:xfrm>
          </p:grpSpPr>
          <p:grpSp>
            <p:nvGrpSpPr>
              <p:cNvPr id="36951" name="Group 89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53" name="Picture 90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54" name="Line 91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55" name="Line 92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52" name="Oval 93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39" name="Group 94"/>
            <p:cNvGrpSpPr>
              <a:grpSpLocks/>
            </p:cNvGrpSpPr>
            <p:nvPr/>
          </p:nvGrpSpPr>
          <p:grpSpPr bwMode="auto">
            <a:xfrm>
              <a:off x="2734" y="2656"/>
              <a:ext cx="205" cy="144"/>
              <a:chOff x="2553" y="2692"/>
              <a:chExt cx="205" cy="144"/>
            </a:xfrm>
          </p:grpSpPr>
          <p:grpSp>
            <p:nvGrpSpPr>
              <p:cNvPr id="36946" name="Group 95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48" name="Picture 96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49" name="Line 97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50" name="Line 98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47" name="Oval 99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40" name="Group 100"/>
            <p:cNvGrpSpPr>
              <a:grpSpLocks/>
            </p:cNvGrpSpPr>
            <p:nvPr/>
          </p:nvGrpSpPr>
          <p:grpSpPr bwMode="auto">
            <a:xfrm>
              <a:off x="3075" y="2655"/>
              <a:ext cx="205" cy="144"/>
              <a:chOff x="2553" y="2692"/>
              <a:chExt cx="205" cy="144"/>
            </a:xfrm>
          </p:grpSpPr>
          <p:grpSp>
            <p:nvGrpSpPr>
              <p:cNvPr id="36941" name="Group 101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43" name="Picture 102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44" name="Line 103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45" name="Line 104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42" name="Oval 105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421994" name="Group 106"/>
          <p:cNvGrpSpPr>
            <a:grpSpLocks/>
          </p:cNvGrpSpPr>
          <p:nvPr/>
        </p:nvGrpSpPr>
        <p:grpSpPr bwMode="auto">
          <a:xfrm>
            <a:off x="3094038" y="4879975"/>
            <a:ext cx="2490787" cy="230188"/>
            <a:chOff x="1754" y="2976"/>
            <a:chExt cx="1569" cy="145"/>
          </a:xfrm>
        </p:grpSpPr>
        <p:grpSp>
          <p:nvGrpSpPr>
            <p:cNvPr id="36906" name="Group 107"/>
            <p:cNvGrpSpPr>
              <a:grpSpLocks/>
            </p:cNvGrpSpPr>
            <p:nvPr/>
          </p:nvGrpSpPr>
          <p:grpSpPr bwMode="auto">
            <a:xfrm>
              <a:off x="1754" y="2976"/>
              <a:ext cx="205" cy="144"/>
              <a:chOff x="2553" y="2692"/>
              <a:chExt cx="205" cy="144"/>
            </a:xfrm>
          </p:grpSpPr>
          <p:grpSp>
            <p:nvGrpSpPr>
              <p:cNvPr id="36931" name="Group 108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33" name="Picture 109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34" name="Line 110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35" name="Line 111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32" name="Oval 112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07" name="Group 113"/>
            <p:cNvGrpSpPr>
              <a:grpSpLocks/>
            </p:cNvGrpSpPr>
            <p:nvPr/>
          </p:nvGrpSpPr>
          <p:grpSpPr bwMode="auto">
            <a:xfrm>
              <a:off x="2095" y="2977"/>
              <a:ext cx="205" cy="144"/>
              <a:chOff x="2553" y="2692"/>
              <a:chExt cx="205" cy="144"/>
            </a:xfrm>
          </p:grpSpPr>
          <p:grpSp>
            <p:nvGrpSpPr>
              <p:cNvPr id="36926" name="Group 114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28" name="Picture 115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29" name="Line 116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30" name="Line 117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27" name="Oval 118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08" name="Group 119"/>
            <p:cNvGrpSpPr>
              <a:grpSpLocks/>
            </p:cNvGrpSpPr>
            <p:nvPr/>
          </p:nvGrpSpPr>
          <p:grpSpPr bwMode="auto">
            <a:xfrm>
              <a:off x="2436" y="2977"/>
              <a:ext cx="205" cy="144"/>
              <a:chOff x="2553" y="2692"/>
              <a:chExt cx="205" cy="144"/>
            </a:xfrm>
          </p:grpSpPr>
          <p:grpSp>
            <p:nvGrpSpPr>
              <p:cNvPr id="36921" name="Group 120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23" name="Picture 121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24" name="Line 122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25" name="Line 123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22" name="Oval 124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09" name="Group 125"/>
            <p:cNvGrpSpPr>
              <a:grpSpLocks/>
            </p:cNvGrpSpPr>
            <p:nvPr/>
          </p:nvGrpSpPr>
          <p:grpSpPr bwMode="auto">
            <a:xfrm>
              <a:off x="2777" y="2977"/>
              <a:ext cx="205" cy="144"/>
              <a:chOff x="2553" y="2692"/>
              <a:chExt cx="205" cy="144"/>
            </a:xfrm>
          </p:grpSpPr>
          <p:grpSp>
            <p:nvGrpSpPr>
              <p:cNvPr id="36916" name="Group 126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18" name="Picture 127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19" name="Line 128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20" name="Line 129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17" name="Oval 130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6910" name="Group 131"/>
            <p:cNvGrpSpPr>
              <a:grpSpLocks/>
            </p:cNvGrpSpPr>
            <p:nvPr/>
          </p:nvGrpSpPr>
          <p:grpSpPr bwMode="auto">
            <a:xfrm>
              <a:off x="3118" y="2976"/>
              <a:ext cx="205" cy="144"/>
              <a:chOff x="2553" y="2692"/>
              <a:chExt cx="205" cy="144"/>
            </a:xfrm>
          </p:grpSpPr>
          <p:grpSp>
            <p:nvGrpSpPr>
              <p:cNvPr id="36911" name="Group 132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6913" name="Picture 133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6914" name="Line 134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6915" name="Line 135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6912" name="Oval 136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00092 C 8.33333E-7 0.00116 8.33333E-7 0.00972 8.33333E-7 0.0189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219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42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42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0.00046 C 8.33333E-7 -0.00949 8.33333E-7 -0.01805 8.33333E-7 -0.021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219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047" grpId="0" animBg="1"/>
      <p:bldP spid="42204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2"/>
          <p:cNvSpPr>
            <a:spLocks noChangeShapeType="1"/>
          </p:cNvSpPr>
          <p:nvPr/>
        </p:nvSpPr>
        <p:spPr bwMode="auto">
          <a:xfrm flipH="1" flipV="1">
            <a:off x="1196975" y="4673600"/>
            <a:ext cx="2222500" cy="2063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028950" y="3402013"/>
            <a:ext cx="2735263" cy="2579687"/>
          </a:xfrm>
          <a:prstGeom prst="rect">
            <a:avLst/>
          </a:prstGeom>
          <a:solidFill>
            <a:srgbClr val="00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00FF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3225800" y="5137150"/>
            <a:ext cx="2354263" cy="842963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7893" name="Freeform 5"/>
          <p:cNvSpPr>
            <a:spLocks/>
          </p:cNvSpPr>
          <p:nvPr/>
        </p:nvSpPr>
        <p:spPr bwMode="auto">
          <a:xfrm>
            <a:off x="3227388" y="2760663"/>
            <a:ext cx="2968625" cy="650875"/>
          </a:xfrm>
          <a:custGeom>
            <a:avLst/>
            <a:gdLst>
              <a:gd name="T0" fmla="*/ 0 w 1870"/>
              <a:gd name="T1" fmla="*/ 650875 h 410"/>
              <a:gd name="T2" fmla="*/ 639763 w 1870"/>
              <a:gd name="T3" fmla="*/ 3175 h 410"/>
              <a:gd name="T4" fmla="*/ 2968625 w 1870"/>
              <a:gd name="T5" fmla="*/ 0 h 410"/>
              <a:gd name="T6" fmla="*/ 2347913 w 1870"/>
              <a:gd name="T7" fmla="*/ 635000 h 410"/>
              <a:gd name="T8" fmla="*/ 0 w 1870"/>
              <a:gd name="T9" fmla="*/ 650875 h 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70" h="410">
                <a:moveTo>
                  <a:pt x="0" y="410"/>
                </a:moveTo>
                <a:lnTo>
                  <a:pt x="403" y="2"/>
                </a:lnTo>
                <a:lnTo>
                  <a:pt x="1870" y="0"/>
                </a:lnTo>
                <a:lnTo>
                  <a:pt x="1479" y="400"/>
                </a:lnTo>
                <a:lnTo>
                  <a:pt x="0" y="410"/>
                </a:lnTo>
                <a:close/>
              </a:path>
            </a:pathLst>
          </a:custGeom>
          <a:solidFill>
            <a:srgbClr val="000080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2079625" y="4343400"/>
            <a:ext cx="9350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Source</a:t>
            </a: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3225800" y="3403600"/>
            <a:ext cx="2354263" cy="835025"/>
          </a:xfrm>
          <a:prstGeom prst="rect">
            <a:avLst/>
          </a:prstGeom>
          <a:solidFill>
            <a:srgbClr val="3366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3440113" y="3402013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2943225" y="5691188"/>
            <a:ext cx="3667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 flipH="1">
            <a:off x="1593850" y="6157913"/>
            <a:ext cx="4633913" cy="14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1722438" y="3397250"/>
            <a:ext cx="1587" cy="7715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711325" y="3589338"/>
            <a:ext cx="9286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FF3399"/>
                </a:solidFill>
              </a:rPr>
              <a:t>Vgs &lt; 0</a:t>
            </a:r>
          </a:p>
        </p:txBody>
      </p:sp>
      <p:sp>
        <p:nvSpPr>
          <p:cNvPr id="37901" name="Freeform 13"/>
          <p:cNvSpPr>
            <a:spLocks/>
          </p:cNvSpPr>
          <p:nvPr/>
        </p:nvSpPr>
        <p:spPr bwMode="auto">
          <a:xfrm>
            <a:off x="3441700" y="2763838"/>
            <a:ext cx="2544763" cy="646112"/>
          </a:xfrm>
          <a:custGeom>
            <a:avLst/>
            <a:gdLst>
              <a:gd name="T0" fmla="*/ 0 w 1603"/>
              <a:gd name="T1" fmla="*/ 646112 h 407"/>
              <a:gd name="T2" fmla="*/ 647700 w 1603"/>
              <a:gd name="T3" fmla="*/ 0 h 407"/>
              <a:gd name="T4" fmla="*/ 2544763 w 1603"/>
              <a:gd name="T5" fmla="*/ 0 h 407"/>
              <a:gd name="T6" fmla="*/ 1930400 w 1603"/>
              <a:gd name="T7" fmla="*/ 635000 h 407"/>
              <a:gd name="T8" fmla="*/ 0 w 1603"/>
              <a:gd name="T9" fmla="*/ 646112 h 4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03" h="407">
                <a:moveTo>
                  <a:pt x="0" y="407"/>
                </a:moveTo>
                <a:lnTo>
                  <a:pt x="408" y="0"/>
                </a:lnTo>
                <a:lnTo>
                  <a:pt x="1603" y="0"/>
                </a:lnTo>
                <a:lnTo>
                  <a:pt x="1216" y="400"/>
                </a:lnTo>
                <a:lnTo>
                  <a:pt x="0" y="407"/>
                </a:lnTo>
                <a:close/>
              </a:path>
            </a:pathLst>
          </a:custGeom>
          <a:solidFill>
            <a:srgbClr val="990033"/>
          </a:solidFill>
          <a:ln w="381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endParaRPr lang="fr-FR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 flipH="1">
            <a:off x="1592263" y="2895600"/>
            <a:ext cx="30940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V="1">
            <a:off x="1614488" y="2895600"/>
            <a:ext cx="0" cy="32956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2049463" y="5226050"/>
            <a:ext cx="774700" cy="1588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1963738" y="5211763"/>
            <a:ext cx="94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rgbClr val="33CC33"/>
                </a:solidFill>
              </a:rPr>
              <a:t>Vds &gt; 0</a:t>
            </a: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5695950" y="4310063"/>
            <a:ext cx="758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/>
              <a:t>Drain</a:t>
            </a:r>
          </a:p>
        </p:txBody>
      </p:sp>
      <p:grpSp>
        <p:nvGrpSpPr>
          <p:cNvPr id="37907" name="Group 19"/>
          <p:cNvGrpSpPr>
            <a:grpSpLocks/>
          </p:cNvGrpSpPr>
          <p:nvPr/>
        </p:nvGrpSpPr>
        <p:grpSpPr bwMode="auto">
          <a:xfrm>
            <a:off x="1006475" y="4676775"/>
            <a:ext cx="444500" cy="568325"/>
            <a:chOff x="655" y="3655"/>
            <a:chExt cx="280" cy="358"/>
          </a:xfrm>
        </p:grpSpPr>
        <p:sp>
          <p:nvSpPr>
            <p:cNvPr id="38044" name="Line 20"/>
            <p:cNvSpPr>
              <a:spLocks noChangeShapeType="1"/>
            </p:cNvSpPr>
            <p:nvPr/>
          </p:nvSpPr>
          <p:spPr bwMode="auto">
            <a:xfrm>
              <a:off x="787" y="3655"/>
              <a:ext cx="0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045" name="AutoShape 21" descr="blanc)"/>
            <p:cNvSpPr>
              <a:spLocks noChangeArrowheads="1"/>
            </p:cNvSpPr>
            <p:nvPr/>
          </p:nvSpPr>
          <p:spPr bwMode="auto">
            <a:xfrm flipV="1">
              <a:off x="655" y="3818"/>
              <a:ext cx="280" cy="195"/>
            </a:xfrm>
            <a:prstGeom prst="triangle">
              <a:avLst>
                <a:gd name="adj" fmla="val 50000"/>
              </a:avLst>
            </a:prstGeom>
            <a:pattFill prst="dkHorz">
              <a:fgClr>
                <a:schemeClr val="tx1"/>
              </a:fgClr>
              <a:bgClr>
                <a:schemeClr val="bg1"/>
              </a:bgClr>
            </a:patt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7908" name="Text Box 22"/>
          <p:cNvSpPr txBox="1">
            <a:spLocks noChangeArrowheads="1"/>
          </p:cNvSpPr>
          <p:nvPr/>
        </p:nvSpPr>
        <p:spPr bwMode="auto">
          <a:xfrm>
            <a:off x="1406525" y="717550"/>
            <a:ext cx="61452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n°4 : Vgs &lt; 0 et Vds &gt;= 0</a:t>
            </a:r>
            <a:endParaRPr lang="fr-FR" altLang="fr-FR"/>
          </a:p>
        </p:txBody>
      </p:sp>
      <p:grpSp>
        <p:nvGrpSpPr>
          <p:cNvPr id="37909" name="Group 23"/>
          <p:cNvGrpSpPr>
            <a:grpSpLocks/>
          </p:cNvGrpSpPr>
          <p:nvPr/>
        </p:nvGrpSpPr>
        <p:grpSpPr bwMode="auto">
          <a:xfrm>
            <a:off x="1733550" y="5573713"/>
            <a:ext cx="1514475" cy="677862"/>
            <a:chOff x="963" y="1385"/>
            <a:chExt cx="954" cy="427"/>
          </a:xfrm>
        </p:grpSpPr>
        <p:sp>
          <p:nvSpPr>
            <p:cNvPr id="38042" name="Rectangle 24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8043" name="Picture 2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7910" name="Line 26"/>
          <p:cNvSpPr>
            <a:spLocks noChangeShapeType="1"/>
          </p:cNvSpPr>
          <p:nvPr/>
        </p:nvSpPr>
        <p:spPr bwMode="auto">
          <a:xfrm flipV="1">
            <a:off x="6223000" y="4672013"/>
            <a:ext cx="4763" cy="15033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11" name="Rectangle 27"/>
          <p:cNvSpPr>
            <a:spLocks noChangeArrowheads="1"/>
          </p:cNvSpPr>
          <p:nvPr/>
        </p:nvSpPr>
        <p:spPr bwMode="auto">
          <a:xfrm>
            <a:off x="3440113" y="5462588"/>
            <a:ext cx="1920875" cy="528637"/>
          </a:xfrm>
          <a:prstGeom prst="rect">
            <a:avLst/>
          </a:prstGeom>
          <a:solidFill>
            <a:srgbClr val="CC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fr-FR" altLang="fr-FR">
              <a:solidFill>
                <a:srgbClr val="FF9999"/>
              </a:solidFill>
            </a:endParaRPr>
          </a:p>
        </p:txBody>
      </p:sp>
      <p:sp>
        <p:nvSpPr>
          <p:cNvPr id="37912" name="Line 28"/>
          <p:cNvSpPr>
            <a:spLocks noChangeShapeType="1"/>
          </p:cNvSpPr>
          <p:nvPr/>
        </p:nvSpPr>
        <p:spPr bwMode="auto">
          <a:xfrm flipH="1" flipV="1">
            <a:off x="6035675" y="4689475"/>
            <a:ext cx="209550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913" name="Text Box 29"/>
          <p:cNvSpPr txBox="1">
            <a:spLocks noChangeArrowheads="1"/>
          </p:cNvSpPr>
          <p:nvPr/>
        </p:nvSpPr>
        <p:spPr bwMode="auto">
          <a:xfrm>
            <a:off x="3454400" y="5630863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7914" name="Text Box 30"/>
          <p:cNvSpPr txBox="1">
            <a:spLocks noChangeArrowheads="1"/>
          </p:cNvSpPr>
          <p:nvPr/>
        </p:nvSpPr>
        <p:spPr bwMode="auto">
          <a:xfrm>
            <a:off x="3911600" y="2887663"/>
            <a:ext cx="76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Grille</a:t>
            </a:r>
          </a:p>
        </p:txBody>
      </p:sp>
      <p:sp>
        <p:nvSpPr>
          <p:cNvPr id="37915" name="Text Box 31"/>
          <p:cNvSpPr txBox="1">
            <a:spLocks noChangeArrowheads="1"/>
          </p:cNvSpPr>
          <p:nvPr/>
        </p:nvSpPr>
        <p:spPr bwMode="auto">
          <a:xfrm>
            <a:off x="3454400" y="3379788"/>
            <a:ext cx="3032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7916" name="Line 32"/>
          <p:cNvSpPr>
            <a:spLocks noChangeShapeType="1"/>
          </p:cNvSpPr>
          <p:nvPr/>
        </p:nvSpPr>
        <p:spPr bwMode="auto">
          <a:xfrm flipV="1">
            <a:off x="4683125" y="2886075"/>
            <a:ext cx="3175" cy="255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7917" name="Group 33"/>
          <p:cNvGrpSpPr>
            <a:grpSpLocks/>
          </p:cNvGrpSpPr>
          <p:nvPr/>
        </p:nvGrpSpPr>
        <p:grpSpPr bwMode="auto">
          <a:xfrm>
            <a:off x="3475038" y="3643313"/>
            <a:ext cx="1855787" cy="206375"/>
            <a:chOff x="1951" y="2234"/>
            <a:chExt cx="1169" cy="130"/>
          </a:xfrm>
        </p:grpSpPr>
        <p:grpSp>
          <p:nvGrpSpPr>
            <p:cNvPr id="38022" name="Group 34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8038" name="Group 3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40" name="Picture 3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41" name="Line 3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39" name="Oval 3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8023" name="Group 39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8034" name="Group 4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36" name="Picture 4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37" name="Line 4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35" name="Oval 4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8024" name="Group 44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8030" name="Group 45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32" name="Picture 46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33" name="Line 47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31" name="Oval 48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8025" name="Group 49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8026" name="Group 50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28" name="Picture 51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29" name="Line 52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27" name="Oval 53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37918" name="Group 54"/>
          <p:cNvGrpSpPr>
            <a:grpSpLocks/>
          </p:cNvGrpSpPr>
          <p:nvPr/>
        </p:nvGrpSpPr>
        <p:grpSpPr bwMode="auto">
          <a:xfrm>
            <a:off x="3475038" y="5489575"/>
            <a:ext cx="1855787" cy="206375"/>
            <a:chOff x="1951" y="2234"/>
            <a:chExt cx="1169" cy="130"/>
          </a:xfrm>
        </p:grpSpPr>
        <p:grpSp>
          <p:nvGrpSpPr>
            <p:cNvPr id="38002" name="Group 55"/>
            <p:cNvGrpSpPr>
              <a:grpSpLocks/>
            </p:cNvGrpSpPr>
            <p:nvPr/>
          </p:nvGrpSpPr>
          <p:grpSpPr bwMode="auto">
            <a:xfrm>
              <a:off x="1951" y="2234"/>
              <a:ext cx="209" cy="130"/>
              <a:chOff x="1951" y="2235"/>
              <a:chExt cx="209" cy="130"/>
            </a:xfrm>
          </p:grpSpPr>
          <p:grpSp>
            <p:nvGrpSpPr>
              <p:cNvPr id="38018" name="Group 5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20" name="Picture 5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21" name="Line 5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19" name="Oval 5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8003" name="Group 60"/>
            <p:cNvGrpSpPr>
              <a:grpSpLocks/>
            </p:cNvGrpSpPr>
            <p:nvPr/>
          </p:nvGrpSpPr>
          <p:grpSpPr bwMode="auto">
            <a:xfrm>
              <a:off x="2271" y="2234"/>
              <a:ext cx="209" cy="130"/>
              <a:chOff x="1951" y="2235"/>
              <a:chExt cx="209" cy="130"/>
            </a:xfrm>
          </p:grpSpPr>
          <p:grpSp>
            <p:nvGrpSpPr>
              <p:cNvPr id="38014" name="Group 6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16" name="Picture 6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17" name="Line 6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15" name="Oval 6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8004" name="Group 65"/>
            <p:cNvGrpSpPr>
              <a:grpSpLocks/>
            </p:cNvGrpSpPr>
            <p:nvPr/>
          </p:nvGrpSpPr>
          <p:grpSpPr bwMode="auto">
            <a:xfrm>
              <a:off x="2591" y="2234"/>
              <a:ext cx="209" cy="130"/>
              <a:chOff x="1951" y="2235"/>
              <a:chExt cx="209" cy="130"/>
            </a:xfrm>
          </p:grpSpPr>
          <p:grpSp>
            <p:nvGrpSpPr>
              <p:cNvPr id="38010" name="Group 66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12" name="Picture 67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13" name="Line 68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11" name="Oval 69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8005" name="Group 70"/>
            <p:cNvGrpSpPr>
              <a:grpSpLocks/>
            </p:cNvGrpSpPr>
            <p:nvPr/>
          </p:nvGrpSpPr>
          <p:grpSpPr bwMode="auto">
            <a:xfrm>
              <a:off x="2911" y="2234"/>
              <a:ext cx="209" cy="130"/>
              <a:chOff x="1951" y="2235"/>
              <a:chExt cx="209" cy="130"/>
            </a:xfrm>
          </p:grpSpPr>
          <p:grpSp>
            <p:nvGrpSpPr>
              <p:cNvPr id="38006" name="Group 71"/>
              <p:cNvGrpSpPr>
                <a:grpSpLocks/>
              </p:cNvGrpSpPr>
              <p:nvPr/>
            </p:nvGrpSpPr>
            <p:grpSpPr bwMode="auto">
              <a:xfrm>
                <a:off x="1951" y="2235"/>
                <a:ext cx="143" cy="130"/>
                <a:chOff x="4397" y="3405"/>
                <a:chExt cx="123" cy="118"/>
              </a:xfrm>
            </p:grpSpPr>
            <p:pic>
              <p:nvPicPr>
                <p:cNvPr id="38008" name="Picture 72" descr="bouleb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342" t="33264" r="39302" b="57001"/>
                <a:stretch>
                  <a:fillRect/>
                </a:stretch>
              </p:blipFill>
              <p:spPr bwMode="auto">
                <a:xfrm>
                  <a:off x="4397" y="3405"/>
                  <a:ext cx="123" cy="11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8009" name="Line 73"/>
                <p:cNvSpPr>
                  <a:spLocks noChangeShapeType="1"/>
                </p:cNvSpPr>
                <p:nvPr/>
              </p:nvSpPr>
              <p:spPr bwMode="auto">
                <a:xfrm>
                  <a:off x="4442" y="3469"/>
                  <a:ext cx="37" cy="0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8007" name="Oval 74"/>
              <p:cNvSpPr>
                <a:spLocks noChangeArrowheads="1"/>
              </p:cNvSpPr>
              <p:nvPr/>
            </p:nvSpPr>
            <p:spPr bwMode="auto">
              <a:xfrm>
                <a:off x="2113" y="2277"/>
                <a:ext cx="47" cy="47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sp>
        <p:nvSpPr>
          <p:cNvPr id="37919" name="Text Box 75"/>
          <p:cNvSpPr txBox="1">
            <a:spLocks noChangeArrowheads="1"/>
          </p:cNvSpPr>
          <p:nvPr/>
        </p:nvSpPr>
        <p:spPr bwMode="auto">
          <a:xfrm>
            <a:off x="3148013" y="3894138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sp>
        <p:nvSpPr>
          <p:cNvPr id="37920" name="Text Box 76"/>
          <p:cNvSpPr txBox="1">
            <a:spLocks noChangeArrowheads="1"/>
          </p:cNvSpPr>
          <p:nvPr/>
        </p:nvSpPr>
        <p:spPr bwMode="auto">
          <a:xfrm>
            <a:off x="3143250" y="5127625"/>
            <a:ext cx="866775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 sz="1600">
                <a:solidFill>
                  <a:schemeClr val="bg1"/>
                </a:solidFill>
              </a:rPr>
              <a:t>Zce</a:t>
            </a:r>
          </a:p>
        </p:txBody>
      </p:sp>
      <p:grpSp>
        <p:nvGrpSpPr>
          <p:cNvPr id="37921" name="Group 77"/>
          <p:cNvGrpSpPr>
            <a:grpSpLocks/>
          </p:cNvGrpSpPr>
          <p:nvPr/>
        </p:nvGrpSpPr>
        <p:grpSpPr bwMode="auto">
          <a:xfrm rot="-5400000">
            <a:off x="588169" y="3390106"/>
            <a:ext cx="1514475" cy="677863"/>
            <a:chOff x="963" y="1385"/>
            <a:chExt cx="954" cy="427"/>
          </a:xfrm>
        </p:grpSpPr>
        <p:sp>
          <p:nvSpPr>
            <p:cNvPr id="38000" name="Rectangle 78"/>
            <p:cNvSpPr>
              <a:spLocks noChangeArrowheads="1"/>
            </p:cNvSpPr>
            <p:nvPr/>
          </p:nvSpPr>
          <p:spPr bwMode="auto">
            <a:xfrm>
              <a:off x="985" y="1723"/>
              <a:ext cx="865" cy="8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pic>
          <p:nvPicPr>
            <p:cNvPr id="38001" name="Picture 79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3" y="1385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7922" name="Rectangle 80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7923" name="Text Box 81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Vgs</a:t>
            </a:r>
            <a:r>
              <a:rPr lang="fr-FR" altLang="fr-FR" sz="2400">
                <a:solidFill>
                  <a:srgbClr val="FF0000"/>
                </a:solidFill>
              </a:rPr>
              <a:t> influence</a:t>
            </a:r>
            <a:r>
              <a:rPr lang="fr-FR" altLang="fr-FR" sz="2000"/>
              <a:t> la </a:t>
            </a:r>
            <a:r>
              <a:rPr lang="fr-FR" altLang="fr-FR" sz="2400">
                <a:solidFill>
                  <a:srgbClr val="FF0000"/>
                </a:solidFill>
              </a:rPr>
              <a:t>taille du canal</a:t>
            </a:r>
            <a:r>
              <a:rPr lang="fr-FR" altLang="fr-FR" sz="2000"/>
              <a:t> indépendamment de Vds </a:t>
            </a:r>
            <a:endParaRPr lang="fr-FR" altLang="fr-FR" sz="2400">
              <a:solidFill>
                <a:srgbClr val="FF0000"/>
              </a:solidFill>
            </a:endParaRPr>
          </a:p>
        </p:txBody>
      </p:sp>
      <p:grpSp>
        <p:nvGrpSpPr>
          <p:cNvPr id="37924" name="Group 82"/>
          <p:cNvGrpSpPr>
            <a:grpSpLocks/>
          </p:cNvGrpSpPr>
          <p:nvPr/>
        </p:nvGrpSpPr>
        <p:grpSpPr bwMode="auto">
          <a:xfrm>
            <a:off x="6775450" y="3009900"/>
            <a:ext cx="1922463" cy="568325"/>
            <a:chOff x="4268" y="1896"/>
            <a:chExt cx="1211" cy="358"/>
          </a:xfrm>
        </p:grpSpPr>
        <p:sp>
          <p:nvSpPr>
            <p:cNvPr id="37998" name="Rectangle 83"/>
            <p:cNvSpPr>
              <a:spLocks noChangeArrowheads="1"/>
            </p:cNvSpPr>
            <p:nvPr/>
          </p:nvSpPr>
          <p:spPr bwMode="auto">
            <a:xfrm>
              <a:off x="4268" y="1896"/>
              <a:ext cx="1211" cy="358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7999" name="Text Box 84"/>
            <p:cNvSpPr txBox="1">
              <a:spLocks noChangeArrowheads="1"/>
            </p:cNvSpPr>
            <p:nvPr/>
          </p:nvSpPr>
          <p:spPr bwMode="auto">
            <a:xfrm>
              <a:off x="4382" y="1970"/>
              <a:ext cx="956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Vgs = 0 V</a:t>
              </a:r>
              <a:endParaRPr lang="fr-FR" altLang="fr-FR" sz="2000">
                <a:solidFill>
                  <a:srgbClr val="FF0000"/>
                </a:solidFill>
              </a:endParaRPr>
            </a:p>
          </p:txBody>
        </p:sp>
      </p:grpSp>
      <p:sp>
        <p:nvSpPr>
          <p:cNvPr id="37925" name="Rectangle 85"/>
          <p:cNvSpPr>
            <a:spLocks noChangeArrowheads="1"/>
          </p:cNvSpPr>
          <p:nvPr/>
        </p:nvSpPr>
        <p:spPr bwMode="auto">
          <a:xfrm>
            <a:off x="3225800" y="4241800"/>
            <a:ext cx="2354263" cy="173038"/>
          </a:xfrm>
          <a:prstGeom prst="rect">
            <a:avLst/>
          </a:prstGeom>
          <a:solidFill>
            <a:srgbClr val="00CC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7926" name="Rectangle 86"/>
          <p:cNvSpPr>
            <a:spLocks noChangeArrowheads="1"/>
          </p:cNvSpPr>
          <p:nvPr/>
        </p:nvSpPr>
        <p:spPr bwMode="auto">
          <a:xfrm>
            <a:off x="3225800" y="4964113"/>
            <a:ext cx="2354263" cy="173037"/>
          </a:xfrm>
          <a:prstGeom prst="rect">
            <a:avLst/>
          </a:prstGeom>
          <a:solidFill>
            <a:srgbClr val="00CC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37927" name="Group 87"/>
          <p:cNvGrpSpPr>
            <a:grpSpLocks/>
          </p:cNvGrpSpPr>
          <p:nvPr/>
        </p:nvGrpSpPr>
        <p:grpSpPr bwMode="auto">
          <a:xfrm>
            <a:off x="6846888" y="4141788"/>
            <a:ext cx="1922462" cy="568325"/>
            <a:chOff x="4313" y="2609"/>
            <a:chExt cx="1211" cy="358"/>
          </a:xfrm>
        </p:grpSpPr>
        <p:sp>
          <p:nvSpPr>
            <p:cNvPr id="37996" name="Rectangle 88"/>
            <p:cNvSpPr>
              <a:spLocks noChangeArrowheads="1"/>
            </p:cNvSpPr>
            <p:nvPr/>
          </p:nvSpPr>
          <p:spPr bwMode="auto">
            <a:xfrm>
              <a:off x="4313" y="2609"/>
              <a:ext cx="1211" cy="358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7997" name="Text Box 89"/>
            <p:cNvSpPr txBox="1">
              <a:spLocks noChangeArrowheads="1"/>
            </p:cNvSpPr>
            <p:nvPr/>
          </p:nvSpPr>
          <p:spPr bwMode="auto">
            <a:xfrm>
              <a:off x="4427" y="2683"/>
              <a:ext cx="956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Vgs = -0.5 V</a:t>
              </a:r>
              <a:endParaRPr lang="fr-FR" altLang="fr-FR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423002" name="Group 90"/>
          <p:cNvGrpSpPr>
            <a:grpSpLocks/>
          </p:cNvGrpSpPr>
          <p:nvPr/>
        </p:nvGrpSpPr>
        <p:grpSpPr bwMode="auto">
          <a:xfrm>
            <a:off x="6854825" y="5275263"/>
            <a:ext cx="1922463" cy="568325"/>
            <a:chOff x="4268" y="1896"/>
            <a:chExt cx="1211" cy="358"/>
          </a:xfrm>
        </p:grpSpPr>
        <p:sp>
          <p:nvSpPr>
            <p:cNvPr id="37994" name="Rectangle 91"/>
            <p:cNvSpPr>
              <a:spLocks noChangeArrowheads="1"/>
            </p:cNvSpPr>
            <p:nvPr/>
          </p:nvSpPr>
          <p:spPr bwMode="auto">
            <a:xfrm>
              <a:off x="4268" y="1896"/>
              <a:ext cx="1211" cy="358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7995" name="Text Box 92"/>
            <p:cNvSpPr txBox="1">
              <a:spLocks noChangeArrowheads="1"/>
            </p:cNvSpPr>
            <p:nvPr/>
          </p:nvSpPr>
          <p:spPr bwMode="auto">
            <a:xfrm>
              <a:off x="4382" y="1970"/>
              <a:ext cx="956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/>
                <a:t>Vgs = -1 V</a:t>
              </a:r>
              <a:endParaRPr lang="fr-FR" altLang="fr-FR" sz="2000">
                <a:solidFill>
                  <a:srgbClr val="FF0000"/>
                </a:solidFill>
              </a:endParaRPr>
            </a:p>
          </p:txBody>
        </p:sp>
      </p:grpSp>
      <p:sp>
        <p:nvSpPr>
          <p:cNvPr id="423005" name="Rectangle 93"/>
          <p:cNvSpPr>
            <a:spLocks noChangeArrowheads="1"/>
          </p:cNvSpPr>
          <p:nvPr/>
        </p:nvSpPr>
        <p:spPr bwMode="auto">
          <a:xfrm>
            <a:off x="3225800" y="4414838"/>
            <a:ext cx="2354263" cy="173037"/>
          </a:xfrm>
          <a:prstGeom prst="rect">
            <a:avLst/>
          </a:prstGeom>
          <a:solidFill>
            <a:srgbClr val="99CC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23006" name="Rectangle 94"/>
          <p:cNvSpPr>
            <a:spLocks noChangeArrowheads="1"/>
          </p:cNvSpPr>
          <p:nvPr/>
        </p:nvSpPr>
        <p:spPr bwMode="auto">
          <a:xfrm>
            <a:off x="3225800" y="4789488"/>
            <a:ext cx="2354263" cy="173037"/>
          </a:xfrm>
          <a:prstGeom prst="rect">
            <a:avLst/>
          </a:prstGeom>
          <a:solidFill>
            <a:srgbClr val="99CCFF"/>
          </a:solidFill>
          <a:ln w="381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fr-FR"/>
          </a:p>
        </p:txBody>
      </p:sp>
      <p:grpSp>
        <p:nvGrpSpPr>
          <p:cNvPr id="423070" name="Group 158"/>
          <p:cNvGrpSpPr>
            <a:grpSpLocks/>
          </p:cNvGrpSpPr>
          <p:nvPr/>
        </p:nvGrpSpPr>
        <p:grpSpPr bwMode="auto">
          <a:xfrm>
            <a:off x="3635375" y="4410075"/>
            <a:ext cx="1408113" cy="228600"/>
            <a:chOff x="2290" y="2778"/>
            <a:chExt cx="887" cy="144"/>
          </a:xfrm>
        </p:grpSpPr>
        <p:grpSp>
          <p:nvGrpSpPr>
            <p:cNvPr id="37982" name="Group 102"/>
            <p:cNvGrpSpPr>
              <a:grpSpLocks/>
            </p:cNvGrpSpPr>
            <p:nvPr/>
          </p:nvGrpSpPr>
          <p:grpSpPr bwMode="auto">
            <a:xfrm>
              <a:off x="2290" y="2778"/>
              <a:ext cx="205" cy="144"/>
              <a:chOff x="2553" y="2692"/>
              <a:chExt cx="205" cy="144"/>
            </a:xfrm>
          </p:grpSpPr>
          <p:grpSp>
            <p:nvGrpSpPr>
              <p:cNvPr id="37989" name="Group 103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91" name="Picture 104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92" name="Line 105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93" name="Line 106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90" name="Oval 107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83" name="Group 114"/>
            <p:cNvGrpSpPr>
              <a:grpSpLocks/>
            </p:cNvGrpSpPr>
            <p:nvPr/>
          </p:nvGrpSpPr>
          <p:grpSpPr bwMode="auto">
            <a:xfrm>
              <a:off x="2972" y="2778"/>
              <a:ext cx="205" cy="144"/>
              <a:chOff x="2553" y="2692"/>
              <a:chExt cx="205" cy="144"/>
            </a:xfrm>
          </p:grpSpPr>
          <p:grpSp>
            <p:nvGrpSpPr>
              <p:cNvPr id="37984" name="Group 115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86" name="Picture 116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87" name="Line 117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88" name="Line 118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85" name="Oval 119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423069" name="Group 157"/>
          <p:cNvGrpSpPr>
            <a:grpSpLocks/>
          </p:cNvGrpSpPr>
          <p:nvPr/>
        </p:nvGrpSpPr>
        <p:grpSpPr bwMode="auto">
          <a:xfrm>
            <a:off x="3094038" y="4408488"/>
            <a:ext cx="2490787" cy="549275"/>
            <a:chOff x="1949" y="2777"/>
            <a:chExt cx="1569" cy="346"/>
          </a:xfrm>
        </p:grpSpPr>
        <p:grpSp>
          <p:nvGrpSpPr>
            <p:cNvPr id="37952" name="Group 96"/>
            <p:cNvGrpSpPr>
              <a:grpSpLocks/>
            </p:cNvGrpSpPr>
            <p:nvPr/>
          </p:nvGrpSpPr>
          <p:grpSpPr bwMode="auto">
            <a:xfrm>
              <a:off x="1949" y="2777"/>
              <a:ext cx="205" cy="144"/>
              <a:chOff x="2553" y="2692"/>
              <a:chExt cx="205" cy="144"/>
            </a:xfrm>
          </p:grpSpPr>
          <p:grpSp>
            <p:nvGrpSpPr>
              <p:cNvPr id="37977" name="Group 97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79" name="Picture 98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80" name="Line 99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81" name="Line 100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78" name="Oval 101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53" name="Group 108"/>
            <p:cNvGrpSpPr>
              <a:grpSpLocks/>
            </p:cNvGrpSpPr>
            <p:nvPr/>
          </p:nvGrpSpPr>
          <p:grpSpPr bwMode="auto">
            <a:xfrm>
              <a:off x="2631" y="2778"/>
              <a:ext cx="205" cy="144"/>
              <a:chOff x="2553" y="2692"/>
              <a:chExt cx="205" cy="144"/>
            </a:xfrm>
          </p:grpSpPr>
          <p:grpSp>
            <p:nvGrpSpPr>
              <p:cNvPr id="37972" name="Group 109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74" name="Picture 110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75" name="Line 111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76" name="Line 112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73" name="Oval 113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54" name="Group 120"/>
            <p:cNvGrpSpPr>
              <a:grpSpLocks/>
            </p:cNvGrpSpPr>
            <p:nvPr/>
          </p:nvGrpSpPr>
          <p:grpSpPr bwMode="auto">
            <a:xfrm>
              <a:off x="3313" y="2777"/>
              <a:ext cx="205" cy="144"/>
              <a:chOff x="2553" y="2692"/>
              <a:chExt cx="205" cy="144"/>
            </a:xfrm>
          </p:grpSpPr>
          <p:grpSp>
            <p:nvGrpSpPr>
              <p:cNvPr id="37967" name="Group 121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69" name="Picture 122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70" name="Line 123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71" name="Line 124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68" name="Oval 125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55" name="Group 133"/>
            <p:cNvGrpSpPr>
              <a:grpSpLocks/>
            </p:cNvGrpSpPr>
            <p:nvPr/>
          </p:nvGrpSpPr>
          <p:grpSpPr bwMode="auto">
            <a:xfrm>
              <a:off x="2290" y="2979"/>
              <a:ext cx="205" cy="144"/>
              <a:chOff x="2553" y="2692"/>
              <a:chExt cx="205" cy="144"/>
            </a:xfrm>
          </p:grpSpPr>
          <p:grpSp>
            <p:nvGrpSpPr>
              <p:cNvPr id="37962" name="Group 134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64" name="Picture 135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65" name="Line 136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66" name="Line 137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63" name="Oval 138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56" name="Group 145"/>
            <p:cNvGrpSpPr>
              <a:grpSpLocks/>
            </p:cNvGrpSpPr>
            <p:nvPr/>
          </p:nvGrpSpPr>
          <p:grpSpPr bwMode="auto">
            <a:xfrm>
              <a:off x="2972" y="2979"/>
              <a:ext cx="205" cy="144"/>
              <a:chOff x="2553" y="2692"/>
              <a:chExt cx="205" cy="144"/>
            </a:xfrm>
          </p:grpSpPr>
          <p:grpSp>
            <p:nvGrpSpPr>
              <p:cNvPr id="37957" name="Group 146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59" name="Picture 147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60" name="Line 148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61" name="Line 149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58" name="Oval 150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423071" name="Group 159"/>
          <p:cNvGrpSpPr>
            <a:grpSpLocks/>
          </p:cNvGrpSpPr>
          <p:nvPr/>
        </p:nvGrpSpPr>
        <p:grpSpPr bwMode="auto">
          <a:xfrm>
            <a:off x="3094038" y="4727575"/>
            <a:ext cx="2490787" cy="230188"/>
            <a:chOff x="1949" y="2978"/>
            <a:chExt cx="1569" cy="145"/>
          </a:xfrm>
        </p:grpSpPr>
        <p:grpSp>
          <p:nvGrpSpPr>
            <p:cNvPr id="37934" name="Group 127"/>
            <p:cNvGrpSpPr>
              <a:grpSpLocks/>
            </p:cNvGrpSpPr>
            <p:nvPr/>
          </p:nvGrpSpPr>
          <p:grpSpPr bwMode="auto">
            <a:xfrm>
              <a:off x="1949" y="2978"/>
              <a:ext cx="205" cy="144"/>
              <a:chOff x="2553" y="2692"/>
              <a:chExt cx="205" cy="144"/>
            </a:xfrm>
          </p:grpSpPr>
          <p:grpSp>
            <p:nvGrpSpPr>
              <p:cNvPr id="37947" name="Group 128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49" name="Picture 129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50" name="Line 130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51" name="Line 131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48" name="Oval 132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35" name="Group 139"/>
            <p:cNvGrpSpPr>
              <a:grpSpLocks/>
            </p:cNvGrpSpPr>
            <p:nvPr/>
          </p:nvGrpSpPr>
          <p:grpSpPr bwMode="auto">
            <a:xfrm>
              <a:off x="2631" y="2979"/>
              <a:ext cx="205" cy="144"/>
              <a:chOff x="2553" y="2692"/>
              <a:chExt cx="205" cy="144"/>
            </a:xfrm>
          </p:grpSpPr>
          <p:grpSp>
            <p:nvGrpSpPr>
              <p:cNvPr id="37942" name="Group 140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44" name="Picture 141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45" name="Line 142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46" name="Line 143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43" name="Oval 144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37936" name="Group 151"/>
            <p:cNvGrpSpPr>
              <a:grpSpLocks/>
            </p:cNvGrpSpPr>
            <p:nvPr/>
          </p:nvGrpSpPr>
          <p:grpSpPr bwMode="auto">
            <a:xfrm>
              <a:off x="3313" y="2978"/>
              <a:ext cx="205" cy="144"/>
              <a:chOff x="2553" y="2692"/>
              <a:chExt cx="205" cy="144"/>
            </a:xfrm>
          </p:grpSpPr>
          <p:grpSp>
            <p:nvGrpSpPr>
              <p:cNvPr id="37937" name="Group 152"/>
              <p:cNvGrpSpPr>
                <a:grpSpLocks/>
              </p:cNvGrpSpPr>
              <p:nvPr/>
            </p:nvGrpSpPr>
            <p:grpSpPr bwMode="auto">
              <a:xfrm>
                <a:off x="2553" y="2692"/>
                <a:ext cx="143" cy="144"/>
                <a:chOff x="2427" y="3155"/>
                <a:chExt cx="96" cy="108"/>
              </a:xfrm>
            </p:grpSpPr>
            <p:pic>
              <p:nvPicPr>
                <p:cNvPr id="37939" name="Picture 153" descr="boulej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clrChange>
                    <a:clrFrom>
                      <a:srgbClr val="000000"/>
                    </a:clrFrom>
                    <a:clrTo>
                      <a:srgbClr val="000000">
                        <a:alpha val="0"/>
                      </a:srgbClr>
                    </a:clrTo>
                  </a:clrChange>
                </a:blip>
                <a:srcRect l="52966" t="33055" r="39301" b="56898"/>
                <a:stretch>
                  <a:fillRect/>
                </a:stretch>
              </p:blipFill>
              <p:spPr bwMode="auto">
                <a:xfrm>
                  <a:off x="2427" y="3155"/>
                  <a:ext cx="96" cy="10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7940" name="Line 154"/>
                <p:cNvSpPr>
                  <a:spLocks noChangeShapeType="1"/>
                </p:cNvSpPr>
                <p:nvPr/>
              </p:nvSpPr>
              <p:spPr bwMode="auto">
                <a:xfrm>
                  <a:off x="2478" y="3190"/>
                  <a:ext cx="0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37941" name="Line 155"/>
                <p:cNvSpPr>
                  <a:spLocks noChangeShapeType="1"/>
                </p:cNvSpPr>
                <p:nvPr/>
              </p:nvSpPr>
              <p:spPr bwMode="auto">
                <a:xfrm rot="-5400000">
                  <a:off x="2478" y="3192"/>
                  <a:ext cx="0" cy="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7938" name="Oval 156"/>
              <p:cNvSpPr>
                <a:spLocks noChangeArrowheads="1"/>
              </p:cNvSpPr>
              <p:nvPr/>
            </p:nvSpPr>
            <p:spPr bwMode="auto">
              <a:xfrm flipH="1" flipV="1">
                <a:off x="2711" y="2740"/>
                <a:ext cx="47" cy="47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42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42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4230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48148E-6 L 0.00052 0.02153 " pathEditMode="relative" ptsTypes="AA">
                                      <p:cBhvr>
                                        <p:cTn id="18" dur="2000" fill="hold"/>
                                        <p:tgtEl>
                                          <p:spTgt spid="4230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1.11111E-6 L -5.27778E-6 -0.02153 " pathEditMode="relative" ptsTypes="AA">
                                      <p:cBhvr>
                                        <p:cTn id="20" dur="2000" fill="hold"/>
                                        <p:tgtEl>
                                          <p:spTgt spid="4230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005" grpId="0" animBg="1"/>
      <p:bldP spid="42300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5911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n°4 : Vgs &lt; 0 et Vds &gt; 0</a:t>
            </a:r>
            <a:endParaRPr lang="fr-FR" altLang="fr-FR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116013" y="1882775"/>
            <a:ext cx="751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Accentuation de l’effet de pincement </a:t>
            </a:r>
            <a:endParaRPr lang="fr-FR" altLang="fr-FR" sz="2400">
              <a:solidFill>
                <a:srgbClr val="FF0000"/>
              </a:solidFill>
            </a:endParaRPr>
          </a:p>
        </p:txBody>
      </p:sp>
      <p:sp>
        <p:nvSpPr>
          <p:cNvPr id="38917" name="Text Box 8"/>
          <p:cNvSpPr txBox="1">
            <a:spLocks noChangeArrowheads="1"/>
          </p:cNvSpPr>
          <p:nvPr/>
        </p:nvSpPr>
        <p:spPr bwMode="auto">
          <a:xfrm>
            <a:off x="2770188" y="5557838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Vds (V)</a:t>
            </a:r>
          </a:p>
        </p:txBody>
      </p:sp>
      <p:sp>
        <p:nvSpPr>
          <p:cNvPr id="38918" name="Text Box 9"/>
          <p:cNvSpPr txBox="1">
            <a:spLocks noChangeArrowheads="1"/>
          </p:cNvSpPr>
          <p:nvPr/>
        </p:nvSpPr>
        <p:spPr bwMode="auto">
          <a:xfrm>
            <a:off x="1212850" y="29845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Id (mA)</a:t>
            </a:r>
          </a:p>
        </p:txBody>
      </p:sp>
      <p:sp>
        <p:nvSpPr>
          <p:cNvPr id="38919" name="Line 10"/>
          <p:cNvSpPr>
            <a:spLocks noChangeShapeType="1"/>
          </p:cNvSpPr>
          <p:nvPr/>
        </p:nvSpPr>
        <p:spPr bwMode="auto">
          <a:xfrm>
            <a:off x="1235075" y="3378200"/>
            <a:ext cx="2071688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20" name="Line 11"/>
          <p:cNvSpPr>
            <a:spLocks noChangeShapeType="1"/>
          </p:cNvSpPr>
          <p:nvPr/>
        </p:nvSpPr>
        <p:spPr bwMode="auto">
          <a:xfrm flipV="1">
            <a:off x="1220788" y="3900488"/>
            <a:ext cx="2127250" cy="158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21" name="Line 12"/>
          <p:cNvSpPr>
            <a:spLocks noChangeShapeType="1"/>
          </p:cNvSpPr>
          <p:nvPr/>
        </p:nvSpPr>
        <p:spPr bwMode="auto">
          <a:xfrm>
            <a:off x="1235075" y="4425950"/>
            <a:ext cx="2116138" cy="1270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22" name="Line 13"/>
          <p:cNvSpPr>
            <a:spLocks noChangeShapeType="1"/>
          </p:cNvSpPr>
          <p:nvPr/>
        </p:nvSpPr>
        <p:spPr bwMode="auto">
          <a:xfrm>
            <a:off x="1223963" y="4943475"/>
            <a:ext cx="2165350" cy="476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23" name="Line 14"/>
          <p:cNvSpPr>
            <a:spLocks noChangeShapeType="1"/>
          </p:cNvSpPr>
          <p:nvPr/>
        </p:nvSpPr>
        <p:spPr bwMode="auto">
          <a:xfrm flipH="1" flipV="1">
            <a:off x="1847850" y="3167063"/>
            <a:ext cx="15875" cy="2289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24" name="Line 15"/>
          <p:cNvSpPr>
            <a:spLocks noChangeShapeType="1"/>
          </p:cNvSpPr>
          <p:nvPr/>
        </p:nvSpPr>
        <p:spPr bwMode="auto">
          <a:xfrm flipH="1" flipV="1">
            <a:off x="2468563" y="3167063"/>
            <a:ext cx="4762" cy="23034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25" name="Line 16"/>
          <p:cNvSpPr>
            <a:spLocks noChangeShapeType="1"/>
          </p:cNvSpPr>
          <p:nvPr/>
        </p:nvSpPr>
        <p:spPr bwMode="auto">
          <a:xfrm flipH="1" flipV="1">
            <a:off x="3087688" y="3167063"/>
            <a:ext cx="6350" cy="23145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3953" name="Text Box 17"/>
          <p:cNvSpPr txBox="1">
            <a:spLocks noChangeArrowheads="1"/>
          </p:cNvSpPr>
          <p:nvPr/>
        </p:nvSpPr>
        <p:spPr bwMode="auto">
          <a:xfrm>
            <a:off x="2397125" y="3362325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0 V</a:t>
            </a:r>
          </a:p>
        </p:txBody>
      </p:sp>
      <p:grpSp>
        <p:nvGrpSpPr>
          <p:cNvPr id="423965" name="Group 29"/>
          <p:cNvGrpSpPr>
            <a:grpSpLocks/>
          </p:cNvGrpSpPr>
          <p:nvPr/>
        </p:nvGrpSpPr>
        <p:grpSpPr bwMode="auto">
          <a:xfrm>
            <a:off x="4316413" y="3273425"/>
            <a:ext cx="4381500" cy="1565275"/>
            <a:chOff x="2719" y="2062"/>
            <a:chExt cx="2760" cy="986"/>
          </a:xfrm>
        </p:grpSpPr>
        <p:sp>
          <p:nvSpPr>
            <p:cNvPr id="38944" name="Rectangle 19"/>
            <p:cNvSpPr>
              <a:spLocks noChangeArrowheads="1"/>
            </p:cNvSpPr>
            <p:nvPr/>
          </p:nvSpPr>
          <p:spPr bwMode="auto">
            <a:xfrm>
              <a:off x="2719" y="2095"/>
              <a:ext cx="2760" cy="953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8945" name="Text Box 20"/>
            <p:cNvSpPr txBox="1">
              <a:spLocks noChangeArrowheads="1"/>
            </p:cNvSpPr>
            <p:nvPr/>
          </p:nvSpPr>
          <p:spPr bwMode="auto">
            <a:xfrm>
              <a:off x="2788" y="2062"/>
              <a:ext cx="2651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La valeur de</a:t>
              </a:r>
              <a:r>
                <a:rPr lang="fr-FR" altLang="fr-FR" sz="2400">
                  <a:solidFill>
                    <a:srgbClr val="FF0000"/>
                  </a:solidFill>
                </a:rPr>
                <a:t> Vgs &lt; 0 </a:t>
              </a:r>
              <a:r>
                <a:rPr lang="fr-FR" altLang="fr-FR" sz="2000"/>
                <a:t>influence</a:t>
              </a:r>
              <a:r>
                <a:rPr lang="fr-FR" altLang="fr-FR" sz="2400">
                  <a:solidFill>
                    <a:srgbClr val="FF0000"/>
                  </a:solidFill>
                </a:rPr>
                <a:t> </a:t>
              </a:r>
              <a:r>
                <a:rPr lang="fr-FR" altLang="fr-FR" sz="2000"/>
                <a:t>directement le </a:t>
              </a:r>
              <a:r>
                <a:rPr lang="fr-FR" altLang="fr-FR" sz="2400">
                  <a:solidFill>
                    <a:srgbClr val="FF0000"/>
                  </a:solidFill>
                </a:rPr>
                <a:t>pincement du canal</a:t>
              </a:r>
              <a:r>
                <a:rPr lang="fr-FR" altLang="fr-FR" sz="2000"/>
                <a:t> et le phénomène de</a:t>
              </a:r>
              <a:r>
                <a:rPr lang="fr-FR" altLang="fr-FR" sz="2400">
                  <a:solidFill>
                    <a:srgbClr val="FF0000"/>
                  </a:solidFill>
                </a:rPr>
                <a:t>  saturation </a:t>
              </a:r>
              <a:r>
                <a:rPr lang="fr-FR" altLang="fr-FR" sz="2000"/>
                <a:t>de</a:t>
              </a:r>
              <a:r>
                <a:rPr lang="fr-FR" altLang="fr-FR" sz="2400">
                  <a:solidFill>
                    <a:srgbClr val="FF0000"/>
                  </a:solidFill>
                </a:rPr>
                <a:t> Id</a:t>
              </a:r>
              <a:endParaRPr lang="fr-FR" altLang="fr-FR" sz="2000"/>
            </a:p>
          </p:txBody>
        </p:sp>
      </p:grpSp>
      <p:grpSp>
        <p:nvGrpSpPr>
          <p:cNvPr id="423974" name="Group 38"/>
          <p:cNvGrpSpPr>
            <a:grpSpLocks/>
          </p:cNvGrpSpPr>
          <p:nvPr/>
        </p:nvGrpSpPr>
        <p:grpSpPr bwMode="auto">
          <a:xfrm>
            <a:off x="1249363" y="3687763"/>
            <a:ext cx="1957387" cy="1776412"/>
            <a:chOff x="787" y="2323"/>
            <a:chExt cx="1233" cy="1119"/>
          </a:xfrm>
        </p:grpSpPr>
        <p:sp>
          <p:nvSpPr>
            <p:cNvPr id="38941" name="Line 5"/>
            <p:cNvSpPr>
              <a:spLocks noChangeShapeType="1"/>
            </p:cNvSpPr>
            <p:nvPr/>
          </p:nvSpPr>
          <p:spPr bwMode="auto">
            <a:xfrm flipV="1">
              <a:off x="787" y="2462"/>
              <a:ext cx="513" cy="98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42" name="Freeform 27"/>
            <p:cNvSpPr>
              <a:spLocks/>
            </p:cNvSpPr>
            <p:nvPr/>
          </p:nvSpPr>
          <p:spPr bwMode="auto">
            <a:xfrm>
              <a:off x="1291" y="2326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38943" name="Line 28"/>
            <p:cNvSpPr>
              <a:spLocks noChangeShapeType="1"/>
            </p:cNvSpPr>
            <p:nvPr/>
          </p:nvSpPr>
          <p:spPr bwMode="auto">
            <a:xfrm>
              <a:off x="1610" y="2323"/>
              <a:ext cx="41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38929" name="Line 6"/>
          <p:cNvSpPr>
            <a:spLocks noChangeShapeType="1"/>
          </p:cNvSpPr>
          <p:nvPr/>
        </p:nvSpPr>
        <p:spPr bwMode="auto">
          <a:xfrm flipH="1" flipV="1">
            <a:off x="1228725" y="3167063"/>
            <a:ext cx="4763" cy="230822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930" name="Line 7"/>
          <p:cNvSpPr>
            <a:spLocks noChangeShapeType="1"/>
          </p:cNvSpPr>
          <p:nvPr/>
        </p:nvSpPr>
        <p:spPr bwMode="auto">
          <a:xfrm flipV="1">
            <a:off x="1230313" y="5470525"/>
            <a:ext cx="2203450" cy="158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23975" name="Group 39"/>
          <p:cNvGrpSpPr>
            <a:grpSpLocks/>
          </p:cNvGrpSpPr>
          <p:nvPr/>
        </p:nvGrpSpPr>
        <p:grpSpPr bwMode="auto">
          <a:xfrm>
            <a:off x="1244600" y="4205288"/>
            <a:ext cx="1947863" cy="1266825"/>
            <a:chOff x="784" y="2649"/>
            <a:chExt cx="1227" cy="798"/>
          </a:xfrm>
        </p:grpSpPr>
        <p:sp>
          <p:nvSpPr>
            <p:cNvPr id="38938" name="Line 30"/>
            <p:cNvSpPr>
              <a:spLocks noChangeShapeType="1"/>
            </p:cNvSpPr>
            <p:nvPr/>
          </p:nvSpPr>
          <p:spPr bwMode="auto">
            <a:xfrm flipV="1">
              <a:off x="784" y="2796"/>
              <a:ext cx="411" cy="65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39" name="Freeform 32"/>
            <p:cNvSpPr>
              <a:spLocks/>
            </p:cNvSpPr>
            <p:nvPr/>
          </p:nvSpPr>
          <p:spPr bwMode="auto">
            <a:xfrm>
              <a:off x="1197" y="2650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38940" name="Line 34"/>
            <p:cNvSpPr>
              <a:spLocks noChangeShapeType="1"/>
            </p:cNvSpPr>
            <p:nvPr/>
          </p:nvSpPr>
          <p:spPr bwMode="auto">
            <a:xfrm flipV="1">
              <a:off x="1519" y="2649"/>
              <a:ext cx="492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23976" name="Group 40"/>
          <p:cNvGrpSpPr>
            <a:grpSpLocks/>
          </p:cNvGrpSpPr>
          <p:nvPr/>
        </p:nvGrpSpPr>
        <p:grpSpPr bwMode="auto">
          <a:xfrm>
            <a:off x="1239838" y="4549775"/>
            <a:ext cx="1936750" cy="930275"/>
            <a:chOff x="781" y="2866"/>
            <a:chExt cx="1220" cy="586"/>
          </a:xfrm>
        </p:grpSpPr>
        <p:sp>
          <p:nvSpPr>
            <p:cNvPr id="38935" name="Line 31"/>
            <p:cNvSpPr>
              <a:spLocks noChangeShapeType="1"/>
            </p:cNvSpPr>
            <p:nvPr/>
          </p:nvSpPr>
          <p:spPr bwMode="auto">
            <a:xfrm flipV="1">
              <a:off x="781" y="3008"/>
              <a:ext cx="334" cy="4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36" name="Freeform 33"/>
            <p:cNvSpPr>
              <a:spLocks/>
            </p:cNvSpPr>
            <p:nvPr/>
          </p:nvSpPr>
          <p:spPr bwMode="auto">
            <a:xfrm>
              <a:off x="1113" y="2866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38937" name="Line 35"/>
            <p:cNvSpPr>
              <a:spLocks noChangeShapeType="1"/>
            </p:cNvSpPr>
            <p:nvPr/>
          </p:nvSpPr>
          <p:spPr bwMode="auto">
            <a:xfrm>
              <a:off x="1442" y="2866"/>
              <a:ext cx="559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23972" name="Text Box 36"/>
          <p:cNvSpPr txBox="1">
            <a:spLocks noChangeArrowheads="1"/>
          </p:cNvSpPr>
          <p:nvPr/>
        </p:nvSpPr>
        <p:spPr bwMode="auto">
          <a:xfrm>
            <a:off x="2397125" y="3890963"/>
            <a:ext cx="1320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-0.5 V</a:t>
            </a:r>
          </a:p>
        </p:txBody>
      </p:sp>
      <p:sp>
        <p:nvSpPr>
          <p:cNvPr id="423973" name="Text Box 37"/>
          <p:cNvSpPr txBox="1">
            <a:spLocks noChangeArrowheads="1"/>
          </p:cNvSpPr>
          <p:nvPr/>
        </p:nvSpPr>
        <p:spPr bwMode="auto">
          <a:xfrm>
            <a:off x="2397125" y="4524375"/>
            <a:ext cx="1114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-1 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2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42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4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53" grpId="0"/>
      <p:bldP spid="423972" grpId="0"/>
      <p:bldP spid="42397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42021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transistor MOS</a:t>
            </a:r>
            <a:endParaRPr lang="fr-FR" altLang="fr-FR"/>
          </a:p>
        </p:txBody>
      </p:sp>
      <p:grpSp>
        <p:nvGrpSpPr>
          <p:cNvPr id="39939" name="Group 35"/>
          <p:cNvGrpSpPr>
            <a:grpSpLocks/>
          </p:cNvGrpSpPr>
          <p:nvPr/>
        </p:nvGrpSpPr>
        <p:grpSpPr bwMode="auto">
          <a:xfrm>
            <a:off x="1116013" y="1773238"/>
            <a:ext cx="7581900" cy="1604962"/>
            <a:chOff x="703" y="1117"/>
            <a:chExt cx="4776" cy="1011"/>
          </a:xfrm>
        </p:grpSpPr>
        <p:sp>
          <p:nvSpPr>
            <p:cNvPr id="39946" name="Rectangle 4"/>
            <p:cNvSpPr>
              <a:spLocks noChangeArrowheads="1"/>
            </p:cNvSpPr>
            <p:nvPr/>
          </p:nvSpPr>
          <p:spPr bwMode="auto">
            <a:xfrm>
              <a:off x="703" y="1117"/>
              <a:ext cx="4776" cy="1011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9947" name="Text Box 5"/>
            <p:cNvSpPr txBox="1">
              <a:spLocks noChangeArrowheads="1"/>
            </p:cNvSpPr>
            <p:nvPr/>
          </p:nvSpPr>
          <p:spPr bwMode="auto">
            <a:xfrm>
              <a:off x="703" y="1146"/>
              <a:ext cx="4736" cy="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Le Transistor </a:t>
              </a:r>
              <a:r>
                <a:rPr lang="fr-FR" altLang="fr-FR" sz="2400">
                  <a:solidFill>
                    <a:srgbClr val="FF0000"/>
                  </a:solidFill>
                </a:rPr>
                <a:t>MOS</a:t>
              </a:r>
              <a:r>
                <a:rPr lang="fr-FR" altLang="fr-FR" sz="2000"/>
                <a:t> (Metal Oxyde Semiconductor) est un transistor à effet de Champ :</a:t>
              </a:r>
            </a:p>
            <a:p>
              <a:pPr lvl="2">
                <a:spcBef>
                  <a:spcPct val="0"/>
                </a:spcBef>
                <a:buFont typeface="Wingdings" pitchFamily="2" charset="2"/>
                <a:buChar char="ü"/>
              </a:pPr>
              <a:r>
                <a:rPr lang="fr-FR" altLang="fr-FR" sz="2000"/>
                <a:t>Composant contrôlé par la </a:t>
              </a:r>
              <a:r>
                <a:rPr lang="fr-FR" altLang="fr-FR" sz="2400">
                  <a:solidFill>
                    <a:srgbClr val="FF3300"/>
                  </a:solidFill>
                </a:rPr>
                <a:t>tension de grille</a:t>
              </a:r>
              <a:r>
                <a:rPr lang="fr-FR" altLang="fr-FR" sz="2000"/>
                <a:t>,</a:t>
              </a:r>
            </a:p>
            <a:p>
              <a:pPr lvl="2">
                <a:spcBef>
                  <a:spcPct val="0"/>
                </a:spcBef>
                <a:buFont typeface="Wingdings" pitchFamily="2" charset="2"/>
                <a:buChar char="ü"/>
              </a:pPr>
              <a:r>
                <a:rPr lang="fr-FR" altLang="fr-FR" sz="2000"/>
                <a:t>Composant utilisant les </a:t>
              </a:r>
              <a:r>
                <a:rPr lang="fr-FR" altLang="fr-FR" sz="2400">
                  <a:solidFill>
                    <a:srgbClr val="FF3300"/>
                  </a:solidFill>
                </a:rPr>
                <a:t>porteurs majoritaires</a:t>
              </a:r>
              <a:r>
                <a:rPr lang="fr-FR" altLang="fr-FR" sz="2000"/>
                <a:t>.</a:t>
              </a:r>
            </a:p>
          </p:txBody>
        </p:sp>
      </p:grpSp>
      <p:grpSp>
        <p:nvGrpSpPr>
          <p:cNvPr id="424975" name="Group 15"/>
          <p:cNvGrpSpPr>
            <a:grpSpLocks/>
          </p:cNvGrpSpPr>
          <p:nvPr/>
        </p:nvGrpSpPr>
        <p:grpSpPr bwMode="auto">
          <a:xfrm>
            <a:off x="1116013" y="3748088"/>
            <a:ext cx="7581900" cy="855662"/>
            <a:chOff x="703" y="3186"/>
            <a:chExt cx="4776" cy="539"/>
          </a:xfrm>
        </p:grpSpPr>
        <p:sp>
          <p:nvSpPr>
            <p:cNvPr id="39944" name="Rectangle 16"/>
            <p:cNvSpPr>
              <a:spLocks noChangeArrowheads="1"/>
            </p:cNvSpPr>
            <p:nvPr/>
          </p:nvSpPr>
          <p:spPr bwMode="auto">
            <a:xfrm>
              <a:off x="703" y="3186"/>
              <a:ext cx="4776" cy="539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9945" name="Text Box 17"/>
            <p:cNvSpPr txBox="1">
              <a:spLocks noChangeArrowheads="1"/>
            </p:cNvSpPr>
            <p:nvPr/>
          </p:nvSpPr>
          <p:spPr bwMode="auto">
            <a:xfrm>
              <a:off x="703" y="3197"/>
              <a:ext cx="473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La </a:t>
              </a:r>
              <a:r>
                <a:rPr lang="fr-FR" altLang="fr-FR" sz="2400">
                  <a:solidFill>
                    <a:srgbClr val="FF0000"/>
                  </a:solidFill>
                </a:rPr>
                <a:t>variation </a:t>
              </a:r>
              <a:r>
                <a:rPr lang="fr-FR" altLang="fr-FR" sz="2000"/>
                <a:t>du courant </a:t>
              </a:r>
              <a:r>
                <a:rPr lang="fr-FR" altLang="fr-FR" sz="2400">
                  <a:solidFill>
                    <a:srgbClr val="FF0000"/>
                  </a:solidFill>
                </a:rPr>
                <a:t>Id</a:t>
              </a:r>
              <a:r>
                <a:rPr lang="fr-FR" altLang="fr-FR" sz="2000"/>
                <a:t> s’effectue en faisant varier le </a:t>
              </a:r>
              <a:r>
                <a:rPr lang="fr-FR" altLang="fr-FR" sz="2400">
                  <a:solidFill>
                    <a:srgbClr val="FF0000"/>
                  </a:solidFill>
                </a:rPr>
                <a:t>nombre de porteurs</a:t>
              </a:r>
              <a:r>
                <a:rPr lang="fr-FR" altLang="fr-FR" sz="2000"/>
                <a:t> dans le canal et non la surface </a:t>
              </a:r>
            </a:p>
          </p:txBody>
        </p:sp>
      </p:grpSp>
      <p:grpSp>
        <p:nvGrpSpPr>
          <p:cNvPr id="424996" name="Group 36"/>
          <p:cNvGrpSpPr>
            <a:grpSpLocks/>
          </p:cNvGrpSpPr>
          <p:nvPr/>
        </p:nvGrpSpPr>
        <p:grpSpPr bwMode="auto">
          <a:xfrm>
            <a:off x="1116013" y="4975225"/>
            <a:ext cx="7581900" cy="1325563"/>
            <a:chOff x="800" y="3134"/>
            <a:chExt cx="4776" cy="835"/>
          </a:xfrm>
        </p:grpSpPr>
        <p:sp>
          <p:nvSpPr>
            <p:cNvPr id="39942" name="Rectangle 33"/>
            <p:cNvSpPr>
              <a:spLocks noChangeArrowheads="1"/>
            </p:cNvSpPr>
            <p:nvPr/>
          </p:nvSpPr>
          <p:spPr bwMode="auto">
            <a:xfrm>
              <a:off x="800" y="3134"/>
              <a:ext cx="4776" cy="835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39943" name="Text Box 34"/>
            <p:cNvSpPr txBox="1">
              <a:spLocks noChangeArrowheads="1"/>
            </p:cNvSpPr>
            <p:nvPr/>
          </p:nvSpPr>
          <p:spPr bwMode="auto">
            <a:xfrm>
              <a:off x="800" y="3153"/>
              <a:ext cx="4736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On distingue </a:t>
              </a:r>
              <a:r>
                <a:rPr lang="fr-FR" altLang="fr-FR" sz="2400">
                  <a:solidFill>
                    <a:srgbClr val="FF0000"/>
                  </a:solidFill>
                </a:rPr>
                <a:t>2 </a:t>
              </a:r>
              <a:r>
                <a:rPr lang="fr-FR" altLang="fr-FR" sz="2000"/>
                <a:t>grandes</a:t>
              </a:r>
              <a:r>
                <a:rPr lang="fr-FR" altLang="fr-FR" sz="2400">
                  <a:solidFill>
                    <a:srgbClr val="FF0000"/>
                  </a:solidFill>
                </a:rPr>
                <a:t> familles</a:t>
              </a:r>
              <a:r>
                <a:rPr lang="fr-FR" altLang="fr-FR" sz="2000"/>
                <a:t> :</a:t>
              </a:r>
            </a:p>
            <a:p>
              <a:pPr lvl="2">
                <a:spcBef>
                  <a:spcPct val="0"/>
                </a:spcBef>
                <a:buFont typeface="Wingdings" pitchFamily="2" charset="2"/>
                <a:buChar char="ü"/>
              </a:pPr>
              <a:r>
                <a:rPr lang="fr-FR" altLang="fr-FR" sz="2000"/>
                <a:t>MOS à </a:t>
              </a:r>
              <a:r>
                <a:rPr lang="fr-FR" altLang="fr-FR" sz="2400">
                  <a:solidFill>
                    <a:srgbClr val="FF0000"/>
                  </a:solidFill>
                </a:rPr>
                <a:t>enrichissement</a:t>
              </a:r>
              <a:r>
                <a:rPr lang="fr-FR" altLang="fr-FR" sz="2000"/>
                <a:t>,</a:t>
              </a:r>
            </a:p>
            <a:p>
              <a:pPr lvl="2">
                <a:spcBef>
                  <a:spcPct val="0"/>
                </a:spcBef>
                <a:buFont typeface="Wingdings" pitchFamily="2" charset="2"/>
                <a:buChar char="ü"/>
              </a:pPr>
              <a:r>
                <a:rPr lang="fr-FR" altLang="fr-FR" sz="2000"/>
                <a:t>MOS à </a:t>
              </a:r>
              <a:r>
                <a:rPr lang="fr-FR" altLang="fr-FR" sz="2400">
                  <a:solidFill>
                    <a:srgbClr val="FF0000"/>
                  </a:solidFill>
                </a:rPr>
                <a:t>appauvrissement</a:t>
              </a:r>
              <a:r>
                <a:rPr lang="fr-FR" altLang="fr-FR" sz="2000"/>
                <a:t>.</a:t>
              </a:r>
              <a:endParaRPr lang="fr-FR" altLang="fr-FR">
                <a:solidFill>
                  <a:srgbClr val="FF33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0963" name="Text Box 8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0964" name="Text Box 9"/>
          <p:cNvSpPr txBox="1">
            <a:spLocks noChangeArrowheads="1"/>
          </p:cNvSpPr>
          <p:nvPr/>
        </p:nvSpPr>
        <p:spPr bwMode="auto">
          <a:xfrm>
            <a:off x="1406525" y="717550"/>
            <a:ext cx="5638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MOS à enrichissement</a:t>
            </a:r>
            <a:endParaRPr lang="fr-FR" altLang="fr-FR"/>
          </a:p>
        </p:txBody>
      </p:sp>
      <p:sp>
        <p:nvSpPr>
          <p:cNvPr id="40965" name="Rectangle 10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0966" name="Text Box 11"/>
          <p:cNvSpPr txBox="1">
            <a:spLocks noChangeArrowheads="1"/>
          </p:cNvSpPr>
          <p:nvPr/>
        </p:nvSpPr>
        <p:spPr bwMode="auto">
          <a:xfrm>
            <a:off x="1116013" y="186372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Structure </a:t>
            </a:r>
            <a:r>
              <a:rPr lang="fr-FR" altLang="fr-FR" sz="2000"/>
              <a:t>d’un</a:t>
            </a:r>
            <a:r>
              <a:rPr lang="fr-FR" altLang="fr-FR" sz="2400">
                <a:solidFill>
                  <a:srgbClr val="FF0000"/>
                </a:solidFill>
              </a:rPr>
              <a:t> MOS </a:t>
            </a:r>
            <a:r>
              <a:rPr lang="fr-FR" altLang="fr-FR" sz="2000"/>
              <a:t>à</a:t>
            </a:r>
            <a:r>
              <a:rPr lang="fr-FR" altLang="fr-FR" sz="2400">
                <a:solidFill>
                  <a:srgbClr val="FF0000"/>
                </a:solidFill>
              </a:rPr>
              <a:t> enrichissement </a:t>
            </a:r>
            <a:r>
              <a:rPr lang="fr-FR" altLang="fr-FR" sz="2000"/>
              <a:t>à</a:t>
            </a:r>
            <a:r>
              <a:rPr lang="fr-FR" altLang="fr-FR" sz="2400">
                <a:solidFill>
                  <a:srgbClr val="FF0000"/>
                </a:solidFill>
              </a:rPr>
              <a:t> canal N</a:t>
            </a:r>
            <a:endParaRPr lang="fr-FR" altLang="fr-FR" sz="2000"/>
          </a:p>
        </p:txBody>
      </p:sp>
      <p:grpSp>
        <p:nvGrpSpPr>
          <p:cNvPr id="429125" name="Group 69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0992" name="Freeform 16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0993" name="Rectangle 17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0994" name="Text Box 2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29126" name="Group 70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0989" name="Freeform 4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0990" name="Rectangle 4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0991" name="Text Box 4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29102" name="Rectangle 46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29104" name="Group 48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0987" name="Rectangle 49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0988" name="Line 50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29107" name="Group 51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0985" name="Rectangle 52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0986" name="Line 53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29133" name="Group 77"/>
          <p:cNvGrpSpPr>
            <a:grpSpLocks/>
          </p:cNvGrpSpPr>
          <p:nvPr/>
        </p:nvGrpSpPr>
        <p:grpSpPr bwMode="auto">
          <a:xfrm>
            <a:off x="4379913" y="3106738"/>
            <a:ext cx="957262" cy="484187"/>
            <a:chOff x="3247" y="1688"/>
            <a:chExt cx="603" cy="305"/>
          </a:xfrm>
        </p:grpSpPr>
        <p:sp>
          <p:nvSpPr>
            <p:cNvPr id="40983" name="Rectangle 61"/>
            <p:cNvSpPr>
              <a:spLocks noChangeArrowheads="1"/>
            </p:cNvSpPr>
            <p:nvPr/>
          </p:nvSpPr>
          <p:spPr bwMode="auto">
            <a:xfrm>
              <a:off x="3247" y="1688"/>
              <a:ext cx="603" cy="305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0984" name="Text Box 62"/>
            <p:cNvSpPr txBox="1">
              <a:spLocks noChangeArrowheads="1"/>
            </p:cNvSpPr>
            <p:nvPr/>
          </p:nvSpPr>
          <p:spPr bwMode="auto">
            <a:xfrm>
              <a:off x="3284" y="1725"/>
              <a:ext cx="529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/>
                <a:t>Grille</a:t>
              </a:r>
            </a:p>
          </p:txBody>
        </p:sp>
      </p:grpSp>
      <p:grpSp>
        <p:nvGrpSpPr>
          <p:cNvPr id="429135" name="Group 79"/>
          <p:cNvGrpSpPr>
            <a:grpSpLocks/>
          </p:cNvGrpSpPr>
          <p:nvPr/>
        </p:nvGrpSpPr>
        <p:grpSpPr bwMode="auto">
          <a:xfrm>
            <a:off x="2243138" y="3556000"/>
            <a:ext cx="1004887" cy="484188"/>
            <a:chOff x="1296" y="1688"/>
            <a:chExt cx="633" cy="305"/>
          </a:xfrm>
        </p:grpSpPr>
        <p:sp>
          <p:nvSpPr>
            <p:cNvPr id="40981" name="Rectangle 64"/>
            <p:cNvSpPr>
              <a:spLocks noChangeArrowheads="1"/>
            </p:cNvSpPr>
            <p:nvPr/>
          </p:nvSpPr>
          <p:spPr bwMode="auto">
            <a:xfrm>
              <a:off x="1310" y="1688"/>
              <a:ext cx="603" cy="305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0982" name="Text Box 65"/>
            <p:cNvSpPr txBox="1">
              <a:spLocks noChangeArrowheads="1"/>
            </p:cNvSpPr>
            <p:nvPr/>
          </p:nvSpPr>
          <p:spPr bwMode="auto">
            <a:xfrm>
              <a:off x="1296" y="1725"/>
              <a:ext cx="633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/>
                <a:t>Source</a:t>
              </a:r>
            </a:p>
          </p:txBody>
        </p:sp>
      </p:grpSp>
      <p:grpSp>
        <p:nvGrpSpPr>
          <p:cNvPr id="429134" name="Group 78"/>
          <p:cNvGrpSpPr>
            <a:grpSpLocks/>
          </p:cNvGrpSpPr>
          <p:nvPr/>
        </p:nvGrpSpPr>
        <p:grpSpPr bwMode="auto">
          <a:xfrm>
            <a:off x="6305550" y="3556000"/>
            <a:ext cx="957263" cy="484188"/>
            <a:chOff x="4206" y="1688"/>
            <a:chExt cx="603" cy="305"/>
          </a:xfrm>
        </p:grpSpPr>
        <p:sp>
          <p:nvSpPr>
            <p:cNvPr id="40979" name="Rectangle 67"/>
            <p:cNvSpPr>
              <a:spLocks noChangeArrowheads="1"/>
            </p:cNvSpPr>
            <p:nvPr/>
          </p:nvSpPr>
          <p:spPr bwMode="auto">
            <a:xfrm>
              <a:off x="4206" y="1688"/>
              <a:ext cx="603" cy="305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0980" name="Text Box 68"/>
            <p:cNvSpPr txBox="1">
              <a:spLocks noChangeArrowheads="1"/>
            </p:cNvSpPr>
            <p:nvPr/>
          </p:nvSpPr>
          <p:spPr bwMode="auto">
            <a:xfrm>
              <a:off x="4243" y="1725"/>
              <a:ext cx="529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fr-FR" altLang="fr-FR"/>
                <a:t>Drain</a:t>
              </a:r>
            </a:p>
          </p:txBody>
        </p:sp>
      </p:grpSp>
      <p:sp>
        <p:nvSpPr>
          <p:cNvPr id="429127" name="Text Box 71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29130" name="Group 74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0977" name="Rectangle 75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0978" name="Line 76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9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9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9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9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9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9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2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2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2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2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29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2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102" grpId="0" animBg="1"/>
      <p:bldP spid="4291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406525" y="717550"/>
            <a:ext cx="5937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Le MOS à appauvrissement</a:t>
            </a:r>
            <a:endParaRPr lang="fr-FR" altLang="fr-FR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1116013" y="186372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Structure </a:t>
            </a:r>
            <a:r>
              <a:rPr lang="fr-FR" altLang="fr-FR" sz="2000"/>
              <a:t>d’un</a:t>
            </a:r>
            <a:r>
              <a:rPr lang="fr-FR" altLang="fr-FR" sz="2400">
                <a:solidFill>
                  <a:srgbClr val="FF0000"/>
                </a:solidFill>
              </a:rPr>
              <a:t> MOS </a:t>
            </a:r>
            <a:r>
              <a:rPr lang="fr-FR" altLang="fr-FR" sz="2000"/>
              <a:t>à</a:t>
            </a:r>
            <a:r>
              <a:rPr lang="fr-FR" altLang="fr-FR" sz="2400">
                <a:solidFill>
                  <a:srgbClr val="FF0000"/>
                </a:solidFill>
              </a:rPr>
              <a:t> appauvrissement </a:t>
            </a:r>
            <a:r>
              <a:rPr lang="fr-FR" altLang="fr-FR" sz="2000"/>
              <a:t>à</a:t>
            </a:r>
            <a:r>
              <a:rPr lang="fr-FR" altLang="fr-FR" sz="2400">
                <a:solidFill>
                  <a:srgbClr val="FF0000"/>
                </a:solidFill>
              </a:rPr>
              <a:t> canal N</a:t>
            </a:r>
            <a:endParaRPr lang="fr-FR" altLang="fr-FR" sz="2000"/>
          </a:p>
        </p:txBody>
      </p: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2015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2016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2017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1992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2012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2013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2014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1993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1994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2010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2011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1995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2008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2009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1996" name="Rectangle 23"/>
          <p:cNvSpPr>
            <a:spLocks noChangeArrowheads="1"/>
          </p:cNvSpPr>
          <p:nvPr/>
        </p:nvSpPr>
        <p:spPr bwMode="auto">
          <a:xfrm>
            <a:off x="4379913" y="3106738"/>
            <a:ext cx="957262" cy="484187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1997" name="Text Box 24"/>
          <p:cNvSpPr txBox="1">
            <a:spLocks noChangeArrowheads="1"/>
          </p:cNvSpPr>
          <p:nvPr/>
        </p:nvSpPr>
        <p:spPr bwMode="auto">
          <a:xfrm>
            <a:off x="4438650" y="3165475"/>
            <a:ext cx="83978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1998" name="Rectangle 26"/>
          <p:cNvSpPr>
            <a:spLocks noChangeArrowheads="1"/>
          </p:cNvSpPr>
          <p:nvPr/>
        </p:nvSpPr>
        <p:spPr bwMode="auto">
          <a:xfrm>
            <a:off x="2265363" y="3556000"/>
            <a:ext cx="957262" cy="484188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1999" name="Text Box 27"/>
          <p:cNvSpPr txBox="1">
            <a:spLocks noChangeArrowheads="1"/>
          </p:cNvSpPr>
          <p:nvPr/>
        </p:nvSpPr>
        <p:spPr bwMode="auto">
          <a:xfrm>
            <a:off x="2243138" y="3614738"/>
            <a:ext cx="10048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2000" name="Rectangle 29"/>
          <p:cNvSpPr>
            <a:spLocks noChangeArrowheads="1"/>
          </p:cNvSpPr>
          <p:nvPr/>
        </p:nvSpPr>
        <p:spPr bwMode="auto">
          <a:xfrm>
            <a:off x="6305550" y="3556000"/>
            <a:ext cx="957263" cy="484188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2001" name="Text Box 30"/>
          <p:cNvSpPr txBox="1">
            <a:spLocks noChangeArrowheads="1"/>
          </p:cNvSpPr>
          <p:nvPr/>
        </p:nvSpPr>
        <p:spPr bwMode="auto">
          <a:xfrm>
            <a:off x="6364288" y="3614738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  <p:sp>
        <p:nvSpPr>
          <p:cNvPr id="42002" name="Text Box 31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2003" name="Group 32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2006" name="Rectangle 33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2007" name="Line 34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31139" name="Rectangle 35"/>
          <p:cNvSpPr>
            <a:spLocks noChangeArrowheads="1"/>
          </p:cNvSpPr>
          <p:nvPr/>
        </p:nvSpPr>
        <p:spPr bwMode="auto">
          <a:xfrm>
            <a:off x="3600450" y="5021263"/>
            <a:ext cx="1771650" cy="236537"/>
          </a:xfrm>
          <a:prstGeom prst="rect">
            <a:avLst/>
          </a:prstGeom>
          <a:solidFill>
            <a:srgbClr val="66FF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1140" name="Text Box 36"/>
          <p:cNvSpPr txBox="1">
            <a:spLocks noChangeArrowheads="1"/>
          </p:cNvSpPr>
          <p:nvPr/>
        </p:nvSpPr>
        <p:spPr bwMode="auto">
          <a:xfrm>
            <a:off x="3538538" y="4953000"/>
            <a:ext cx="323850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39" grpId="0" animBg="1"/>
      <p:bldP spid="43114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3011" name="Text Box 43"/>
          <p:cNvSpPr txBox="1">
            <a:spLocks noChangeArrowheads="1"/>
          </p:cNvSpPr>
          <p:nvPr/>
        </p:nvSpPr>
        <p:spPr bwMode="auto">
          <a:xfrm>
            <a:off x="1116013" y="1881188"/>
            <a:ext cx="50117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Conditions normales de fonctionnement :</a:t>
            </a:r>
            <a:endParaRPr lang="fr-FR" altLang="fr-FR" sz="2400">
              <a:solidFill>
                <a:srgbClr val="FF3300"/>
              </a:solidFill>
            </a:endParaRPr>
          </a:p>
        </p:txBody>
      </p:sp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3013" name="Text Box 3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3014" name="Text Box 4"/>
          <p:cNvSpPr txBox="1">
            <a:spLocks noChangeArrowheads="1"/>
          </p:cNvSpPr>
          <p:nvPr/>
        </p:nvSpPr>
        <p:spPr bwMode="auto">
          <a:xfrm>
            <a:off x="1406525" y="717550"/>
            <a:ext cx="6105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d’un NMOS</a:t>
            </a:r>
            <a:endParaRPr lang="fr-FR" altLang="fr-FR"/>
          </a:p>
        </p:txBody>
      </p:sp>
      <p:grpSp>
        <p:nvGrpSpPr>
          <p:cNvPr id="43015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3052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3053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3054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3016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3049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3050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3051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3017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3018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3047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3048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3019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3045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3046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3020" name="Text Box 31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3021" name="Group 32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3043" name="Rectangle 33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3044" name="Line 34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34220" name="Text Box 44"/>
          <p:cNvSpPr txBox="1">
            <a:spLocks noChangeArrowheads="1"/>
          </p:cNvSpPr>
          <p:nvPr/>
        </p:nvSpPr>
        <p:spPr bwMode="auto">
          <a:xfrm>
            <a:off x="6008688" y="1865313"/>
            <a:ext cx="1323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3300"/>
                </a:solidFill>
              </a:rPr>
              <a:t>Vgs &gt; 0</a:t>
            </a:r>
          </a:p>
        </p:txBody>
      </p:sp>
      <p:sp>
        <p:nvSpPr>
          <p:cNvPr id="434221" name="Text Box 45"/>
          <p:cNvSpPr txBox="1">
            <a:spLocks noChangeArrowheads="1"/>
          </p:cNvSpPr>
          <p:nvPr/>
        </p:nvSpPr>
        <p:spPr bwMode="auto">
          <a:xfrm>
            <a:off x="7175500" y="1866900"/>
            <a:ext cx="1638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et </a:t>
            </a:r>
            <a:r>
              <a:rPr lang="fr-FR" altLang="fr-FR" sz="2400">
                <a:solidFill>
                  <a:srgbClr val="FF3300"/>
                </a:solidFill>
              </a:rPr>
              <a:t>Vds &gt; 0</a:t>
            </a:r>
          </a:p>
        </p:txBody>
      </p:sp>
      <p:grpSp>
        <p:nvGrpSpPr>
          <p:cNvPr id="434243" name="Group 67"/>
          <p:cNvGrpSpPr>
            <a:grpSpLocks/>
          </p:cNvGrpSpPr>
          <p:nvPr/>
        </p:nvGrpSpPr>
        <p:grpSpPr bwMode="auto">
          <a:xfrm>
            <a:off x="1387475" y="2835275"/>
            <a:ext cx="3489325" cy="3663950"/>
            <a:chOff x="874" y="1786"/>
            <a:chExt cx="2198" cy="2308"/>
          </a:xfrm>
        </p:grpSpPr>
        <p:grpSp>
          <p:nvGrpSpPr>
            <p:cNvPr id="43034" name="Group 47"/>
            <p:cNvGrpSpPr>
              <a:grpSpLocks/>
            </p:cNvGrpSpPr>
            <p:nvPr/>
          </p:nvGrpSpPr>
          <p:grpSpPr bwMode="auto">
            <a:xfrm>
              <a:off x="874" y="3736"/>
              <a:ext cx="280" cy="358"/>
              <a:chOff x="655" y="3655"/>
              <a:chExt cx="280" cy="358"/>
            </a:xfrm>
          </p:grpSpPr>
          <p:sp>
            <p:nvSpPr>
              <p:cNvPr id="43041" name="Line 48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3042" name="AutoShape 49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3035" name="Freeform 50"/>
            <p:cNvSpPr>
              <a:spLocks/>
            </p:cNvSpPr>
            <p:nvPr/>
          </p:nvSpPr>
          <p:spPr bwMode="auto">
            <a:xfrm>
              <a:off x="1005" y="2541"/>
              <a:ext cx="1033" cy="1200"/>
            </a:xfrm>
            <a:custGeom>
              <a:avLst/>
              <a:gdLst>
                <a:gd name="T0" fmla="*/ 1033 w 1033"/>
                <a:gd name="T1" fmla="*/ 83 h 1200"/>
                <a:gd name="T2" fmla="*/ 1033 w 1033"/>
                <a:gd name="T3" fmla="*/ 0 h 1200"/>
                <a:gd name="T4" fmla="*/ 0 w 1033"/>
                <a:gd name="T5" fmla="*/ 5 h 1200"/>
                <a:gd name="T6" fmla="*/ 0 w 1033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3" h="1200">
                  <a:moveTo>
                    <a:pt x="1033" y="83"/>
                  </a:moveTo>
                  <a:lnTo>
                    <a:pt x="1033" y="0"/>
                  </a:lnTo>
                  <a:lnTo>
                    <a:pt x="0" y="5"/>
                  </a:lnTo>
                  <a:lnTo>
                    <a:pt x="0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3036" name="Line 51"/>
            <p:cNvSpPr>
              <a:spLocks noChangeShapeType="1"/>
            </p:cNvSpPr>
            <p:nvPr/>
          </p:nvSpPr>
          <p:spPr bwMode="auto">
            <a:xfrm flipH="1">
              <a:off x="1503" y="2285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37" name="Text Box 52"/>
            <p:cNvSpPr txBox="1">
              <a:spLocks noChangeArrowheads="1"/>
            </p:cNvSpPr>
            <p:nvPr/>
          </p:nvSpPr>
          <p:spPr bwMode="auto">
            <a:xfrm>
              <a:off x="1641" y="2307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&gt; 0</a:t>
              </a:r>
            </a:p>
          </p:txBody>
        </p:sp>
        <p:pic>
          <p:nvPicPr>
            <p:cNvPr id="43038" name="Picture 53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7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39" name="Freeform 54"/>
            <p:cNvSpPr>
              <a:spLocks/>
            </p:cNvSpPr>
            <p:nvPr/>
          </p:nvSpPr>
          <p:spPr bwMode="auto">
            <a:xfrm>
              <a:off x="1005" y="2154"/>
              <a:ext cx="489" cy="502"/>
            </a:xfrm>
            <a:custGeom>
              <a:avLst/>
              <a:gdLst>
                <a:gd name="T0" fmla="*/ 489 w 483"/>
                <a:gd name="T1" fmla="*/ 0 h 502"/>
                <a:gd name="T2" fmla="*/ 0 w 483"/>
                <a:gd name="T3" fmla="*/ 0 h 502"/>
                <a:gd name="T4" fmla="*/ 0 w 483"/>
                <a:gd name="T5" fmla="*/ 502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3" h="502">
                  <a:moveTo>
                    <a:pt x="483" y="0"/>
                  </a:moveTo>
                  <a:lnTo>
                    <a:pt x="0" y="0"/>
                  </a:lnTo>
                  <a:lnTo>
                    <a:pt x="0" y="5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3040" name="Freeform 55"/>
            <p:cNvSpPr>
              <a:spLocks/>
            </p:cNvSpPr>
            <p:nvPr/>
          </p:nvSpPr>
          <p:spPr bwMode="auto">
            <a:xfrm>
              <a:off x="2400" y="2163"/>
              <a:ext cx="672" cy="237"/>
            </a:xfrm>
            <a:custGeom>
              <a:avLst/>
              <a:gdLst>
                <a:gd name="T0" fmla="*/ 0 w 672"/>
                <a:gd name="T1" fmla="*/ 0 h 237"/>
                <a:gd name="T2" fmla="*/ 672 w 672"/>
                <a:gd name="T3" fmla="*/ 0 h 237"/>
                <a:gd name="T4" fmla="*/ 672 w 672"/>
                <a:gd name="T5" fmla="*/ 237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237">
                  <a:moveTo>
                    <a:pt x="0" y="0"/>
                  </a:moveTo>
                  <a:lnTo>
                    <a:pt x="672" y="0"/>
                  </a:lnTo>
                  <a:lnTo>
                    <a:pt x="672" y="2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34244" name="Group 68"/>
          <p:cNvGrpSpPr>
            <a:grpSpLocks/>
          </p:cNvGrpSpPr>
          <p:nvPr/>
        </p:nvGrpSpPr>
        <p:grpSpPr bwMode="auto">
          <a:xfrm>
            <a:off x="1592263" y="2835275"/>
            <a:ext cx="7048500" cy="3260725"/>
            <a:chOff x="1003" y="1786"/>
            <a:chExt cx="4440" cy="2054"/>
          </a:xfrm>
        </p:grpSpPr>
        <p:sp>
          <p:nvSpPr>
            <p:cNvPr id="43029" name="Text Box 56"/>
            <p:cNvSpPr txBox="1">
              <a:spLocks noChangeArrowheads="1"/>
            </p:cNvSpPr>
            <p:nvPr/>
          </p:nvSpPr>
          <p:spPr bwMode="auto">
            <a:xfrm>
              <a:off x="4585" y="2307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43030" name="Line 57"/>
            <p:cNvSpPr>
              <a:spLocks noChangeShapeType="1"/>
            </p:cNvSpPr>
            <p:nvPr/>
          </p:nvSpPr>
          <p:spPr bwMode="auto">
            <a:xfrm>
              <a:off x="4452" y="228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31" name="Freeform 60"/>
            <p:cNvSpPr>
              <a:spLocks/>
            </p:cNvSpPr>
            <p:nvPr/>
          </p:nvSpPr>
          <p:spPr bwMode="auto">
            <a:xfrm>
              <a:off x="3964" y="2166"/>
              <a:ext cx="496" cy="468"/>
            </a:xfrm>
            <a:custGeom>
              <a:avLst/>
              <a:gdLst>
                <a:gd name="T0" fmla="*/ 496 w 496"/>
                <a:gd name="T1" fmla="*/ 0 h 468"/>
                <a:gd name="T2" fmla="*/ 0 w 496"/>
                <a:gd name="T3" fmla="*/ 0 h 468"/>
                <a:gd name="T4" fmla="*/ 3 w 496"/>
                <a:gd name="T5" fmla="*/ 468 h 4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6" h="468">
                  <a:moveTo>
                    <a:pt x="496" y="0"/>
                  </a:moveTo>
                  <a:lnTo>
                    <a:pt x="0" y="0"/>
                  </a:lnTo>
                  <a:lnTo>
                    <a:pt x="3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43032" name="Picture 59" descr="vpol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14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33" name="Freeform 61"/>
            <p:cNvSpPr>
              <a:spLocks/>
            </p:cNvSpPr>
            <p:nvPr/>
          </p:nvSpPr>
          <p:spPr bwMode="auto">
            <a:xfrm>
              <a:off x="1003" y="2160"/>
              <a:ext cx="4440" cy="1680"/>
            </a:xfrm>
            <a:custGeom>
              <a:avLst/>
              <a:gdLst>
                <a:gd name="T0" fmla="*/ 4330 w 4440"/>
                <a:gd name="T1" fmla="*/ 0 h 1920"/>
                <a:gd name="T2" fmla="*/ 4440 w 4440"/>
                <a:gd name="T3" fmla="*/ 0 h 1920"/>
                <a:gd name="T4" fmla="*/ 4440 w 4440"/>
                <a:gd name="T5" fmla="*/ 1680 h 1920"/>
                <a:gd name="T6" fmla="*/ 0 w 4440"/>
                <a:gd name="T7" fmla="*/ 1671 h 19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40" h="1920">
                  <a:moveTo>
                    <a:pt x="4330" y="0"/>
                  </a:moveTo>
                  <a:lnTo>
                    <a:pt x="4440" y="0"/>
                  </a:lnTo>
                  <a:lnTo>
                    <a:pt x="4440" y="1920"/>
                  </a:lnTo>
                  <a:lnTo>
                    <a:pt x="0" y="19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3026" name="Text Box 62"/>
          <p:cNvSpPr txBox="1">
            <a:spLocks noChangeArrowheads="1"/>
          </p:cNvSpPr>
          <p:nvPr/>
        </p:nvSpPr>
        <p:spPr bwMode="auto">
          <a:xfrm>
            <a:off x="4981575" y="3646488"/>
            <a:ext cx="83978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3027" name="Text Box 63"/>
          <p:cNvSpPr txBox="1">
            <a:spLocks noChangeArrowheads="1"/>
          </p:cNvSpPr>
          <p:nvPr/>
        </p:nvSpPr>
        <p:spPr bwMode="auto">
          <a:xfrm>
            <a:off x="1995488" y="4035425"/>
            <a:ext cx="1004887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3028" name="Text Box 64"/>
          <p:cNvSpPr txBox="1">
            <a:spLocks noChangeArrowheads="1"/>
          </p:cNvSpPr>
          <p:nvPr/>
        </p:nvSpPr>
        <p:spPr bwMode="auto">
          <a:xfrm>
            <a:off x="6332538" y="3878263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3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220" grpId="0"/>
      <p:bldP spid="4342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1116013" y="1863725"/>
            <a:ext cx="6608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Accumulation</a:t>
            </a:r>
            <a:r>
              <a:rPr lang="fr-FR" altLang="fr-FR" sz="2000"/>
              <a:t> de charges </a:t>
            </a:r>
            <a:r>
              <a:rPr lang="fr-FR" altLang="fr-FR" sz="2400">
                <a:solidFill>
                  <a:srgbClr val="FF0000"/>
                </a:solidFill>
              </a:rPr>
              <a:t>positives</a:t>
            </a:r>
            <a:r>
              <a:rPr lang="fr-FR" altLang="fr-FR" sz="2000"/>
              <a:t> sur la </a:t>
            </a:r>
            <a:r>
              <a:rPr lang="fr-FR" altLang="fr-FR" sz="2400">
                <a:solidFill>
                  <a:srgbClr val="FF0000"/>
                </a:solidFill>
              </a:rPr>
              <a:t>grille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406525" y="717550"/>
            <a:ext cx="6105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d’un NMOS</a:t>
            </a:r>
            <a:endParaRPr lang="fr-FR" altLang="fr-FR"/>
          </a:p>
        </p:txBody>
      </p:sp>
      <p:grpSp>
        <p:nvGrpSpPr>
          <p:cNvPr id="44039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4080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4081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4082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4040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4077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4078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4079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4041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4042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4075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4076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4043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4073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4074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4044" name="Text Box 22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4045" name="Group 23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4071" name="Rectangle 24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4072" name="Line 25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4046" name="Group 28"/>
          <p:cNvGrpSpPr>
            <a:grpSpLocks/>
          </p:cNvGrpSpPr>
          <p:nvPr/>
        </p:nvGrpSpPr>
        <p:grpSpPr bwMode="auto">
          <a:xfrm>
            <a:off x="1387475" y="2835275"/>
            <a:ext cx="3489325" cy="3663950"/>
            <a:chOff x="874" y="1786"/>
            <a:chExt cx="2198" cy="2308"/>
          </a:xfrm>
        </p:grpSpPr>
        <p:grpSp>
          <p:nvGrpSpPr>
            <p:cNvPr id="44062" name="Group 29"/>
            <p:cNvGrpSpPr>
              <a:grpSpLocks/>
            </p:cNvGrpSpPr>
            <p:nvPr/>
          </p:nvGrpSpPr>
          <p:grpSpPr bwMode="auto">
            <a:xfrm>
              <a:off x="874" y="3736"/>
              <a:ext cx="280" cy="358"/>
              <a:chOff x="655" y="3655"/>
              <a:chExt cx="280" cy="358"/>
            </a:xfrm>
          </p:grpSpPr>
          <p:sp>
            <p:nvSpPr>
              <p:cNvPr id="44069" name="Line 30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4070" name="AutoShape 31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4063" name="Freeform 32"/>
            <p:cNvSpPr>
              <a:spLocks/>
            </p:cNvSpPr>
            <p:nvPr/>
          </p:nvSpPr>
          <p:spPr bwMode="auto">
            <a:xfrm>
              <a:off x="1005" y="2541"/>
              <a:ext cx="1033" cy="1200"/>
            </a:xfrm>
            <a:custGeom>
              <a:avLst/>
              <a:gdLst>
                <a:gd name="T0" fmla="*/ 1033 w 1033"/>
                <a:gd name="T1" fmla="*/ 83 h 1200"/>
                <a:gd name="T2" fmla="*/ 1033 w 1033"/>
                <a:gd name="T3" fmla="*/ 0 h 1200"/>
                <a:gd name="T4" fmla="*/ 0 w 1033"/>
                <a:gd name="T5" fmla="*/ 5 h 1200"/>
                <a:gd name="T6" fmla="*/ 0 w 1033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3" h="1200">
                  <a:moveTo>
                    <a:pt x="1033" y="83"/>
                  </a:moveTo>
                  <a:lnTo>
                    <a:pt x="1033" y="0"/>
                  </a:lnTo>
                  <a:lnTo>
                    <a:pt x="0" y="5"/>
                  </a:lnTo>
                  <a:lnTo>
                    <a:pt x="0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4064" name="Line 33"/>
            <p:cNvSpPr>
              <a:spLocks noChangeShapeType="1"/>
            </p:cNvSpPr>
            <p:nvPr/>
          </p:nvSpPr>
          <p:spPr bwMode="auto">
            <a:xfrm flipH="1">
              <a:off x="1503" y="2285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65" name="Text Box 34"/>
            <p:cNvSpPr txBox="1">
              <a:spLocks noChangeArrowheads="1"/>
            </p:cNvSpPr>
            <p:nvPr/>
          </p:nvSpPr>
          <p:spPr bwMode="auto">
            <a:xfrm>
              <a:off x="1641" y="2307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&gt; 0</a:t>
              </a:r>
            </a:p>
          </p:txBody>
        </p:sp>
        <p:pic>
          <p:nvPicPr>
            <p:cNvPr id="44066" name="Picture 35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7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7" name="Freeform 36"/>
            <p:cNvSpPr>
              <a:spLocks/>
            </p:cNvSpPr>
            <p:nvPr/>
          </p:nvSpPr>
          <p:spPr bwMode="auto">
            <a:xfrm>
              <a:off x="1005" y="2154"/>
              <a:ext cx="489" cy="502"/>
            </a:xfrm>
            <a:custGeom>
              <a:avLst/>
              <a:gdLst>
                <a:gd name="T0" fmla="*/ 489 w 483"/>
                <a:gd name="T1" fmla="*/ 0 h 502"/>
                <a:gd name="T2" fmla="*/ 0 w 483"/>
                <a:gd name="T3" fmla="*/ 0 h 502"/>
                <a:gd name="T4" fmla="*/ 0 w 483"/>
                <a:gd name="T5" fmla="*/ 502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3" h="502">
                  <a:moveTo>
                    <a:pt x="483" y="0"/>
                  </a:moveTo>
                  <a:lnTo>
                    <a:pt x="0" y="0"/>
                  </a:lnTo>
                  <a:lnTo>
                    <a:pt x="0" y="5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4068" name="Freeform 37"/>
            <p:cNvSpPr>
              <a:spLocks/>
            </p:cNvSpPr>
            <p:nvPr/>
          </p:nvSpPr>
          <p:spPr bwMode="auto">
            <a:xfrm>
              <a:off x="2400" y="2163"/>
              <a:ext cx="672" cy="237"/>
            </a:xfrm>
            <a:custGeom>
              <a:avLst/>
              <a:gdLst>
                <a:gd name="T0" fmla="*/ 0 w 672"/>
                <a:gd name="T1" fmla="*/ 0 h 237"/>
                <a:gd name="T2" fmla="*/ 672 w 672"/>
                <a:gd name="T3" fmla="*/ 0 h 237"/>
                <a:gd name="T4" fmla="*/ 672 w 672"/>
                <a:gd name="T5" fmla="*/ 237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237">
                  <a:moveTo>
                    <a:pt x="0" y="0"/>
                  </a:moveTo>
                  <a:lnTo>
                    <a:pt x="672" y="0"/>
                  </a:lnTo>
                  <a:lnTo>
                    <a:pt x="672" y="2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4047" name="Group 38"/>
          <p:cNvGrpSpPr>
            <a:grpSpLocks/>
          </p:cNvGrpSpPr>
          <p:nvPr/>
        </p:nvGrpSpPr>
        <p:grpSpPr bwMode="auto">
          <a:xfrm>
            <a:off x="1592263" y="2835275"/>
            <a:ext cx="7048500" cy="3260725"/>
            <a:chOff x="1003" y="1786"/>
            <a:chExt cx="4440" cy="2054"/>
          </a:xfrm>
        </p:grpSpPr>
        <p:sp>
          <p:nvSpPr>
            <p:cNvPr id="44057" name="Text Box 39"/>
            <p:cNvSpPr txBox="1">
              <a:spLocks noChangeArrowheads="1"/>
            </p:cNvSpPr>
            <p:nvPr/>
          </p:nvSpPr>
          <p:spPr bwMode="auto">
            <a:xfrm>
              <a:off x="4585" y="2307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44058" name="Line 40"/>
            <p:cNvSpPr>
              <a:spLocks noChangeShapeType="1"/>
            </p:cNvSpPr>
            <p:nvPr/>
          </p:nvSpPr>
          <p:spPr bwMode="auto">
            <a:xfrm>
              <a:off x="4452" y="228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59" name="Freeform 41"/>
            <p:cNvSpPr>
              <a:spLocks/>
            </p:cNvSpPr>
            <p:nvPr/>
          </p:nvSpPr>
          <p:spPr bwMode="auto">
            <a:xfrm>
              <a:off x="3964" y="2166"/>
              <a:ext cx="496" cy="468"/>
            </a:xfrm>
            <a:custGeom>
              <a:avLst/>
              <a:gdLst>
                <a:gd name="T0" fmla="*/ 496 w 496"/>
                <a:gd name="T1" fmla="*/ 0 h 468"/>
                <a:gd name="T2" fmla="*/ 0 w 496"/>
                <a:gd name="T3" fmla="*/ 0 h 468"/>
                <a:gd name="T4" fmla="*/ 3 w 496"/>
                <a:gd name="T5" fmla="*/ 468 h 4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6" h="468">
                  <a:moveTo>
                    <a:pt x="496" y="0"/>
                  </a:moveTo>
                  <a:lnTo>
                    <a:pt x="0" y="0"/>
                  </a:lnTo>
                  <a:lnTo>
                    <a:pt x="3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44060" name="Picture 42" descr="vpol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14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1" name="Freeform 43"/>
            <p:cNvSpPr>
              <a:spLocks/>
            </p:cNvSpPr>
            <p:nvPr/>
          </p:nvSpPr>
          <p:spPr bwMode="auto">
            <a:xfrm>
              <a:off x="1003" y="2160"/>
              <a:ext cx="4440" cy="1680"/>
            </a:xfrm>
            <a:custGeom>
              <a:avLst/>
              <a:gdLst>
                <a:gd name="T0" fmla="*/ 4330 w 4440"/>
                <a:gd name="T1" fmla="*/ 0 h 1920"/>
                <a:gd name="T2" fmla="*/ 4440 w 4440"/>
                <a:gd name="T3" fmla="*/ 0 h 1920"/>
                <a:gd name="T4" fmla="*/ 4440 w 4440"/>
                <a:gd name="T5" fmla="*/ 1680 h 1920"/>
                <a:gd name="T6" fmla="*/ 0 w 4440"/>
                <a:gd name="T7" fmla="*/ 1671 h 19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40" h="1920">
                  <a:moveTo>
                    <a:pt x="4330" y="0"/>
                  </a:moveTo>
                  <a:lnTo>
                    <a:pt x="4440" y="0"/>
                  </a:lnTo>
                  <a:lnTo>
                    <a:pt x="4440" y="1920"/>
                  </a:lnTo>
                  <a:lnTo>
                    <a:pt x="0" y="19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4048" name="Text Box 44"/>
          <p:cNvSpPr txBox="1">
            <a:spLocks noChangeArrowheads="1"/>
          </p:cNvSpPr>
          <p:nvPr/>
        </p:nvSpPr>
        <p:spPr bwMode="auto">
          <a:xfrm>
            <a:off x="4981575" y="3646488"/>
            <a:ext cx="83978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4049" name="Text Box 45"/>
          <p:cNvSpPr txBox="1">
            <a:spLocks noChangeArrowheads="1"/>
          </p:cNvSpPr>
          <p:nvPr/>
        </p:nvSpPr>
        <p:spPr bwMode="auto">
          <a:xfrm>
            <a:off x="1995488" y="4035425"/>
            <a:ext cx="1004887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4050" name="Text Box 46"/>
          <p:cNvSpPr txBox="1">
            <a:spLocks noChangeArrowheads="1"/>
          </p:cNvSpPr>
          <p:nvPr/>
        </p:nvSpPr>
        <p:spPr bwMode="auto">
          <a:xfrm>
            <a:off x="6332538" y="3878263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  <p:sp>
        <p:nvSpPr>
          <p:cNvPr id="435247" name="Oval 47"/>
          <p:cNvSpPr>
            <a:spLocks noChangeArrowheads="1"/>
          </p:cNvSpPr>
          <p:nvPr/>
        </p:nvSpPr>
        <p:spPr bwMode="auto">
          <a:xfrm>
            <a:off x="46069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5255" name="Oval 55"/>
          <p:cNvSpPr>
            <a:spLocks noChangeArrowheads="1"/>
          </p:cNvSpPr>
          <p:nvPr/>
        </p:nvSpPr>
        <p:spPr bwMode="auto">
          <a:xfrm>
            <a:off x="491331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5259" name="Oval 59"/>
          <p:cNvSpPr>
            <a:spLocks noChangeArrowheads="1"/>
          </p:cNvSpPr>
          <p:nvPr/>
        </p:nvSpPr>
        <p:spPr bwMode="auto">
          <a:xfrm>
            <a:off x="51657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5263" name="Oval 63"/>
          <p:cNvSpPr>
            <a:spLocks noChangeArrowheads="1"/>
          </p:cNvSpPr>
          <p:nvPr/>
        </p:nvSpPr>
        <p:spPr bwMode="auto">
          <a:xfrm>
            <a:off x="5613400" y="40957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5264" name="Oval 64"/>
          <p:cNvSpPr>
            <a:spLocks noChangeArrowheads="1"/>
          </p:cNvSpPr>
          <p:nvPr/>
        </p:nvSpPr>
        <p:spPr bwMode="auto">
          <a:xfrm>
            <a:off x="429736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5265" name="Oval 65"/>
          <p:cNvSpPr>
            <a:spLocks noChangeArrowheads="1"/>
          </p:cNvSpPr>
          <p:nvPr/>
        </p:nvSpPr>
        <p:spPr bwMode="auto">
          <a:xfrm>
            <a:off x="4033838" y="44656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C 0.00816 0.00787 0.01649 0.01574 0.02448 0.02014 C 0.03247 0.02454 0.04063 0.02686 0.04827 0.02686 C 0.0559 0.02686 0.06285 0.02362 0.06997 0.01945 C 0.07709 0.01528 0.08438 0.00463 0.09063 0.00162 C 0.09688 -0.00138 0.10174 -0.00115 0.10729 0.00162 C 0.11285 0.0044 0.12222 0.01135 0.12396 0.01852 C 0.1257 0.0257 0.12205 0.0375 0.11771 0.04445 C 0.11337 0.05139 0.10504 0.05857 0.09774 0.06088 C 0.09045 0.0632 0.08056 0.06412 0.07396 0.05857 C 0.06736 0.05301 0.06215 0.03727 0.05781 0.02755 C 0.05347 0.01783 0.05191 0.00602 0.04774 -4.07407E-6 C 0.04358 -0.00601 0.0375 -0.00671 0.03229 -0.00833 C 0.02709 -0.00995 0.02222 -0.01134 0.01667 -0.01041 C 0.01111 -0.00949 0.00261 -0.00463 -0.00104 -0.00301 " pathEditMode="relative" rAng="0" ptsTypes="aaaaaaaaaaaaaaa">
                                      <p:cBhvr>
                                        <p:cTn id="8" dur="2000" fill="hold"/>
                                        <p:tgtEl>
                                          <p:spTgt spid="4352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" y="2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fill="remove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52 -0.00023 C -0.00989 0.00186 -0.02014 0.00579 -0.02899 0.0088 C -0.03784 0.01181 -0.04514 0.01412 -0.05225 0.0176 C -0.05937 0.02107 -0.06788 0.02408 -0.0717 0.0294 C -0.07552 0.03473 -0.07257 0.04422 -0.075 0.05024 C -0.07743 0.05625 -0.08107 0.06366 -0.08611 0.06505 C -0.09114 0.06644 -0.10243 0.06389 -0.10555 0.05903 C -0.10868 0.05417 -0.10712 0.04074 -0.10451 0.03542 C -0.10191 0.0301 -0.09531 0.02732 -0.08958 0.02732 C -0.08385 0.02732 -0.07743 0.0294 -0.07014 0.03542 C -0.06284 0.04144 -0.05712 0.05741 -0.04566 0.06366 C -0.0342 0.06991 -0.01389 0.07616 -0.00173 0.07315 C 0.01042 0.07014 0.01684 0.05139 0.02709 0.04584 C 0.03733 0.04028 0.05191 0.04329 0.05938 0.03982 C 0.06684 0.03635 0.07153 0.0301 0.07223 0.02431 C 0.07292 0.01852 0.06962 0.00903 0.0632 0.0044 C 0.05677 -0.00023 0.0441 -0.00347 0.03386 -0.00393 C 0.02361 -0.00439 0.01094 -0.00231 0.00052 -0.00023 Z " pathEditMode="relative" ptsTypes="aaaaaaaaaaaaaaaaaa">
                                      <p:cBhvr>
                                        <p:cTn id="12" dur="2000" fill="hold"/>
                                        <p:tgtEl>
                                          <p:spTgt spid="435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fill="remove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53 -0.00532 C -0.01789 -0.00602 -0.03507 -0.00671 -0.04879 -0.0037 C -0.0625 -0.00069 -0.07223 0.01065 -0.08334 0.0132 C -0.09445 0.01574 -0.10417 0.01158 -0.11546 0.01181 C -0.12674 0.01204 -0.14358 0.01088 -0.15105 0.01389 C -0.15851 0.0169 -0.16059 0.02315 -0.1599 0.03033 C -0.15921 0.0375 -0.15469 0.05185 -0.14723 0.05764 C -0.13976 0.06343 -0.12796 0.06644 -0.11546 0.06505 C -0.10296 0.06366 -0.08473 0.05371 -0.07223 0.04884 C -0.05973 0.04398 -0.05087 0.03843 -0.04046 0.03542 C -0.03004 0.03241 -0.0165 0.03357 -0.0099 0.03033 C -0.0033 0.02709 -0.00226 0.0206 -0.00053 0.01551 C 0.00121 0.01042 0.00052 0.00509 4.72222E-6 1.85185E-6 " pathEditMode="relative" ptsTypes="aaaaaaaaaaaaA">
                                      <p:cBhvr>
                                        <p:cTn id="16" dur="2000" fill="hold"/>
                                        <p:tgtEl>
                                          <p:spTgt spid="435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fill="remove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7.5E-6 7.40741E-7 C -0.01754 0.00069 -0.0349 0.00162 -0.04393 -0.00232 C -0.05296 -0.00625 -0.05192 -0.01597 -0.05382 -0.02361 C -0.05573 -0.03125 -0.05261 -0.04259 -0.05504 -0.04884 C -0.05747 -0.05509 -0.06355 -0.05926 -0.06893 -0.06065 C -0.07431 -0.06204 -0.08195 -0.06204 -0.08785 -0.05787 C -0.09376 -0.0537 -0.10139 -0.04375 -0.10452 -0.03634 C -0.10764 -0.02894 -0.10817 -0.02083 -0.10608 -0.01343 C -0.104 -0.00602 -0.09792 0.00694 -0.09167 0.0081 C -0.08542 0.00926 -0.07501 -0.00139 -0.06841 -0.00671 C -0.06181 -0.01204 -0.05678 -0.0206 -0.05174 -0.02454 C -0.04671 -0.02847 -0.04462 -0.02824 -0.03785 -0.03102 C -0.03108 -0.0338 -0.02067 -0.03958 -0.0106 -0.04074 C -0.00053 -0.0419 0.01527 -0.0412 0.02274 -0.03773 C 0.0302 -0.03426 0.03368 -0.02546 0.03385 -0.01921 C 0.03402 -0.01296 0.02864 -0.00394 0.02395 -0.0007 C 0.01927 0.00255 0.00868 0.00046 0.00555 0.00069 " pathEditMode="relative" ptsTypes="aaaaaaaaaaaaaaaaA">
                                      <p:cBhvr>
                                        <p:cTn id="20" dur="2000" fill="hold"/>
                                        <p:tgtEl>
                                          <p:spTgt spid="435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fill="remove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5.83333E-6 -1.11111E-6 C -0.00522 -0.00648 -0.01042 -0.01273 -0.01181 -0.01944 C -0.0132 -0.02616 -0.01025 -0.03565 -0.00782 -0.04074 C -0.00539 -0.04583 -0.00122 -0.05023 0.00329 -0.05046 C 0.0078 -0.05069 0.01423 -0.04653 0.01944 -0.04167 C 0.02464 -0.03681 0.02742 -0.025 0.03489 -0.02083 C 0.04235 -0.01667 0.05451 -0.01759 0.0644 -0.01713 C 0.0743 -0.01667 0.08645 -0.01597 0.09444 -0.01852 C 0.10242 -0.02106 0.10885 -0.02639 0.11267 -0.03194 C 0.11648 -0.0375 0.12135 -0.04722 0.1177 -0.05185 C 0.11405 -0.05648 0.10103 -0.06042 0.09096 -0.05926 C 0.08089 -0.0581 0.06666 -0.05 0.05711 -0.04537 C 0.04756 -0.04074 0.04287 -0.03565 0.03333 -0.03125 C 0.02378 -0.02685 0.00971 -0.01898 -5.83333E-6 -0.01852 C -0.00973 -0.01806 -0.01633 -0.02662 -0.02501 -0.02893 C -0.03369 -0.03125 -0.04549 -0.03542 -0.05174 -0.03264 C -0.05799 -0.02986 -0.06268 -0.01921 -0.06233 -0.01273 C -0.06199 -0.00625 -0.05834 0.00162 -0.05001 0.00579 C -0.04167 0.00995 -0.02119 0.01319 -0.01233 0.0125 C -0.00348 0.01181 -0.00018 0.00694 0.00329 0.00208 " pathEditMode="relative" ptsTypes="aaaaaaaaaaaaaaaaaaaA">
                                      <p:cBhvr>
                                        <p:cTn id="24" dur="2000" fill="hold"/>
                                        <p:tgtEl>
                                          <p:spTgt spid="435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fill="remove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11111E-6 C 0.00469 -0.00579 0.02987 -0.01968 0.04063 -0.02685 C 0.05139 -0.03403 0.05712 -0.03866 0.06511 -0.04306 C 0.07309 -0.04745 0.07934 -0.05023 0.08889 -0.05278 C 0.09844 -0.05532 0.11198 -0.05995 0.12223 -0.05856 C 0.13247 -0.05718 0.14514 -0.05255 0.15 -0.04444 C 0.15487 -0.03634 0.15573 -0.01921 0.15174 -0.01042 C 0.14775 -0.00162 0.13542 0.00556 0.1257 0.0088 C 0.11598 0.01204 0.10243 0.01042 0.09341 0.00949 C 0.08438 0.00857 0.07778 0.00556 0.07118 0.0037 C 0.06459 0.00185 0.06094 -0.00116 0.05348 -0.00162 C 0.04601 -0.00208 0.03299 -0.00023 0.02622 0.00139 C 0.01945 0.00301 0.01702 0.00787 0.01233 0.0081 C 0.00764 0.00833 -0.00468 0.00579 -1.66667E-6 -1.11111E-6 Z " pathEditMode="relative" ptsTypes="aaaaaaaaaaaaaa">
                                      <p:cBhvr>
                                        <p:cTn id="28" dur="2000" fill="hold"/>
                                        <p:tgtEl>
                                          <p:spTgt spid="435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47" grpId="0" animBg="1"/>
      <p:bldP spid="435247" grpId="1" animBg="1"/>
      <p:bldP spid="435255" grpId="0" animBg="1"/>
      <p:bldP spid="435255" grpId="1" animBg="1"/>
      <p:bldP spid="435259" grpId="0" animBg="1"/>
      <p:bldP spid="435259" grpId="1" animBg="1"/>
      <p:bldP spid="435263" grpId="0" animBg="1"/>
      <p:bldP spid="435263" grpId="1" animBg="1"/>
      <p:bldP spid="435264" grpId="0" animBg="1"/>
      <p:bldP spid="435264" grpId="1" animBg="1"/>
      <p:bldP spid="435265" grpId="0" animBg="1"/>
      <p:bldP spid="435265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116013" y="1863725"/>
            <a:ext cx="7431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Création d’un </a:t>
            </a:r>
            <a:r>
              <a:rPr lang="fr-FR" altLang="fr-FR" sz="2400">
                <a:solidFill>
                  <a:srgbClr val="FF0000"/>
                </a:solidFill>
              </a:rPr>
              <a:t>champ électrique E</a:t>
            </a:r>
            <a:r>
              <a:rPr lang="fr-FR" altLang="fr-FR" sz="2000"/>
              <a:t> sur la </a:t>
            </a:r>
            <a:r>
              <a:rPr lang="fr-FR" altLang="fr-FR" sz="2400">
                <a:solidFill>
                  <a:srgbClr val="FF0000"/>
                </a:solidFill>
              </a:rPr>
              <a:t>capacité MOS 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1406525" y="717550"/>
            <a:ext cx="6105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d’un NMOS</a:t>
            </a:r>
            <a:endParaRPr lang="fr-FR" altLang="fr-FR"/>
          </a:p>
        </p:txBody>
      </p:sp>
      <p:grpSp>
        <p:nvGrpSpPr>
          <p:cNvPr id="45063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5107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5108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5109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5064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5104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5105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5106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5065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5066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5102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5103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5067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5100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5101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5068" name="Text Box 22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5069" name="Group 23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5098" name="Rectangle 24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5099" name="Line 25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5070" name="Group 26"/>
          <p:cNvGrpSpPr>
            <a:grpSpLocks/>
          </p:cNvGrpSpPr>
          <p:nvPr/>
        </p:nvGrpSpPr>
        <p:grpSpPr bwMode="auto">
          <a:xfrm>
            <a:off x="1387475" y="2835275"/>
            <a:ext cx="3489325" cy="3663950"/>
            <a:chOff x="874" y="1786"/>
            <a:chExt cx="2198" cy="2308"/>
          </a:xfrm>
        </p:grpSpPr>
        <p:grpSp>
          <p:nvGrpSpPr>
            <p:cNvPr id="45089" name="Group 27"/>
            <p:cNvGrpSpPr>
              <a:grpSpLocks/>
            </p:cNvGrpSpPr>
            <p:nvPr/>
          </p:nvGrpSpPr>
          <p:grpSpPr bwMode="auto">
            <a:xfrm>
              <a:off x="874" y="3736"/>
              <a:ext cx="280" cy="358"/>
              <a:chOff x="655" y="3655"/>
              <a:chExt cx="280" cy="358"/>
            </a:xfrm>
          </p:grpSpPr>
          <p:sp>
            <p:nvSpPr>
              <p:cNvPr id="45096" name="Line 28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5097" name="AutoShape 29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5090" name="Freeform 30"/>
            <p:cNvSpPr>
              <a:spLocks/>
            </p:cNvSpPr>
            <p:nvPr/>
          </p:nvSpPr>
          <p:spPr bwMode="auto">
            <a:xfrm>
              <a:off x="1005" y="2541"/>
              <a:ext cx="1033" cy="1200"/>
            </a:xfrm>
            <a:custGeom>
              <a:avLst/>
              <a:gdLst>
                <a:gd name="T0" fmla="*/ 1033 w 1033"/>
                <a:gd name="T1" fmla="*/ 83 h 1200"/>
                <a:gd name="T2" fmla="*/ 1033 w 1033"/>
                <a:gd name="T3" fmla="*/ 0 h 1200"/>
                <a:gd name="T4" fmla="*/ 0 w 1033"/>
                <a:gd name="T5" fmla="*/ 5 h 1200"/>
                <a:gd name="T6" fmla="*/ 0 w 1033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3" h="1200">
                  <a:moveTo>
                    <a:pt x="1033" y="83"/>
                  </a:moveTo>
                  <a:lnTo>
                    <a:pt x="1033" y="0"/>
                  </a:lnTo>
                  <a:lnTo>
                    <a:pt x="0" y="5"/>
                  </a:lnTo>
                  <a:lnTo>
                    <a:pt x="0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5091" name="Line 31"/>
            <p:cNvSpPr>
              <a:spLocks noChangeShapeType="1"/>
            </p:cNvSpPr>
            <p:nvPr/>
          </p:nvSpPr>
          <p:spPr bwMode="auto">
            <a:xfrm flipH="1">
              <a:off x="1503" y="2285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092" name="Text Box 32"/>
            <p:cNvSpPr txBox="1">
              <a:spLocks noChangeArrowheads="1"/>
            </p:cNvSpPr>
            <p:nvPr/>
          </p:nvSpPr>
          <p:spPr bwMode="auto">
            <a:xfrm>
              <a:off x="1641" y="2307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&gt; 0</a:t>
              </a:r>
            </a:p>
          </p:txBody>
        </p:sp>
        <p:pic>
          <p:nvPicPr>
            <p:cNvPr id="45093" name="Picture 33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7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94" name="Freeform 34"/>
            <p:cNvSpPr>
              <a:spLocks/>
            </p:cNvSpPr>
            <p:nvPr/>
          </p:nvSpPr>
          <p:spPr bwMode="auto">
            <a:xfrm>
              <a:off x="1005" y="2154"/>
              <a:ext cx="489" cy="502"/>
            </a:xfrm>
            <a:custGeom>
              <a:avLst/>
              <a:gdLst>
                <a:gd name="T0" fmla="*/ 489 w 483"/>
                <a:gd name="T1" fmla="*/ 0 h 502"/>
                <a:gd name="T2" fmla="*/ 0 w 483"/>
                <a:gd name="T3" fmla="*/ 0 h 502"/>
                <a:gd name="T4" fmla="*/ 0 w 483"/>
                <a:gd name="T5" fmla="*/ 502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3" h="502">
                  <a:moveTo>
                    <a:pt x="483" y="0"/>
                  </a:moveTo>
                  <a:lnTo>
                    <a:pt x="0" y="0"/>
                  </a:lnTo>
                  <a:lnTo>
                    <a:pt x="0" y="5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5095" name="Freeform 35"/>
            <p:cNvSpPr>
              <a:spLocks/>
            </p:cNvSpPr>
            <p:nvPr/>
          </p:nvSpPr>
          <p:spPr bwMode="auto">
            <a:xfrm>
              <a:off x="2400" y="2163"/>
              <a:ext cx="672" cy="237"/>
            </a:xfrm>
            <a:custGeom>
              <a:avLst/>
              <a:gdLst>
                <a:gd name="T0" fmla="*/ 0 w 672"/>
                <a:gd name="T1" fmla="*/ 0 h 237"/>
                <a:gd name="T2" fmla="*/ 672 w 672"/>
                <a:gd name="T3" fmla="*/ 0 h 237"/>
                <a:gd name="T4" fmla="*/ 672 w 672"/>
                <a:gd name="T5" fmla="*/ 237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237">
                  <a:moveTo>
                    <a:pt x="0" y="0"/>
                  </a:moveTo>
                  <a:lnTo>
                    <a:pt x="672" y="0"/>
                  </a:lnTo>
                  <a:lnTo>
                    <a:pt x="672" y="2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5071" name="Group 36"/>
          <p:cNvGrpSpPr>
            <a:grpSpLocks/>
          </p:cNvGrpSpPr>
          <p:nvPr/>
        </p:nvGrpSpPr>
        <p:grpSpPr bwMode="auto">
          <a:xfrm>
            <a:off x="1592263" y="2835275"/>
            <a:ext cx="7048500" cy="3260725"/>
            <a:chOff x="1003" y="1786"/>
            <a:chExt cx="4440" cy="2054"/>
          </a:xfrm>
        </p:grpSpPr>
        <p:sp>
          <p:nvSpPr>
            <p:cNvPr id="45084" name="Text Box 37"/>
            <p:cNvSpPr txBox="1">
              <a:spLocks noChangeArrowheads="1"/>
            </p:cNvSpPr>
            <p:nvPr/>
          </p:nvSpPr>
          <p:spPr bwMode="auto">
            <a:xfrm>
              <a:off x="4585" y="2307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45085" name="Line 38"/>
            <p:cNvSpPr>
              <a:spLocks noChangeShapeType="1"/>
            </p:cNvSpPr>
            <p:nvPr/>
          </p:nvSpPr>
          <p:spPr bwMode="auto">
            <a:xfrm>
              <a:off x="4452" y="228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086" name="Freeform 39"/>
            <p:cNvSpPr>
              <a:spLocks/>
            </p:cNvSpPr>
            <p:nvPr/>
          </p:nvSpPr>
          <p:spPr bwMode="auto">
            <a:xfrm>
              <a:off x="3964" y="2166"/>
              <a:ext cx="496" cy="468"/>
            </a:xfrm>
            <a:custGeom>
              <a:avLst/>
              <a:gdLst>
                <a:gd name="T0" fmla="*/ 496 w 496"/>
                <a:gd name="T1" fmla="*/ 0 h 468"/>
                <a:gd name="T2" fmla="*/ 0 w 496"/>
                <a:gd name="T3" fmla="*/ 0 h 468"/>
                <a:gd name="T4" fmla="*/ 3 w 496"/>
                <a:gd name="T5" fmla="*/ 468 h 4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6" h="468">
                  <a:moveTo>
                    <a:pt x="496" y="0"/>
                  </a:moveTo>
                  <a:lnTo>
                    <a:pt x="0" y="0"/>
                  </a:lnTo>
                  <a:lnTo>
                    <a:pt x="3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45087" name="Picture 40" descr="vpol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14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88" name="Freeform 41"/>
            <p:cNvSpPr>
              <a:spLocks/>
            </p:cNvSpPr>
            <p:nvPr/>
          </p:nvSpPr>
          <p:spPr bwMode="auto">
            <a:xfrm>
              <a:off x="1003" y="2160"/>
              <a:ext cx="4440" cy="1680"/>
            </a:xfrm>
            <a:custGeom>
              <a:avLst/>
              <a:gdLst>
                <a:gd name="T0" fmla="*/ 4330 w 4440"/>
                <a:gd name="T1" fmla="*/ 0 h 1920"/>
                <a:gd name="T2" fmla="*/ 4440 w 4440"/>
                <a:gd name="T3" fmla="*/ 0 h 1920"/>
                <a:gd name="T4" fmla="*/ 4440 w 4440"/>
                <a:gd name="T5" fmla="*/ 1680 h 1920"/>
                <a:gd name="T6" fmla="*/ 0 w 4440"/>
                <a:gd name="T7" fmla="*/ 1671 h 19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40" h="1920">
                  <a:moveTo>
                    <a:pt x="4330" y="0"/>
                  </a:moveTo>
                  <a:lnTo>
                    <a:pt x="4440" y="0"/>
                  </a:lnTo>
                  <a:lnTo>
                    <a:pt x="4440" y="1920"/>
                  </a:lnTo>
                  <a:lnTo>
                    <a:pt x="0" y="19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5072" name="Text Box 42"/>
          <p:cNvSpPr txBox="1">
            <a:spLocks noChangeArrowheads="1"/>
          </p:cNvSpPr>
          <p:nvPr/>
        </p:nvSpPr>
        <p:spPr bwMode="auto">
          <a:xfrm>
            <a:off x="4981575" y="3646488"/>
            <a:ext cx="83978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5073" name="Text Box 43"/>
          <p:cNvSpPr txBox="1">
            <a:spLocks noChangeArrowheads="1"/>
          </p:cNvSpPr>
          <p:nvPr/>
        </p:nvSpPr>
        <p:spPr bwMode="auto">
          <a:xfrm>
            <a:off x="1995488" y="4035425"/>
            <a:ext cx="1004887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5074" name="Text Box 44"/>
          <p:cNvSpPr txBox="1">
            <a:spLocks noChangeArrowheads="1"/>
          </p:cNvSpPr>
          <p:nvPr/>
        </p:nvSpPr>
        <p:spPr bwMode="auto">
          <a:xfrm>
            <a:off x="6332538" y="3878263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  <p:sp>
        <p:nvSpPr>
          <p:cNvPr id="45075" name="Oval 45"/>
          <p:cNvSpPr>
            <a:spLocks noChangeArrowheads="1"/>
          </p:cNvSpPr>
          <p:nvPr/>
        </p:nvSpPr>
        <p:spPr bwMode="auto">
          <a:xfrm>
            <a:off x="46069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076" name="Oval 46"/>
          <p:cNvSpPr>
            <a:spLocks noChangeArrowheads="1"/>
          </p:cNvSpPr>
          <p:nvPr/>
        </p:nvSpPr>
        <p:spPr bwMode="auto">
          <a:xfrm>
            <a:off x="491331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077" name="Oval 47"/>
          <p:cNvSpPr>
            <a:spLocks noChangeArrowheads="1"/>
          </p:cNvSpPr>
          <p:nvPr/>
        </p:nvSpPr>
        <p:spPr bwMode="auto">
          <a:xfrm>
            <a:off x="51657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078" name="Oval 48"/>
          <p:cNvSpPr>
            <a:spLocks noChangeArrowheads="1"/>
          </p:cNvSpPr>
          <p:nvPr/>
        </p:nvSpPr>
        <p:spPr bwMode="auto">
          <a:xfrm>
            <a:off x="5613400" y="40957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079" name="Oval 49"/>
          <p:cNvSpPr>
            <a:spLocks noChangeArrowheads="1"/>
          </p:cNvSpPr>
          <p:nvPr/>
        </p:nvSpPr>
        <p:spPr bwMode="auto">
          <a:xfrm>
            <a:off x="429736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5080" name="Oval 50"/>
          <p:cNvSpPr>
            <a:spLocks noChangeArrowheads="1"/>
          </p:cNvSpPr>
          <p:nvPr/>
        </p:nvSpPr>
        <p:spPr bwMode="auto">
          <a:xfrm>
            <a:off x="4033838" y="44656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36277" name="Group 53"/>
          <p:cNvGrpSpPr>
            <a:grpSpLocks/>
          </p:cNvGrpSpPr>
          <p:nvPr/>
        </p:nvGrpSpPr>
        <p:grpSpPr bwMode="auto">
          <a:xfrm>
            <a:off x="4313238" y="4635500"/>
            <a:ext cx="473075" cy="479425"/>
            <a:chOff x="2717" y="2920"/>
            <a:chExt cx="298" cy="302"/>
          </a:xfrm>
        </p:grpSpPr>
        <p:sp>
          <p:nvSpPr>
            <p:cNvPr id="45082" name="AutoShape 51"/>
            <p:cNvSpPr>
              <a:spLocks noChangeArrowheads="1"/>
            </p:cNvSpPr>
            <p:nvPr/>
          </p:nvSpPr>
          <p:spPr bwMode="auto">
            <a:xfrm>
              <a:off x="2717" y="2939"/>
              <a:ext cx="156" cy="283"/>
            </a:xfrm>
            <a:prstGeom prst="downArrow">
              <a:avLst>
                <a:gd name="adj1" fmla="val 50000"/>
                <a:gd name="adj2" fmla="val 45353"/>
              </a:avLst>
            </a:prstGeom>
            <a:solidFill>
              <a:srgbClr val="0000FF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5083" name="Text Box 52"/>
            <p:cNvSpPr txBox="1">
              <a:spLocks noChangeArrowheads="1"/>
            </p:cNvSpPr>
            <p:nvPr/>
          </p:nvSpPr>
          <p:spPr bwMode="auto">
            <a:xfrm>
              <a:off x="2795" y="2920"/>
              <a:ext cx="220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>
                  <a:solidFill>
                    <a:srgbClr val="3366FF"/>
                  </a:solidFill>
                  <a:latin typeface="Tahoma" pitchFamily="34" charset="0"/>
                </a:rPr>
                <a:t>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1116013" y="1863725"/>
            <a:ext cx="7431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Trous</a:t>
            </a:r>
            <a:r>
              <a:rPr lang="fr-FR" altLang="fr-FR" sz="2000"/>
              <a:t> majoritaires du substrat </a:t>
            </a:r>
            <a:r>
              <a:rPr lang="fr-FR" altLang="fr-FR" sz="2400">
                <a:solidFill>
                  <a:srgbClr val="FF0000"/>
                </a:solidFill>
              </a:rPr>
              <a:t>repoussés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1406525" y="717550"/>
            <a:ext cx="6105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d’un NMOS</a:t>
            </a:r>
            <a:endParaRPr lang="fr-FR" altLang="fr-FR"/>
          </a:p>
        </p:txBody>
      </p:sp>
      <p:grpSp>
        <p:nvGrpSpPr>
          <p:cNvPr id="46087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6139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6140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6141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6088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6136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6137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6138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6089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6090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6134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6135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6091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6132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6133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6092" name="Text Box 22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6093" name="Group 23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6130" name="Rectangle 24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6131" name="Line 25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6094" name="Group 26"/>
          <p:cNvGrpSpPr>
            <a:grpSpLocks/>
          </p:cNvGrpSpPr>
          <p:nvPr/>
        </p:nvGrpSpPr>
        <p:grpSpPr bwMode="auto">
          <a:xfrm>
            <a:off x="1387475" y="2835275"/>
            <a:ext cx="3489325" cy="3663950"/>
            <a:chOff x="874" y="1786"/>
            <a:chExt cx="2198" cy="2308"/>
          </a:xfrm>
        </p:grpSpPr>
        <p:grpSp>
          <p:nvGrpSpPr>
            <p:cNvPr id="46121" name="Group 27"/>
            <p:cNvGrpSpPr>
              <a:grpSpLocks/>
            </p:cNvGrpSpPr>
            <p:nvPr/>
          </p:nvGrpSpPr>
          <p:grpSpPr bwMode="auto">
            <a:xfrm>
              <a:off x="874" y="3736"/>
              <a:ext cx="280" cy="358"/>
              <a:chOff x="655" y="3655"/>
              <a:chExt cx="280" cy="358"/>
            </a:xfrm>
          </p:grpSpPr>
          <p:sp>
            <p:nvSpPr>
              <p:cNvPr id="46128" name="Line 28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6129" name="AutoShape 29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6122" name="Freeform 30"/>
            <p:cNvSpPr>
              <a:spLocks/>
            </p:cNvSpPr>
            <p:nvPr/>
          </p:nvSpPr>
          <p:spPr bwMode="auto">
            <a:xfrm>
              <a:off x="1005" y="2541"/>
              <a:ext cx="1033" cy="1200"/>
            </a:xfrm>
            <a:custGeom>
              <a:avLst/>
              <a:gdLst>
                <a:gd name="T0" fmla="*/ 1033 w 1033"/>
                <a:gd name="T1" fmla="*/ 83 h 1200"/>
                <a:gd name="T2" fmla="*/ 1033 w 1033"/>
                <a:gd name="T3" fmla="*/ 0 h 1200"/>
                <a:gd name="T4" fmla="*/ 0 w 1033"/>
                <a:gd name="T5" fmla="*/ 5 h 1200"/>
                <a:gd name="T6" fmla="*/ 0 w 1033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3" h="1200">
                  <a:moveTo>
                    <a:pt x="1033" y="83"/>
                  </a:moveTo>
                  <a:lnTo>
                    <a:pt x="1033" y="0"/>
                  </a:lnTo>
                  <a:lnTo>
                    <a:pt x="0" y="5"/>
                  </a:lnTo>
                  <a:lnTo>
                    <a:pt x="0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6123" name="Line 31"/>
            <p:cNvSpPr>
              <a:spLocks noChangeShapeType="1"/>
            </p:cNvSpPr>
            <p:nvPr/>
          </p:nvSpPr>
          <p:spPr bwMode="auto">
            <a:xfrm flipH="1">
              <a:off x="1503" y="2285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24" name="Text Box 32"/>
            <p:cNvSpPr txBox="1">
              <a:spLocks noChangeArrowheads="1"/>
            </p:cNvSpPr>
            <p:nvPr/>
          </p:nvSpPr>
          <p:spPr bwMode="auto">
            <a:xfrm>
              <a:off x="1641" y="2307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&gt; 0</a:t>
              </a:r>
            </a:p>
          </p:txBody>
        </p:sp>
        <p:pic>
          <p:nvPicPr>
            <p:cNvPr id="46125" name="Picture 33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7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126" name="Freeform 34"/>
            <p:cNvSpPr>
              <a:spLocks/>
            </p:cNvSpPr>
            <p:nvPr/>
          </p:nvSpPr>
          <p:spPr bwMode="auto">
            <a:xfrm>
              <a:off x="1005" y="2154"/>
              <a:ext cx="489" cy="502"/>
            </a:xfrm>
            <a:custGeom>
              <a:avLst/>
              <a:gdLst>
                <a:gd name="T0" fmla="*/ 489 w 483"/>
                <a:gd name="T1" fmla="*/ 0 h 502"/>
                <a:gd name="T2" fmla="*/ 0 w 483"/>
                <a:gd name="T3" fmla="*/ 0 h 502"/>
                <a:gd name="T4" fmla="*/ 0 w 483"/>
                <a:gd name="T5" fmla="*/ 502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3" h="502">
                  <a:moveTo>
                    <a:pt x="483" y="0"/>
                  </a:moveTo>
                  <a:lnTo>
                    <a:pt x="0" y="0"/>
                  </a:lnTo>
                  <a:lnTo>
                    <a:pt x="0" y="5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6127" name="Freeform 35"/>
            <p:cNvSpPr>
              <a:spLocks/>
            </p:cNvSpPr>
            <p:nvPr/>
          </p:nvSpPr>
          <p:spPr bwMode="auto">
            <a:xfrm>
              <a:off x="2400" y="2163"/>
              <a:ext cx="672" cy="237"/>
            </a:xfrm>
            <a:custGeom>
              <a:avLst/>
              <a:gdLst>
                <a:gd name="T0" fmla="*/ 0 w 672"/>
                <a:gd name="T1" fmla="*/ 0 h 237"/>
                <a:gd name="T2" fmla="*/ 672 w 672"/>
                <a:gd name="T3" fmla="*/ 0 h 237"/>
                <a:gd name="T4" fmla="*/ 672 w 672"/>
                <a:gd name="T5" fmla="*/ 237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237">
                  <a:moveTo>
                    <a:pt x="0" y="0"/>
                  </a:moveTo>
                  <a:lnTo>
                    <a:pt x="672" y="0"/>
                  </a:lnTo>
                  <a:lnTo>
                    <a:pt x="672" y="2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6095" name="Group 36"/>
          <p:cNvGrpSpPr>
            <a:grpSpLocks/>
          </p:cNvGrpSpPr>
          <p:nvPr/>
        </p:nvGrpSpPr>
        <p:grpSpPr bwMode="auto">
          <a:xfrm>
            <a:off x="1592263" y="2835275"/>
            <a:ext cx="7048500" cy="3260725"/>
            <a:chOff x="1003" y="1786"/>
            <a:chExt cx="4440" cy="2054"/>
          </a:xfrm>
        </p:grpSpPr>
        <p:sp>
          <p:nvSpPr>
            <p:cNvPr id="46116" name="Text Box 37"/>
            <p:cNvSpPr txBox="1">
              <a:spLocks noChangeArrowheads="1"/>
            </p:cNvSpPr>
            <p:nvPr/>
          </p:nvSpPr>
          <p:spPr bwMode="auto">
            <a:xfrm>
              <a:off x="4585" y="2307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46117" name="Line 38"/>
            <p:cNvSpPr>
              <a:spLocks noChangeShapeType="1"/>
            </p:cNvSpPr>
            <p:nvPr/>
          </p:nvSpPr>
          <p:spPr bwMode="auto">
            <a:xfrm>
              <a:off x="4452" y="228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118" name="Freeform 39"/>
            <p:cNvSpPr>
              <a:spLocks/>
            </p:cNvSpPr>
            <p:nvPr/>
          </p:nvSpPr>
          <p:spPr bwMode="auto">
            <a:xfrm>
              <a:off x="3964" y="2166"/>
              <a:ext cx="496" cy="468"/>
            </a:xfrm>
            <a:custGeom>
              <a:avLst/>
              <a:gdLst>
                <a:gd name="T0" fmla="*/ 496 w 496"/>
                <a:gd name="T1" fmla="*/ 0 h 468"/>
                <a:gd name="T2" fmla="*/ 0 w 496"/>
                <a:gd name="T3" fmla="*/ 0 h 468"/>
                <a:gd name="T4" fmla="*/ 3 w 496"/>
                <a:gd name="T5" fmla="*/ 468 h 4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6" h="468">
                  <a:moveTo>
                    <a:pt x="496" y="0"/>
                  </a:moveTo>
                  <a:lnTo>
                    <a:pt x="0" y="0"/>
                  </a:lnTo>
                  <a:lnTo>
                    <a:pt x="3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46119" name="Picture 40" descr="vpol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14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120" name="Freeform 41"/>
            <p:cNvSpPr>
              <a:spLocks/>
            </p:cNvSpPr>
            <p:nvPr/>
          </p:nvSpPr>
          <p:spPr bwMode="auto">
            <a:xfrm>
              <a:off x="1003" y="2160"/>
              <a:ext cx="4440" cy="1680"/>
            </a:xfrm>
            <a:custGeom>
              <a:avLst/>
              <a:gdLst>
                <a:gd name="T0" fmla="*/ 4330 w 4440"/>
                <a:gd name="T1" fmla="*/ 0 h 1920"/>
                <a:gd name="T2" fmla="*/ 4440 w 4440"/>
                <a:gd name="T3" fmla="*/ 0 h 1920"/>
                <a:gd name="T4" fmla="*/ 4440 w 4440"/>
                <a:gd name="T5" fmla="*/ 1680 h 1920"/>
                <a:gd name="T6" fmla="*/ 0 w 4440"/>
                <a:gd name="T7" fmla="*/ 1671 h 19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40" h="1920">
                  <a:moveTo>
                    <a:pt x="4330" y="0"/>
                  </a:moveTo>
                  <a:lnTo>
                    <a:pt x="4440" y="0"/>
                  </a:lnTo>
                  <a:lnTo>
                    <a:pt x="4440" y="1920"/>
                  </a:lnTo>
                  <a:lnTo>
                    <a:pt x="0" y="19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6096" name="Text Box 42"/>
          <p:cNvSpPr txBox="1">
            <a:spLocks noChangeArrowheads="1"/>
          </p:cNvSpPr>
          <p:nvPr/>
        </p:nvSpPr>
        <p:spPr bwMode="auto">
          <a:xfrm>
            <a:off x="4981575" y="3646488"/>
            <a:ext cx="83978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6097" name="Text Box 43"/>
          <p:cNvSpPr txBox="1">
            <a:spLocks noChangeArrowheads="1"/>
          </p:cNvSpPr>
          <p:nvPr/>
        </p:nvSpPr>
        <p:spPr bwMode="auto">
          <a:xfrm>
            <a:off x="1995488" y="4035425"/>
            <a:ext cx="1004887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6098" name="Text Box 44"/>
          <p:cNvSpPr txBox="1">
            <a:spLocks noChangeArrowheads="1"/>
          </p:cNvSpPr>
          <p:nvPr/>
        </p:nvSpPr>
        <p:spPr bwMode="auto">
          <a:xfrm>
            <a:off x="6332538" y="3878263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  <p:sp>
        <p:nvSpPr>
          <p:cNvPr id="46099" name="Oval 45"/>
          <p:cNvSpPr>
            <a:spLocks noChangeArrowheads="1"/>
          </p:cNvSpPr>
          <p:nvPr/>
        </p:nvSpPr>
        <p:spPr bwMode="auto">
          <a:xfrm>
            <a:off x="46069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100" name="Oval 46"/>
          <p:cNvSpPr>
            <a:spLocks noChangeArrowheads="1"/>
          </p:cNvSpPr>
          <p:nvPr/>
        </p:nvSpPr>
        <p:spPr bwMode="auto">
          <a:xfrm>
            <a:off x="491331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101" name="Oval 47"/>
          <p:cNvSpPr>
            <a:spLocks noChangeArrowheads="1"/>
          </p:cNvSpPr>
          <p:nvPr/>
        </p:nvSpPr>
        <p:spPr bwMode="auto">
          <a:xfrm>
            <a:off x="51657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102" name="Oval 48"/>
          <p:cNvSpPr>
            <a:spLocks noChangeArrowheads="1"/>
          </p:cNvSpPr>
          <p:nvPr/>
        </p:nvSpPr>
        <p:spPr bwMode="auto">
          <a:xfrm>
            <a:off x="5613400" y="40957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103" name="Oval 49"/>
          <p:cNvSpPr>
            <a:spLocks noChangeArrowheads="1"/>
          </p:cNvSpPr>
          <p:nvPr/>
        </p:nvSpPr>
        <p:spPr bwMode="auto">
          <a:xfrm>
            <a:off x="429736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6104" name="Oval 50"/>
          <p:cNvSpPr>
            <a:spLocks noChangeArrowheads="1"/>
          </p:cNvSpPr>
          <p:nvPr/>
        </p:nvSpPr>
        <p:spPr bwMode="auto">
          <a:xfrm>
            <a:off x="4033838" y="44656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6105" name="Group 51"/>
          <p:cNvGrpSpPr>
            <a:grpSpLocks/>
          </p:cNvGrpSpPr>
          <p:nvPr/>
        </p:nvGrpSpPr>
        <p:grpSpPr bwMode="auto">
          <a:xfrm>
            <a:off x="4313238" y="4635500"/>
            <a:ext cx="473075" cy="479425"/>
            <a:chOff x="2717" y="2920"/>
            <a:chExt cx="298" cy="302"/>
          </a:xfrm>
        </p:grpSpPr>
        <p:sp>
          <p:nvSpPr>
            <p:cNvPr id="46114" name="AutoShape 52"/>
            <p:cNvSpPr>
              <a:spLocks noChangeArrowheads="1"/>
            </p:cNvSpPr>
            <p:nvPr/>
          </p:nvSpPr>
          <p:spPr bwMode="auto">
            <a:xfrm>
              <a:off x="2717" y="2939"/>
              <a:ext cx="156" cy="283"/>
            </a:xfrm>
            <a:prstGeom prst="downArrow">
              <a:avLst>
                <a:gd name="adj1" fmla="val 50000"/>
                <a:gd name="adj2" fmla="val 45353"/>
              </a:avLst>
            </a:prstGeom>
            <a:solidFill>
              <a:srgbClr val="0000FF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6115" name="Text Box 53"/>
            <p:cNvSpPr txBox="1">
              <a:spLocks noChangeArrowheads="1"/>
            </p:cNvSpPr>
            <p:nvPr/>
          </p:nvSpPr>
          <p:spPr bwMode="auto">
            <a:xfrm>
              <a:off x="2795" y="2920"/>
              <a:ext cx="220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>
                  <a:solidFill>
                    <a:srgbClr val="3366FF"/>
                  </a:solidFill>
                  <a:latin typeface="Tahoma" pitchFamily="34" charset="0"/>
                </a:rPr>
                <a:t>E</a:t>
              </a:r>
            </a:p>
          </p:txBody>
        </p:sp>
      </p:grpSp>
      <p:sp>
        <p:nvSpPr>
          <p:cNvPr id="437303" name="Oval 55"/>
          <p:cNvSpPr>
            <a:spLocks noChangeArrowheads="1"/>
          </p:cNvSpPr>
          <p:nvPr/>
        </p:nvSpPr>
        <p:spPr bwMode="auto">
          <a:xfrm>
            <a:off x="3716338" y="5070475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09" name="Oval 61"/>
          <p:cNvSpPr>
            <a:spLocks noChangeArrowheads="1"/>
          </p:cNvSpPr>
          <p:nvPr/>
        </p:nvSpPr>
        <p:spPr bwMode="auto">
          <a:xfrm>
            <a:off x="3895725" y="5070475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10" name="Oval 62"/>
          <p:cNvSpPr>
            <a:spLocks noChangeArrowheads="1"/>
          </p:cNvSpPr>
          <p:nvPr/>
        </p:nvSpPr>
        <p:spPr bwMode="auto">
          <a:xfrm>
            <a:off x="4071938" y="5070475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11" name="Oval 63"/>
          <p:cNvSpPr>
            <a:spLocks noChangeArrowheads="1"/>
          </p:cNvSpPr>
          <p:nvPr/>
        </p:nvSpPr>
        <p:spPr bwMode="auto">
          <a:xfrm>
            <a:off x="4251325" y="5070475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12" name="Oval 64"/>
          <p:cNvSpPr>
            <a:spLocks noChangeArrowheads="1"/>
          </p:cNvSpPr>
          <p:nvPr/>
        </p:nvSpPr>
        <p:spPr bwMode="auto">
          <a:xfrm>
            <a:off x="4586288" y="5070475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13" name="Oval 65"/>
          <p:cNvSpPr>
            <a:spLocks noChangeArrowheads="1"/>
          </p:cNvSpPr>
          <p:nvPr/>
        </p:nvSpPr>
        <p:spPr bwMode="auto">
          <a:xfrm>
            <a:off x="4765675" y="5070475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14" name="Oval 66"/>
          <p:cNvSpPr>
            <a:spLocks noChangeArrowheads="1"/>
          </p:cNvSpPr>
          <p:nvPr/>
        </p:nvSpPr>
        <p:spPr bwMode="auto">
          <a:xfrm>
            <a:off x="4941888" y="5070475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7315" name="Oval 67"/>
          <p:cNvSpPr>
            <a:spLocks noChangeArrowheads="1"/>
          </p:cNvSpPr>
          <p:nvPr/>
        </p:nvSpPr>
        <p:spPr bwMode="auto">
          <a:xfrm>
            <a:off x="5121275" y="5070475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8" dur="2000" fill="hold"/>
                                        <p:tgtEl>
                                          <p:spTgt spid="437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12" dur="2000" fill="hold"/>
                                        <p:tgtEl>
                                          <p:spTgt spid="437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16" dur="2000" fill="hold"/>
                                        <p:tgtEl>
                                          <p:spTgt spid="437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20" dur="2000" fill="hold"/>
                                        <p:tgtEl>
                                          <p:spTgt spid="437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24" dur="2000" fill="hold"/>
                                        <p:tgtEl>
                                          <p:spTgt spid="437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28" dur="2000" fill="hold"/>
                                        <p:tgtEl>
                                          <p:spTgt spid="4373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32" dur="2000" fill="hold"/>
                                        <p:tgtEl>
                                          <p:spTgt spid="437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0034 -0.00023 L -0.00034 0.09699 " pathEditMode="relative" ptsTypes="AA">
                                      <p:cBhvr>
                                        <p:cTn id="36" dur="2000" fill="hold"/>
                                        <p:tgtEl>
                                          <p:spTgt spid="437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303" grpId="0" animBg="1"/>
      <p:bldP spid="437303" grpId="1" animBg="1"/>
      <p:bldP spid="437309" grpId="0" animBg="1"/>
      <p:bldP spid="437309" grpId="1" animBg="1"/>
      <p:bldP spid="437310" grpId="0" animBg="1"/>
      <p:bldP spid="437310" grpId="1" animBg="1"/>
      <p:bldP spid="437311" grpId="0" animBg="1"/>
      <p:bldP spid="437311" grpId="1" animBg="1"/>
      <p:bldP spid="437312" grpId="0" animBg="1"/>
      <p:bldP spid="437312" grpId="1" animBg="1"/>
      <p:bldP spid="437313" grpId="0" animBg="1"/>
      <p:bldP spid="437313" grpId="1" animBg="1"/>
      <p:bldP spid="437314" grpId="0" animBg="1"/>
      <p:bldP spid="437314" grpId="1" animBg="1"/>
      <p:bldP spid="437315" grpId="0" animBg="1"/>
      <p:bldP spid="437315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1116013" y="177323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116013" y="1863725"/>
            <a:ext cx="7431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Electrons</a:t>
            </a:r>
            <a:r>
              <a:rPr lang="fr-FR" altLang="fr-FR" sz="2000"/>
              <a:t> minoritaires du substrat </a:t>
            </a:r>
            <a:r>
              <a:rPr lang="fr-FR" altLang="fr-FR" sz="2400">
                <a:solidFill>
                  <a:srgbClr val="FF0000"/>
                </a:solidFill>
              </a:rPr>
              <a:t>attirés</a:t>
            </a:r>
            <a:r>
              <a:rPr lang="fr-FR" altLang="fr-FR" sz="2000"/>
              <a:t> vers la grille </a:t>
            </a:r>
            <a:endParaRPr lang="fr-FR" altLang="fr-FR" sz="2400">
              <a:solidFill>
                <a:srgbClr val="FF0000"/>
              </a:solidFill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1406525" y="717550"/>
            <a:ext cx="6105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d’un NMOS</a:t>
            </a:r>
            <a:endParaRPr lang="fr-FR" altLang="fr-FR"/>
          </a:p>
        </p:txBody>
      </p:sp>
      <p:grpSp>
        <p:nvGrpSpPr>
          <p:cNvPr id="47111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7169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7170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7171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7112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7166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7167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7168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7113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7114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7164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7165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7115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7162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7163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7116" name="Text Box 22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7117" name="Group 23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7160" name="Rectangle 24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7161" name="Line 25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7118" name="Group 26"/>
          <p:cNvGrpSpPr>
            <a:grpSpLocks/>
          </p:cNvGrpSpPr>
          <p:nvPr/>
        </p:nvGrpSpPr>
        <p:grpSpPr bwMode="auto">
          <a:xfrm>
            <a:off x="1387475" y="2835275"/>
            <a:ext cx="3489325" cy="3663950"/>
            <a:chOff x="874" y="1786"/>
            <a:chExt cx="2198" cy="2308"/>
          </a:xfrm>
        </p:grpSpPr>
        <p:grpSp>
          <p:nvGrpSpPr>
            <p:cNvPr id="47151" name="Group 27"/>
            <p:cNvGrpSpPr>
              <a:grpSpLocks/>
            </p:cNvGrpSpPr>
            <p:nvPr/>
          </p:nvGrpSpPr>
          <p:grpSpPr bwMode="auto">
            <a:xfrm>
              <a:off x="874" y="3736"/>
              <a:ext cx="280" cy="358"/>
              <a:chOff x="655" y="3655"/>
              <a:chExt cx="280" cy="358"/>
            </a:xfrm>
          </p:grpSpPr>
          <p:sp>
            <p:nvSpPr>
              <p:cNvPr id="47158" name="Line 28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159" name="AutoShape 29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7152" name="Freeform 30"/>
            <p:cNvSpPr>
              <a:spLocks/>
            </p:cNvSpPr>
            <p:nvPr/>
          </p:nvSpPr>
          <p:spPr bwMode="auto">
            <a:xfrm>
              <a:off x="1005" y="2541"/>
              <a:ext cx="1033" cy="1200"/>
            </a:xfrm>
            <a:custGeom>
              <a:avLst/>
              <a:gdLst>
                <a:gd name="T0" fmla="*/ 1033 w 1033"/>
                <a:gd name="T1" fmla="*/ 83 h 1200"/>
                <a:gd name="T2" fmla="*/ 1033 w 1033"/>
                <a:gd name="T3" fmla="*/ 0 h 1200"/>
                <a:gd name="T4" fmla="*/ 0 w 1033"/>
                <a:gd name="T5" fmla="*/ 5 h 1200"/>
                <a:gd name="T6" fmla="*/ 0 w 1033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3" h="1200">
                  <a:moveTo>
                    <a:pt x="1033" y="83"/>
                  </a:moveTo>
                  <a:lnTo>
                    <a:pt x="1033" y="0"/>
                  </a:lnTo>
                  <a:lnTo>
                    <a:pt x="0" y="5"/>
                  </a:lnTo>
                  <a:lnTo>
                    <a:pt x="0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7153" name="Line 31"/>
            <p:cNvSpPr>
              <a:spLocks noChangeShapeType="1"/>
            </p:cNvSpPr>
            <p:nvPr/>
          </p:nvSpPr>
          <p:spPr bwMode="auto">
            <a:xfrm flipH="1">
              <a:off x="1503" y="2285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54" name="Text Box 32"/>
            <p:cNvSpPr txBox="1">
              <a:spLocks noChangeArrowheads="1"/>
            </p:cNvSpPr>
            <p:nvPr/>
          </p:nvSpPr>
          <p:spPr bwMode="auto">
            <a:xfrm>
              <a:off x="1641" y="2307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&gt; 0</a:t>
              </a:r>
            </a:p>
          </p:txBody>
        </p:sp>
        <p:pic>
          <p:nvPicPr>
            <p:cNvPr id="47155" name="Picture 33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7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56" name="Freeform 34"/>
            <p:cNvSpPr>
              <a:spLocks/>
            </p:cNvSpPr>
            <p:nvPr/>
          </p:nvSpPr>
          <p:spPr bwMode="auto">
            <a:xfrm>
              <a:off x="1005" y="2154"/>
              <a:ext cx="489" cy="502"/>
            </a:xfrm>
            <a:custGeom>
              <a:avLst/>
              <a:gdLst>
                <a:gd name="T0" fmla="*/ 489 w 483"/>
                <a:gd name="T1" fmla="*/ 0 h 502"/>
                <a:gd name="T2" fmla="*/ 0 w 483"/>
                <a:gd name="T3" fmla="*/ 0 h 502"/>
                <a:gd name="T4" fmla="*/ 0 w 483"/>
                <a:gd name="T5" fmla="*/ 502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3" h="502">
                  <a:moveTo>
                    <a:pt x="483" y="0"/>
                  </a:moveTo>
                  <a:lnTo>
                    <a:pt x="0" y="0"/>
                  </a:lnTo>
                  <a:lnTo>
                    <a:pt x="0" y="5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7157" name="Freeform 35"/>
            <p:cNvSpPr>
              <a:spLocks/>
            </p:cNvSpPr>
            <p:nvPr/>
          </p:nvSpPr>
          <p:spPr bwMode="auto">
            <a:xfrm>
              <a:off x="2400" y="2163"/>
              <a:ext cx="672" cy="237"/>
            </a:xfrm>
            <a:custGeom>
              <a:avLst/>
              <a:gdLst>
                <a:gd name="T0" fmla="*/ 0 w 672"/>
                <a:gd name="T1" fmla="*/ 0 h 237"/>
                <a:gd name="T2" fmla="*/ 672 w 672"/>
                <a:gd name="T3" fmla="*/ 0 h 237"/>
                <a:gd name="T4" fmla="*/ 672 w 672"/>
                <a:gd name="T5" fmla="*/ 237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237">
                  <a:moveTo>
                    <a:pt x="0" y="0"/>
                  </a:moveTo>
                  <a:lnTo>
                    <a:pt x="672" y="0"/>
                  </a:lnTo>
                  <a:lnTo>
                    <a:pt x="672" y="2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7119" name="Group 36"/>
          <p:cNvGrpSpPr>
            <a:grpSpLocks/>
          </p:cNvGrpSpPr>
          <p:nvPr/>
        </p:nvGrpSpPr>
        <p:grpSpPr bwMode="auto">
          <a:xfrm>
            <a:off x="1592263" y="2835275"/>
            <a:ext cx="7048500" cy="3260725"/>
            <a:chOff x="1003" y="1786"/>
            <a:chExt cx="4440" cy="2054"/>
          </a:xfrm>
        </p:grpSpPr>
        <p:sp>
          <p:nvSpPr>
            <p:cNvPr id="47146" name="Text Box 37"/>
            <p:cNvSpPr txBox="1">
              <a:spLocks noChangeArrowheads="1"/>
            </p:cNvSpPr>
            <p:nvPr/>
          </p:nvSpPr>
          <p:spPr bwMode="auto">
            <a:xfrm>
              <a:off x="4585" y="2307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47147" name="Line 38"/>
            <p:cNvSpPr>
              <a:spLocks noChangeShapeType="1"/>
            </p:cNvSpPr>
            <p:nvPr/>
          </p:nvSpPr>
          <p:spPr bwMode="auto">
            <a:xfrm>
              <a:off x="4452" y="228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48" name="Freeform 39"/>
            <p:cNvSpPr>
              <a:spLocks/>
            </p:cNvSpPr>
            <p:nvPr/>
          </p:nvSpPr>
          <p:spPr bwMode="auto">
            <a:xfrm>
              <a:off x="3964" y="2166"/>
              <a:ext cx="496" cy="468"/>
            </a:xfrm>
            <a:custGeom>
              <a:avLst/>
              <a:gdLst>
                <a:gd name="T0" fmla="*/ 496 w 496"/>
                <a:gd name="T1" fmla="*/ 0 h 468"/>
                <a:gd name="T2" fmla="*/ 0 w 496"/>
                <a:gd name="T3" fmla="*/ 0 h 468"/>
                <a:gd name="T4" fmla="*/ 3 w 496"/>
                <a:gd name="T5" fmla="*/ 468 h 4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6" h="468">
                  <a:moveTo>
                    <a:pt x="496" y="0"/>
                  </a:moveTo>
                  <a:lnTo>
                    <a:pt x="0" y="0"/>
                  </a:lnTo>
                  <a:lnTo>
                    <a:pt x="3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47149" name="Picture 40" descr="vpol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14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50" name="Freeform 41"/>
            <p:cNvSpPr>
              <a:spLocks/>
            </p:cNvSpPr>
            <p:nvPr/>
          </p:nvSpPr>
          <p:spPr bwMode="auto">
            <a:xfrm>
              <a:off x="1003" y="2160"/>
              <a:ext cx="4440" cy="1680"/>
            </a:xfrm>
            <a:custGeom>
              <a:avLst/>
              <a:gdLst>
                <a:gd name="T0" fmla="*/ 4330 w 4440"/>
                <a:gd name="T1" fmla="*/ 0 h 1920"/>
                <a:gd name="T2" fmla="*/ 4440 w 4440"/>
                <a:gd name="T3" fmla="*/ 0 h 1920"/>
                <a:gd name="T4" fmla="*/ 4440 w 4440"/>
                <a:gd name="T5" fmla="*/ 1680 h 1920"/>
                <a:gd name="T6" fmla="*/ 0 w 4440"/>
                <a:gd name="T7" fmla="*/ 1671 h 19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40" h="1920">
                  <a:moveTo>
                    <a:pt x="4330" y="0"/>
                  </a:moveTo>
                  <a:lnTo>
                    <a:pt x="4440" y="0"/>
                  </a:lnTo>
                  <a:lnTo>
                    <a:pt x="4440" y="1920"/>
                  </a:lnTo>
                  <a:lnTo>
                    <a:pt x="0" y="19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7120" name="Text Box 42"/>
          <p:cNvSpPr txBox="1">
            <a:spLocks noChangeArrowheads="1"/>
          </p:cNvSpPr>
          <p:nvPr/>
        </p:nvSpPr>
        <p:spPr bwMode="auto">
          <a:xfrm>
            <a:off x="4981575" y="3646488"/>
            <a:ext cx="83978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7121" name="Text Box 43"/>
          <p:cNvSpPr txBox="1">
            <a:spLocks noChangeArrowheads="1"/>
          </p:cNvSpPr>
          <p:nvPr/>
        </p:nvSpPr>
        <p:spPr bwMode="auto">
          <a:xfrm>
            <a:off x="1995488" y="4035425"/>
            <a:ext cx="1004887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7122" name="Text Box 44"/>
          <p:cNvSpPr txBox="1">
            <a:spLocks noChangeArrowheads="1"/>
          </p:cNvSpPr>
          <p:nvPr/>
        </p:nvSpPr>
        <p:spPr bwMode="auto">
          <a:xfrm>
            <a:off x="6332538" y="3878263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  <p:sp>
        <p:nvSpPr>
          <p:cNvPr id="47123" name="Oval 45"/>
          <p:cNvSpPr>
            <a:spLocks noChangeArrowheads="1"/>
          </p:cNvSpPr>
          <p:nvPr/>
        </p:nvSpPr>
        <p:spPr bwMode="auto">
          <a:xfrm>
            <a:off x="46069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24" name="Oval 46"/>
          <p:cNvSpPr>
            <a:spLocks noChangeArrowheads="1"/>
          </p:cNvSpPr>
          <p:nvPr/>
        </p:nvSpPr>
        <p:spPr bwMode="auto">
          <a:xfrm>
            <a:off x="491331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25" name="Oval 47"/>
          <p:cNvSpPr>
            <a:spLocks noChangeArrowheads="1"/>
          </p:cNvSpPr>
          <p:nvPr/>
        </p:nvSpPr>
        <p:spPr bwMode="auto">
          <a:xfrm>
            <a:off x="51657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26" name="Oval 48"/>
          <p:cNvSpPr>
            <a:spLocks noChangeArrowheads="1"/>
          </p:cNvSpPr>
          <p:nvPr/>
        </p:nvSpPr>
        <p:spPr bwMode="auto">
          <a:xfrm>
            <a:off x="5613400" y="40957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27" name="Oval 49"/>
          <p:cNvSpPr>
            <a:spLocks noChangeArrowheads="1"/>
          </p:cNvSpPr>
          <p:nvPr/>
        </p:nvSpPr>
        <p:spPr bwMode="auto">
          <a:xfrm>
            <a:off x="429736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28" name="Oval 50"/>
          <p:cNvSpPr>
            <a:spLocks noChangeArrowheads="1"/>
          </p:cNvSpPr>
          <p:nvPr/>
        </p:nvSpPr>
        <p:spPr bwMode="auto">
          <a:xfrm>
            <a:off x="4033838" y="44656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7129" name="Group 51"/>
          <p:cNvGrpSpPr>
            <a:grpSpLocks/>
          </p:cNvGrpSpPr>
          <p:nvPr/>
        </p:nvGrpSpPr>
        <p:grpSpPr bwMode="auto">
          <a:xfrm>
            <a:off x="4313238" y="4635500"/>
            <a:ext cx="473075" cy="479425"/>
            <a:chOff x="2717" y="2920"/>
            <a:chExt cx="298" cy="302"/>
          </a:xfrm>
        </p:grpSpPr>
        <p:sp>
          <p:nvSpPr>
            <p:cNvPr id="47144" name="AutoShape 52"/>
            <p:cNvSpPr>
              <a:spLocks noChangeArrowheads="1"/>
            </p:cNvSpPr>
            <p:nvPr/>
          </p:nvSpPr>
          <p:spPr bwMode="auto">
            <a:xfrm>
              <a:off x="2717" y="2939"/>
              <a:ext cx="156" cy="283"/>
            </a:xfrm>
            <a:prstGeom prst="downArrow">
              <a:avLst>
                <a:gd name="adj1" fmla="val 50000"/>
                <a:gd name="adj2" fmla="val 45353"/>
              </a:avLst>
            </a:prstGeom>
            <a:solidFill>
              <a:srgbClr val="0000FF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7145" name="Text Box 53"/>
            <p:cNvSpPr txBox="1">
              <a:spLocks noChangeArrowheads="1"/>
            </p:cNvSpPr>
            <p:nvPr/>
          </p:nvSpPr>
          <p:spPr bwMode="auto">
            <a:xfrm>
              <a:off x="2795" y="2920"/>
              <a:ext cx="220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>
                  <a:solidFill>
                    <a:srgbClr val="3366FF"/>
                  </a:solidFill>
                  <a:latin typeface="Tahoma" pitchFamily="34" charset="0"/>
                </a:rPr>
                <a:t>E</a:t>
              </a:r>
            </a:p>
          </p:txBody>
        </p:sp>
      </p:grpSp>
      <p:sp>
        <p:nvSpPr>
          <p:cNvPr id="47130" name="Oval 54"/>
          <p:cNvSpPr>
            <a:spLocks noChangeArrowheads="1"/>
          </p:cNvSpPr>
          <p:nvPr/>
        </p:nvSpPr>
        <p:spPr bwMode="auto">
          <a:xfrm>
            <a:off x="371316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1" name="Oval 55"/>
          <p:cNvSpPr>
            <a:spLocks noChangeArrowheads="1"/>
          </p:cNvSpPr>
          <p:nvPr/>
        </p:nvSpPr>
        <p:spPr bwMode="auto">
          <a:xfrm>
            <a:off x="389255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2" name="Oval 56"/>
          <p:cNvSpPr>
            <a:spLocks noChangeArrowheads="1"/>
          </p:cNvSpPr>
          <p:nvPr/>
        </p:nvSpPr>
        <p:spPr bwMode="auto">
          <a:xfrm>
            <a:off x="406876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3" name="Oval 57"/>
          <p:cNvSpPr>
            <a:spLocks noChangeArrowheads="1"/>
          </p:cNvSpPr>
          <p:nvPr/>
        </p:nvSpPr>
        <p:spPr bwMode="auto">
          <a:xfrm>
            <a:off x="424815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4" name="Oval 58"/>
          <p:cNvSpPr>
            <a:spLocks noChangeArrowheads="1"/>
          </p:cNvSpPr>
          <p:nvPr/>
        </p:nvSpPr>
        <p:spPr bwMode="auto">
          <a:xfrm>
            <a:off x="458311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5" name="Oval 59"/>
          <p:cNvSpPr>
            <a:spLocks noChangeArrowheads="1"/>
          </p:cNvSpPr>
          <p:nvPr/>
        </p:nvSpPr>
        <p:spPr bwMode="auto">
          <a:xfrm>
            <a:off x="476250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6" name="Oval 60"/>
          <p:cNvSpPr>
            <a:spLocks noChangeArrowheads="1"/>
          </p:cNvSpPr>
          <p:nvPr/>
        </p:nvSpPr>
        <p:spPr bwMode="auto">
          <a:xfrm>
            <a:off x="493871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7137" name="Oval 61"/>
          <p:cNvSpPr>
            <a:spLocks noChangeArrowheads="1"/>
          </p:cNvSpPr>
          <p:nvPr/>
        </p:nvSpPr>
        <p:spPr bwMode="auto">
          <a:xfrm>
            <a:off x="511810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9358" name="Oval 62"/>
          <p:cNvSpPr>
            <a:spLocks noChangeArrowheads="1"/>
          </p:cNvSpPr>
          <p:nvPr/>
        </p:nvSpPr>
        <p:spPr bwMode="auto">
          <a:xfrm>
            <a:off x="3668713" y="55530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9359" name="Oval 63"/>
          <p:cNvSpPr>
            <a:spLocks noChangeArrowheads="1"/>
          </p:cNvSpPr>
          <p:nvPr/>
        </p:nvSpPr>
        <p:spPr bwMode="auto">
          <a:xfrm>
            <a:off x="4067175" y="53768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9360" name="Oval 64"/>
          <p:cNvSpPr>
            <a:spLocks noChangeArrowheads="1"/>
          </p:cNvSpPr>
          <p:nvPr/>
        </p:nvSpPr>
        <p:spPr bwMode="auto">
          <a:xfrm>
            <a:off x="4519613" y="554990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9361" name="Oval 65"/>
          <p:cNvSpPr>
            <a:spLocks noChangeArrowheads="1"/>
          </p:cNvSpPr>
          <p:nvPr/>
        </p:nvSpPr>
        <p:spPr bwMode="auto">
          <a:xfrm>
            <a:off x="4192588" y="554990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9362" name="Oval 66"/>
          <p:cNvSpPr>
            <a:spLocks noChangeArrowheads="1"/>
          </p:cNvSpPr>
          <p:nvPr/>
        </p:nvSpPr>
        <p:spPr bwMode="auto">
          <a:xfrm>
            <a:off x="4776788" y="5397500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39363" name="Oval 67"/>
          <p:cNvSpPr>
            <a:spLocks noChangeArrowheads="1"/>
          </p:cNvSpPr>
          <p:nvPr/>
        </p:nvSpPr>
        <p:spPr bwMode="auto">
          <a:xfrm>
            <a:off x="5148263" y="5514975"/>
            <a:ext cx="74612" cy="74613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0.0007 C 0.00521 -0.00486 0.00989 -0.00903 0.01059 -0.01389 C 0.01128 -0.01875 0.00712 -0.02639 0.00521 -0.03056 C 0.0033 -0.03473 -0.00035 -0.03473 -0.0007 -0.03959 C -0.00104 -0.04445 0.00243 -0.05417 0.00347 -0.05949 C 0.00451 -0.06482 0.00486 -0.06806 0.00521 -0.07107 " pathEditMode="relative" ptsTypes="aaaaaA">
                                      <p:cBhvr>
                                        <p:cTn id="9" dur="2000" fill="hold"/>
                                        <p:tgtEl>
                                          <p:spTgt spid="439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52 0.0007 C 0.0007 -0.0044 0.00209 -0.00949 0.00087 -0.01389 C -0.00034 -0.01829 -0.00572 -0.02129 -0.00746 -0.02592 C -0.0092 -0.03055 -0.00972 -0.03611 -0.01006 -0.04166 " pathEditMode="relative" ptsTypes="aaaA">
                                      <p:cBhvr>
                                        <p:cTn id="14" dur="2000" fill="hold"/>
                                        <p:tgtEl>
                                          <p:spTgt spid="4393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7.40741E-6 C 0.00381 -0.00694 0.00781 -0.01388 0.0092 -0.02013 C 0.01059 -0.02638 0.00954 -0.03263 0.00885 -0.03726 C 0.00816 -0.04189 0.00538 -0.04398 0.00468 -0.04837 C 0.00399 -0.05277 0.00468 -0.06111 0.00468 -0.06342 " pathEditMode="relative" ptsTypes="aaaaA">
                                      <p:cBhvr>
                                        <p:cTn id="19" dur="2000" fill="hold"/>
                                        <p:tgtEl>
                                          <p:spTgt spid="439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0087 -0.00069 C -0.00191 -0.00879 -0.00451 -0.01689 -0.00486 -0.02338 C -0.0052 -0.02986 -0.0026 -0.03541 -0.00069 -0.04004 C 0.00122 -0.04467 0.00521 -0.04745 0.00712 -0.05185 C 0.00903 -0.05625 0.0099 -0.06342 0.01042 -0.06574 " pathEditMode="relative" ptsTypes="aaaaA">
                                      <p:cBhvr>
                                        <p:cTn id="24" dur="2000" fill="hold"/>
                                        <p:tgtEl>
                                          <p:spTgt spid="439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61111E-6 1.85185E-6 C 0.00052 1.85185E-6 0.00121 1.85185E-6 0.00329 -0.00278 C 0.00538 -0.00556 0.01111 -0.01088 0.01215 -0.01667 C 0.01319 -0.02245 0.00989 -0.03357 0.0092 -0.03773 C 0.0085 -0.0419 0.00816 -0.0419 0.00798 -0.04167 " pathEditMode="relative" ptsTypes="aaaaA">
                                      <p:cBhvr>
                                        <p:cTn id="29" dur="2000" fill="hold"/>
                                        <p:tgtEl>
                                          <p:spTgt spid="439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11111E-6 -2.96296E-6 C 0.00243 -0.00787 0.00504 -0.01574 0.00417 -0.02152 C 0.0033 -0.02731 -0.00416 -0.02916 -0.00555 -0.03495 C -0.00694 -0.04074 -0.00538 -0.05162 -0.00468 -0.05601 C -0.00399 -0.06041 -0.00277 -0.06111 -0.00139 -0.06157 " pathEditMode="relative" ptsTypes="aaaaA">
                                      <p:cBhvr>
                                        <p:cTn id="34" dur="2000" fill="hold"/>
                                        <p:tgtEl>
                                          <p:spTgt spid="4393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58" grpId="0" animBg="1"/>
      <p:bldP spid="439358" grpId="1" animBg="1"/>
      <p:bldP spid="439359" grpId="0" animBg="1"/>
      <p:bldP spid="439359" grpId="1" animBg="1"/>
      <p:bldP spid="439360" grpId="0" animBg="1"/>
      <p:bldP spid="439360" grpId="1" animBg="1"/>
      <p:bldP spid="439361" grpId="0" animBg="1"/>
      <p:bldP spid="439361" grpId="1" animBg="1"/>
      <p:bldP spid="439362" grpId="0" animBg="1"/>
      <p:bldP spid="439362" grpId="1" animBg="1"/>
      <p:bldP spid="439363" grpId="0" animBg="1"/>
      <p:bldP spid="439363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116013" y="1773238"/>
            <a:ext cx="7581900" cy="931862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116013" y="1828800"/>
            <a:ext cx="743108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400">
                <a:solidFill>
                  <a:srgbClr val="FF0000"/>
                </a:solidFill>
              </a:rPr>
              <a:t>Création</a:t>
            </a:r>
            <a:r>
              <a:rPr lang="fr-FR" altLang="fr-FR" sz="2000"/>
              <a:t> d’un </a:t>
            </a:r>
            <a:r>
              <a:rPr lang="fr-FR" altLang="fr-FR" sz="2400">
                <a:solidFill>
                  <a:srgbClr val="FF0000"/>
                </a:solidFill>
              </a:rPr>
              <a:t>canal </a:t>
            </a:r>
            <a:r>
              <a:rPr lang="fr-FR" altLang="fr-FR" sz="2000"/>
              <a:t>de type </a:t>
            </a:r>
            <a:r>
              <a:rPr lang="fr-FR" altLang="fr-FR" sz="2400">
                <a:solidFill>
                  <a:srgbClr val="FF0000"/>
                </a:solidFill>
              </a:rPr>
              <a:t>N</a:t>
            </a:r>
            <a:r>
              <a:rPr lang="fr-FR" altLang="fr-FR" sz="2000"/>
              <a:t> sous l’isolant (</a:t>
            </a:r>
            <a:r>
              <a:rPr lang="fr-FR" altLang="fr-FR" sz="2400">
                <a:solidFill>
                  <a:srgbClr val="FF0000"/>
                </a:solidFill>
              </a:rPr>
              <a:t>couche d’inversion</a:t>
            </a:r>
            <a:r>
              <a:rPr lang="fr-FR" altLang="fr-FR" sz="2000"/>
              <a:t>)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2098675" y="5014913"/>
            <a:ext cx="4783138" cy="922337"/>
          </a:xfrm>
          <a:prstGeom prst="rect">
            <a:avLst/>
          </a:prstGeom>
          <a:solidFill>
            <a:srgbClr val="FF0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0000"/>
            </a:extrusionClr>
          </a:sp3d>
        </p:spPr>
        <p:txBody>
          <a:bodyPr wrap="none" anchor="ctr">
            <a:flatTx/>
          </a:bodyPr>
          <a:lstStyle/>
          <a:p>
            <a:pPr algn="ctr">
              <a:spcBef>
                <a:spcPct val="0"/>
              </a:spcBef>
            </a:pPr>
            <a:endParaRPr lang="fr-FR" altLang="fr-FR"/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2041525" y="5626100"/>
            <a:ext cx="782638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406525" y="717550"/>
            <a:ext cx="6105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Fonctionnement d’un NMOS</a:t>
            </a:r>
            <a:endParaRPr lang="fr-FR" altLang="fr-FR"/>
          </a:p>
        </p:txBody>
      </p:sp>
      <p:grpSp>
        <p:nvGrpSpPr>
          <p:cNvPr id="48135" name="Group 7"/>
          <p:cNvGrpSpPr>
            <a:grpSpLocks/>
          </p:cNvGrpSpPr>
          <p:nvPr/>
        </p:nvGrpSpPr>
        <p:grpSpPr bwMode="auto">
          <a:xfrm>
            <a:off x="2352675" y="4368800"/>
            <a:ext cx="1892300" cy="1276350"/>
            <a:chOff x="1482" y="2532"/>
            <a:chExt cx="1192" cy="804"/>
          </a:xfrm>
        </p:grpSpPr>
        <p:sp>
          <p:nvSpPr>
            <p:cNvPr id="48197" name="Freeform 8"/>
            <p:cNvSpPr>
              <a:spLocks/>
            </p:cNvSpPr>
            <p:nvPr/>
          </p:nvSpPr>
          <p:spPr bwMode="auto">
            <a:xfrm>
              <a:off x="1506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8198" name="Rectangle 9"/>
            <p:cNvSpPr>
              <a:spLocks noChangeArrowheads="1"/>
            </p:cNvSpPr>
            <p:nvPr/>
          </p:nvSpPr>
          <p:spPr bwMode="auto">
            <a:xfrm>
              <a:off x="1507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8199" name="Text Box 10"/>
            <p:cNvSpPr txBox="1">
              <a:spLocks noChangeArrowheads="1"/>
            </p:cNvSpPr>
            <p:nvPr/>
          </p:nvSpPr>
          <p:spPr bwMode="auto">
            <a:xfrm>
              <a:off x="1482" y="3105"/>
              <a:ext cx="344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grpSp>
        <p:nvGrpSpPr>
          <p:cNvPr id="48136" name="Group 11"/>
          <p:cNvGrpSpPr>
            <a:grpSpLocks/>
          </p:cNvGrpSpPr>
          <p:nvPr/>
        </p:nvGrpSpPr>
        <p:grpSpPr bwMode="auto">
          <a:xfrm>
            <a:off x="5348288" y="4368800"/>
            <a:ext cx="1876425" cy="1276350"/>
            <a:chOff x="3369" y="2532"/>
            <a:chExt cx="1182" cy="804"/>
          </a:xfrm>
        </p:grpSpPr>
        <p:sp>
          <p:nvSpPr>
            <p:cNvPr id="48194" name="Freeform 12"/>
            <p:cNvSpPr>
              <a:spLocks/>
            </p:cNvSpPr>
            <p:nvPr/>
          </p:nvSpPr>
          <p:spPr bwMode="auto">
            <a:xfrm>
              <a:off x="3383" y="2532"/>
              <a:ext cx="1168" cy="410"/>
            </a:xfrm>
            <a:custGeom>
              <a:avLst/>
              <a:gdLst>
                <a:gd name="T0" fmla="*/ 0 w 1158"/>
                <a:gd name="T1" fmla="*/ 410 h 410"/>
                <a:gd name="T2" fmla="*/ 406 w 1158"/>
                <a:gd name="T3" fmla="*/ 0 h 410"/>
                <a:gd name="T4" fmla="*/ 1168 w 1158"/>
                <a:gd name="T5" fmla="*/ 0 h 410"/>
                <a:gd name="T6" fmla="*/ 758 w 1158"/>
                <a:gd name="T7" fmla="*/ 410 h 410"/>
                <a:gd name="T8" fmla="*/ 0 w 1158"/>
                <a:gd name="T9" fmla="*/ 410 h 4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58" h="410">
                  <a:moveTo>
                    <a:pt x="0" y="410"/>
                  </a:moveTo>
                  <a:lnTo>
                    <a:pt x="403" y="0"/>
                  </a:lnTo>
                  <a:lnTo>
                    <a:pt x="1158" y="0"/>
                  </a:lnTo>
                  <a:lnTo>
                    <a:pt x="752" y="410"/>
                  </a:lnTo>
                  <a:lnTo>
                    <a:pt x="0" y="410"/>
                  </a:lnTo>
                  <a:close/>
                </a:path>
              </a:pathLst>
            </a:custGeom>
            <a:solidFill>
              <a:srgbClr val="339933"/>
            </a:solidFill>
            <a:ln w="3810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8195" name="Rectangle 13"/>
            <p:cNvSpPr>
              <a:spLocks noChangeArrowheads="1"/>
            </p:cNvSpPr>
            <p:nvPr/>
          </p:nvSpPr>
          <p:spPr bwMode="auto">
            <a:xfrm>
              <a:off x="3384" y="2942"/>
              <a:ext cx="765" cy="374"/>
            </a:xfrm>
            <a:prstGeom prst="rect">
              <a:avLst/>
            </a:prstGeom>
            <a:solidFill>
              <a:srgbClr val="33CC33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8196" name="Text Box 14"/>
            <p:cNvSpPr txBox="1">
              <a:spLocks noChangeArrowheads="1"/>
            </p:cNvSpPr>
            <p:nvPr/>
          </p:nvSpPr>
          <p:spPr bwMode="auto">
            <a:xfrm>
              <a:off x="3369" y="3105"/>
              <a:ext cx="360" cy="2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>
                  <a:solidFill>
                    <a:schemeClr val="bg1"/>
                  </a:solidFill>
                </a:rPr>
                <a:t>N+</a:t>
              </a:r>
            </a:p>
          </p:txBody>
        </p:sp>
      </p:grpSp>
      <p:sp>
        <p:nvSpPr>
          <p:cNvPr id="48137" name="Rectangle 15"/>
          <p:cNvSpPr>
            <a:spLocks noChangeArrowheads="1"/>
          </p:cNvSpPr>
          <p:nvPr/>
        </p:nvSpPr>
        <p:spPr bwMode="auto">
          <a:xfrm>
            <a:off x="3611563" y="4865688"/>
            <a:ext cx="1760537" cy="149225"/>
          </a:xfrm>
          <a:prstGeom prst="rect">
            <a:avLst/>
          </a:prstGeom>
          <a:solidFill>
            <a:srgbClr val="FFCC99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fr-FR"/>
          </a:p>
        </p:txBody>
      </p:sp>
      <p:grpSp>
        <p:nvGrpSpPr>
          <p:cNvPr id="48138" name="Group 16"/>
          <p:cNvGrpSpPr>
            <a:grpSpLocks/>
          </p:cNvGrpSpPr>
          <p:nvPr/>
        </p:nvGrpSpPr>
        <p:grpSpPr bwMode="auto">
          <a:xfrm>
            <a:off x="2786063" y="4154488"/>
            <a:ext cx="606425" cy="719137"/>
            <a:chOff x="2737" y="2268"/>
            <a:chExt cx="382" cy="453"/>
          </a:xfrm>
        </p:grpSpPr>
        <p:sp>
          <p:nvSpPr>
            <p:cNvPr id="48192" name="Rectangle 17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8193" name="Line 18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8139" name="Group 19"/>
          <p:cNvGrpSpPr>
            <a:grpSpLocks/>
          </p:cNvGrpSpPr>
          <p:nvPr/>
        </p:nvGrpSpPr>
        <p:grpSpPr bwMode="auto">
          <a:xfrm>
            <a:off x="5848350" y="4154488"/>
            <a:ext cx="606425" cy="719137"/>
            <a:chOff x="2737" y="2268"/>
            <a:chExt cx="382" cy="453"/>
          </a:xfrm>
        </p:grpSpPr>
        <p:sp>
          <p:nvSpPr>
            <p:cNvPr id="48190" name="Rectangle 20"/>
            <p:cNvSpPr>
              <a:spLocks noChangeArrowheads="1"/>
            </p:cNvSpPr>
            <p:nvPr/>
          </p:nvSpPr>
          <p:spPr bwMode="auto">
            <a:xfrm>
              <a:off x="2737" y="2603"/>
              <a:ext cx="382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8191" name="Line 21"/>
            <p:cNvSpPr>
              <a:spLocks noChangeShapeType="1"/>
            </p:cNvSpPr>
            <p:nvPr/>
          </p:nvSpPr>
          <p:spPr bwMode="auto">
            <a:xfrm rot="5400000" flipH="1">
              <a:off x="2907" y="2383"/>
              <a:ext cx="23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8140" name="Text Box 22"/>
          <p:cNvSpPr txBox="1">
            <a:spLocks noChangeArrowheads="1"/>
          </p:cNvSpPr>
          <p:nvPr/>
        </p:nvSpPr>
        <p:spPr bwMode="auto">
          <a:xfrm>
            <a:off x="4311650" y="4314825"/>
            <a:ext cx="16430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altLang="fr-FR"/>
              <a:t>Isolant</a:t>
            </a:r>
          </a:p>
        </p:txBody>
      </p:sp>
      <p:grpSp>
        <p:nvGrpSpPr>
          <p:cNvPr id="48141" name="Group 23"/>
          <p:cNvGrpSpPr>
            <a:grpSpLocks/>
          </p:cNvGrpSpPr>
          <p:nvPr/>
        </p:nvGrpSpPr>
        <p:grpSpPr bwMode="auto">
          <a:xfrm>
            <a:off x="3611563" y="3775075"/>
            <a:ext cx="1760537" cy="1090613"/>
            <a:chOff x="2275" y="2018"/>
            <a:chExt cx="1109" cy="687"/>
          </a:xfrm>
        </p:grpSpPr>
        <p:sp>
          <p:nvSpPr>
            <p:cNvPr id="48188" name="Rectangle 24"/>
            <p:cNvSpPr>
              <a:spLocks noChangeArrowheads="1"/>
            </p:cNvSpPr>
            <p:nvPr/>
          </p:nvSpPr>
          <p:spPr bwMode="auto">
            <a:xfrm>
              <a:off x="2275" y="2587"/>
              <a:ext cx="1109" cy="118"/>
            </a:xfrm>
            <a:prstGeom prst="rect">
              <a:avLst/>
            </a:prstGeom>
            <a:solidFill>
              <a:srgbClr val="B2B2B2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B2B2B2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48189" name="Line 25"/>
            <p:cNvSpPr>
              <a:spLocks noChangeShapeType="1"/>
            </p:cNvSpPr>
            <p:nvPr/>
          </p:nvSpPr>
          <p:spPr bwMode="auto">
            <a:xfrm rot="5400000" flipH="1">
              <a:off x="2900" y="2188"/>
              <a:ext cx="342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8142" name="Group 26"/>
          <p:cNvGrpSpPr>
            <a:grpSpLocks/>
          </p:cNvGrpSpPr>
          <p:nvPr/>
        </p:nvGrpSpPr>
        <p:grpSpPr bwMode="auto">
          <a:xfrm>
            <a:off x="1387475" y="2835275"/>
            <a:ext cx="3489325" cy="3663950"/>
            <a:chOff x="874" y="1786"/>
            <a:chExt cx="2198" cy="2308"/>
          </a:xfrm>
        </p:grpSpPr>
        <p:grpSp>
          <p:nvGrpSpPr>
            <p:cNvPr id="48179" name="Group 27"/>
            <p:cNvGrpSpPr>
              <a:grpSpLocks/>
            </p:cNvGrpSpPr>
            <p:nvPr/>
          </p:nvGrpSpPr>
          <p:grpSpPr bwMode="auto">
            <a:xfrm>
              <a:off x="874" y="3736"/>
              <a:ext cx="280" cy="358"/>
              <a:chOff x="655" y="3655"/>
              <a:chExt cx="280" cy="358"/>
            </a:xfrm>
          </p:grpSpPr>
          <p:sp>
            <p:nvSpPr>
              <p:cNvPr id="48186" name="Line 28"/>
              <p:cNvSpPr>
                <a:spLocks noChangeShapeType="1"/>
              </p:cNvSpPr>
              <p:nvPr/>
            </p:nvSpPr>
            <p:spPr bwMode="auto">
              <a:xfrm>
                <a:off x="787" y="3655"/>
                <a:ext cx="0" cy="1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8187" name="AutoShape 29" descr="blanc)"/>
              <p:cNvSpPr>
                <a:spLocks noChangeArrowheads="1"/>
              </p:cNvSpPr>
              <p:nvPr/>
            </p:nvSpPr>
            <p:spPr bwMode="auto">
              <a:xfrm flipV="1">
                <a:off x="655" y="3818"/>
                <a:ext cx="280" cy="195"/>
              </a:xfrm>
              <a:prstGeom prst="triangle">
                <a:avLst>
                  <a:gd name="adj" fmla="val 50000"/>
                </a:avLst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8180" name="Freeform 30"/>
            <p:cNvSpPr>
              <a:spLocks/>
            </p:cNvSpPr>
            <p:nvPr/>
          </p:nvSpPr>
          <p:spPr bwMode="auto">
            <a:xfrm>
              <a:off x="1005" y="2541"/>
              <a:ext cx="1033" cy="1200"/>
            </a:xfrm>
            <a:custGeom>
              <a:avLst/>
              <a:gdLst>
                <a:gd name="T0" fmla="*/ 1033 w 1033"/>
                <a:gd name="T1" fmla="*/ 83 h 1200"/>
                <a:gd name="T2" fmla="*/ 1033 w 1033"/>
                <a:gd name="T3" fmla="*/ 0 h 1200"/>
                <a:gd name="T4" fmla="*/ 0 w 1033"/>
                <a:gd name="T5" fmla="*/ 5 h 1200"/>
                <a:gd name="T6" fmla="*/ 0 w 1033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3" h="1200">
                  <a:moveTo>
                    <a:pt x="1033" y="83"/>
                  </a:moveTo>
                  <a:lnTo>
                    <a:pt x="1033" y="0"/>
                  </a:lnTo>
                  <a:lnTo>
                    <a:pt x="0" y="5"/>
                  </a:lnTo>
                  <a:lnTo>
                    <a:pt x="0" y="120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8181" name="Line 31"/>
            <p:cNvSpPr>
              <a:spLocks noChangeShapeType="1"/>
            </p:cNvSpPr>
            <p:nvPr/>
          </p:nvSpPr>
          <p:spPr bwMode="auto">
            <a:xfrm flipH="1">
              <a:off x="1503" y="2285"/>
              <a:ext cx="857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82" name="Text Box 32"/>
            <p:cNvSpPr txBox="1">
              <a:spLocks noChangeArrowheads="1"/>
            </p:cNvSpPr>
            <p:nvPr/>
          </p:nvSpPr>
          <p:spPr bwMode="auto">
            <a:xfrm>
              <a:off x="1641" y="2307"/>
              <a:ext cx="58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FF3399"/>
                  </a:solidFill>
                </a:rPr>
                <a:t>Vgs &gt; 0</a:t>
              </a:r>
            </a:p>
          </p:txBody>
        </p:sp>
        <p:pic>
          <p:nvPicPr>
            <p:cNvPr id="48183" name="Picture 33" descr="vpol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477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84" name="Freeform 34"/>
            <p:cNvSpPr>
              <a:spLocks/>
            </p:cNvSpPr>
            <p:nvPr/>
          </p:nvSpPr>
          <p:spPr bwMode="auto">
            <a:xfrm>
              <a:off x="1005" y="2154"/>
              <a:ext cx="489" cy="502"/>
            </a:xfrm>
            <a:custGeom>
              <a:avLst/>
              <a:gdLst>
                <a:gd name="T0" fmla="*/ 489 w 483"/>
                <a:gd name="T1" fmla="*/ 0 h 502"/>
                <a:gd name="T2" fmla="*/ 0 w 483"/>
                <a:gd name="T3" fmla="*/ 0 h 502"/>
                <a:gd name="T4" fmla="*/ 0 w 483"/>
                <a:gd name="T5" fmla="*/ 502 h 5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3" h="502">
                  <a:moveTo>
                    <a:pt x="483" y="0"/>
                  </a:moveTo>
                  <a:lnTo>
                    <a:pt x="0" y="0"/>
                  </a:lnTo>
                  <a:lnTo>
                    <a:pt x="0" y="5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8185" name="Freeform 35"/>
            <p:cNvSpPr>
              <a:spLocks/>
            </p:cNvSpPr>
            <p:nvPr/>
          </p:nvSpPr>
          <p:spPr bwMode="auto">
            <a:xfrm>
              <a:off x="2400" y="2163"/>
              <a:ext cx="672" cy="237"/>
            </a:xfrm>
            <a:custGeom>
              <a:avLst/>
              <a:gdLst>
                <a:gd name="T0" fmla="*/ 0 w 672"/>
                <a:gd name="T1" fmla="*/ 0 h 237"/>
                <a:gd name="T2" fmla="*/ 672 w 672"/>
                <a:gd name="T3" fmla="*/ 0 h 237"/>
                <a:gd name="T4" fmla="*/ 672 w 672"/>
                <a:gd name="T5" fmla="*/ 237 h 2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2" h="237">
                  <a:moveTo>
                    <a:pt x="0" y="0"/>
                  </a:moveTo>
                  <a:lnTo>
                    <a:pt x="672" y="0"/>
                  </a:lnTo>
                  <a:lnTo>
                    <a:pt x="672" y="2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8143" name="Group 36"/>
          <p:cNvGrpSpPr>
            <a:grpSpLocks/>
          </p:cNvGrpSpPr>
          <p:nvPr/>
        </p:nvGrpSpPr>
        <p:grpSpPr bwMode="auto">
          <a:xfrm>
            <a:off x="1592263" y="2835275"/>
            <a:ext cx="7048500" cy="3260725"/>
            <a:chOff x="1003" y="1786"/>
            <a:chExt cx="4440" cy="2054"/>
          </a:xfrm>
        </p:grpSpPr>
        <p:sp>
          <p:nvSpPr>
            <p:cNvPr id="48174" name="Text Box 37"/>
            <p:cNvSpPr txBox="1">
              <a:spLocks noChangeArrowheads="1"/>
            </p:cNvSpPr>
            <p:nvPr/>
          </p:nvSpPr>
          <p:spPr bwMode="auto">
            <a:xfrm>
              <a:off x="4585" y="2307"/>
              <a:ext cx="59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33CC33"/>
                  </a:solidFill>
                </a:rPr>
                <a:t>Vds &gt; 0</a:t>
              </a:r>
            </a:p>
          </p:txBody>
        </p:sp>
        <p:sp>
          <p:nvSpPr>
            <p:cNvPr id="48175" name="Line 38"/>
            <p:cNvSpPr>
              <a:spLocks noChangeShapeType="1"/>
            </p:cNvSpPr>
            <p:nvPr/>
          </p:nvSpPr>
          <p:spPr bwMode="auto">
            <a:xfrm>
              <a:off x="4452" y="2285"/>
              <a:ext cx="857" cy="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176" name="Freeform 39"/>
            <p:cNvSpPr>
              <a:spLocks/>
            </p:cNvSpPr>
            <p:nvPr/>
          </p:nvSpPr>
          <p:spPr bwMode="auto">
            <a:xfrm>
              <a:off x="3964" y="2166"/>
              <a:ext cx="496" cy="468"/>
            </a:xfrm>
            <a:custGeom>
              <a:avLst/>
              <a:gdLst>
                <a:gd name="T0" fmla="*/ 496 w 496"/>
                <a:gd name="T1" fmla="*/ 0 h 468"/>
                <a:gd name="T2" fmla="*/ 0 w 496"/>
                <a:gd name="T3" fmla="*/ 0 h 468"/>
                <a:gd name="T4" fmla="*/ 3 w 496"/>
                <a:gd name="T5" fmla="*/ 468 h 4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6" h="468">
                  <a:moveTo>
                    <a:pt x="496" y="0"/>
                  </a:moveTo>
                  <a:lnTo>
                    <a:pt x="0" y="0"/>
                  </a:lnTo>
                  <a:lnTo>
                    <a:pt x="3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48177" name="Picture 40" descr="vpol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414" y="1786"/>
              <a:ext cx="954" cy="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78" name="Freeform 41"/>
            <p:cNvSpPr>
              <a:spLocks/>
            </p:cNvSpPr>
            <p:nvPr/>
          </p:nvSpPr>
          <p:spPr bwMode="auto">
            <a:xfrm>
              <a:off x="1003" y="2160"/>
              <a:ext cx="4440" cy="1680"/>
            </a:xfrm>
            <a:custGeom>
              <a:avLst/>
              <a:gdLst>
                <a:gd name="T0" fmla="*/ 4330 w 4440"/>
                <a:gd name="T1" fmla="*/ 0 h 1920"/>
                <a:gd name="T2" fmla="*/ 4440 w 4440"/>
                <a:gd name="T3" fmla="*/ 0 h 1920"/>
                <a:gd name="T4" fmla="*/ 4440 w 4440"/>
                <a:gd name="T5" fmla="*/ 1680 h 1920"/>
                <a:gd name="T6" fmla="*/ 0 w 4440"/>
                <a:gd name="T7" fmla="*/ 1671 h 19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40" h="1920">
                  <a:moveTo>
                    <a:pt x="4330" y="0"/>
                  </a:moveTo>
                  <a:lnTo>
                    <a:pt x="4440" y="0"/>
                  </a:lnTo>
                  <a:lnTo>
                    <a:pt x="4440" y="1920"/>
                  </a:lnTo>
                  <a:lnTo>
                    <a:pt x="0" y="19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8144" name="Text Box 42"/>
          <p:cNvSpPr txBox="1">
            <a:spLocks noChangeArrowheads="1"/>
          </p:cNvSpPr>
          <p:nvPr/>
        </p:nvSpPr>
        <p:spPr bwMode="auto">
          <a:xfrm>
            <a:off x="4981575" y="3646488"/>
            <a:ext cx="83978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Grille</a:t>
            </a:r>
          </a:p>
        </p:txBody>
      </p:sp>
      <p:sp>
        <p:nvSpPr>
          <p:cNvPr id="48145" name="Text Box 43"/>
          <p:cNvSpPr txBox="1">
            <a:spLocks noChangeArrowheads="1"/>
          </p:cNvSpPr>
          <p:nvPr/>
        </p:nvSpPr>
        <p:spPr bwMode="auto">
          <a:xfrm>
            <a:off x="1995488" y="4035425"/>
            <a:ext cx="1004887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Source</a:t>
            </a:r>
          </a:p>
        </p:txBody>
      </p:sp>
      <p:sp>
        <p:nvSpPr>
          <p:cNvPr id="48146" name="Text Box 44"/>
          <p:cNvSpPr txBox="1">
            <a:spLocks noChangeArrowheads="1"/>
          </p:cNvSpPr>
          <p:nvPr/>
        </p:nvSpPr>
        <p:spPr bwMode="auto">
          <a:xfrm>
            <a:off x="6332538" y="3878263"/>
            <a:ext cx="83978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fr-FR" altLang="fr-FR"/>
              <a:t>Drain</a:t>
            </a:r>
          </a:p>
        </p:txBody>
      </p:sp>
      <p:sp>
        <p:nvSpPr>
          <p:cNvPr id="48147" name="Oval 45"/>
          <p:cNvSpPr>
            <a:spLocks noChangeArrowheads="1"/>
          </p:cNvSpPr>
          <p:nvPr/>
        </p:nvSpPr>
        <p:spPr bwMode="auto">
          <a:xfrm>
            <a:off x="46069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48" name="Oval 46"/>
          <p:cNvSpPr>
            <a:spLocks noChangeArrowheads="1"/>
          </p:cNvSpPr>
          <p:nvPr/>
        </p:nvSpPr>
        <p:spPr bwMode="auto">
          <a:xfrm>
            <a:off x="491331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49" name="Oval 47"/>
          <p:cNvSpPr>
            <a:spLocks noChangeArrowheads="1"/>
          </p:cNvSpPr>
          <p:nvPr/>
        </p:nvSpPr>
        <p:spPr bwMode="auto">
          <a:xfrm>
            <a:off x="5165725" y="4465638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0" name="Oval 48"/>
          <p:cNvSpPr>
            <a:spLocks noChangeArrowheads="1"/>
          </p:cNvSpPr>
          <p:nvPr/>
        </p:nvSpPr>
        <p:spPr bwMode="auto">
          <a:xfrm>
            <a:off x="5613400" y="409575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1" name="Oval 49"/>
          <p:cNvSpPr>
            <a:spLocks noChangeArrowheads="1"/>
          </p:cNvSpPr>
          <p:nvPr/>
        </p:nvSpPr>
        <p:spPr bwMode="auto">
          <a:xfrm>
            <a:off x="4297363" y="409575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2" name="Oval 50"/>
          <p:cNvSpPr>
            <a:spLocks noChangeArrowheads="1"/>
          </p:cNvSpPr>
          <p:nvPr/>
        </p:nvSpPr>
        <p:spPr bwMode="auto">
          <a:xfrm>
            <a:off x="4033838" y="4465638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8" name="Rectangle 68"/>
          <p:cNvSpPr>
            <a:spLocks noChangeArrowheads="1"/>
          </p:cNvSpPr>
          <p:nvPr/>
        </p:nvSpPr>
        <p:spPr bwMode="auto">
          <a:xfrm>
            <a:off x="3600450" y="5021263"/>
            <a:ext cx="1771650" cy="236537"/>
          </a:xfrm>
          <a:prstGeom prst="rect">
            <a:avLst/>
          </a:prstGeom>
          <a:solidFill>
            <a:srgbClr val="66FF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8154" name="Group 51"/>
          <p:cNvGrpSpPr>
            <a:grpSpLocks/>
          </p:cNvGrpSpPr>
          <p:nvPr/>
        </p:nvGrpSpPr>
        <p:grpSpPr bwMode="auto">
          <a:xfrm>
            <a:off x="4313238" y="4635500"/>
            <a:ext cx="473075" cy="479425"/>
            <a:chOff x="2717" y="2920"/>
            <a:chExt cx="298" cy="302"/>
          </a:xfrm>
        </p:grpSpPr>
        <p:sp>
          <p:nvSpPr>
            <p:cNvPr id="48172" name="AutoShape 52"/>
            <p:cNvSpPr>
              <a:spLocks noChangeArrowheads="1"/>
            </p:cNvSpPr>
            <p:nvPr/>
          </p:nvSpPr>
          <p:spPr bwMode="auto">
            <a:xfrm>
              <a:off x="2717" y="2939"/>
              <a:ext cx="156" cy="283"/>
            </a:xfrm>
            <a:prstGeom prst="downArrow">
              <a:avLst>
                <a:gd name="adj1" fmla="val 50000"/>
                <a:gd name="adj2" fmla="val 45353"/>
              </a:avLst>
            </a:prstGeom>
            <a:solidFill>
              <a:srgbClr val="0000FF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8173" name="Text Box 53"/>
            <p:cNvSpPr txBox="1">
              <a:spLocks noChangeArrowheads="1"/>
            </p:cNvSpPr>
            <p:nvPr/>
          </p:nvSpPr>
          <p:spPr bwMode="auto">
            <a:xfrm>
              <a:off x="2795" y="2920"/>
              <a:ext cx="220" cy="2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400">
                  <a:solidFill>
                    <a:srgbClr val="3366FF"/>
                  </a:solidFill>
                  <a:latin typeface="Tahoma" pitchFamily="34" charset="0"/>
                </a:rPr>
                <a:t>E</a:t>
              </a:r>
            </a:p>
          </p:txBody>
        </p:sp>
      </p:grpSp>
      <p:sp>
        <p:nvSpPr>
          <p:cNvPr id="48155" name="Oval 54"/>
          <p:cNvSpPr>
            <a:spLocks noChangeArrowheads="1"/>
          </p:cNvSpPr>
          <p:nvPr/>
        </p:nvSpPr>
        <p:spPr bwMode="auto">
          <a:xfrm>
            <a:off x="371316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6" name="Oval 55"/>
          <p:cNvSpPr>
            <a:spLocks noChangeArrowheads="1"/>
          </p:cNvSpPr>
          <p:nvPr/>
        </p:nvSpPr>
        <p:spPr bwMode="auto">
          <a:xfrm>
            <a:off x="389255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7" name="Oval 56"/>
          <p:cNvSpPr>
            <a:spLocks noChangeArrowheads="1"/>
          </p:cNvSpPr>
          <p:nvPr/>
        </p:nvSpPr>
        <p:spPr bwMode="auto">
          <a:xfrm>
            <a:off x="406876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8" name="Oval 57"/>
          <p:cNvSpPr>
            <a:spLocks noChangeArrowheads="1"/>
          </p:cNvSpPr>
          <p:nvPr/>
        </p:nvSpPr>
        <p:spPr bwMode="auto">
          <a:xfrm>
            <a:off x="424815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59" name="Oval 58"/>
          <p:cNvSpPr>
            <a:spLocks noChangeArrowheads="1"/>
          </p:cNvSpPr>
          <p:nvPr/>
        </p:nvSpPr>
        <p:spPr bwMode="auto">
          <a:xfrm>
            <a:off x="458311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60" name="Oval 59"/>
          <p:cNvSpPr>
            <a:spLocks noChangeArrowheads="1"/>
          </p:cNvSpPr>
          <p:nvPr/>
        </p:nvSpPr>
        <p:spPr bwMode="auto">
          <a:xfrm>
            <a:off x="476250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61" name="Oval 60"/>
          <p:cNvSpPr>
            <a:spLocks noChangeArrowheads="1"/>
          </p:cNvSpPr>
          <p:nvPr/>
        </p:nvSpPr>
        <p:spPr bwMode="auto">
          <a:xfrm>
            <a:off x="4938713" y="5740400"/>
            <a:ext cx="112712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8162" name="Oval 61"/>
          <p:cNvSpPr>
            <a:spLocks noChangeArrowheads="1"/>
          </p:cNvSpPr>
          <p:nvPr/>
        </p:nvSpPr>
        <p:spPr bwMode="auto">
          <a:xfrm>
            <a:off x="5118100" y="5740400"/>
            <a:ext cx="112713" cy="1111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2" name="Oval 62"/>
          <p:cNvSpPr>
            <a:spLocks noChangeArrowheads="1"/>
          </p:cNvSpPr>
          <p:nvPr/>
        </p:nvSpPr>
        <p:spPr bwMode="auto">
          <a:xfrm>
            <a:off x="3716338" y="505301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3" name="Oval 63"/>
          <p:cNvSpPr>
            <a:spLocks noChangeArrowheads="1"/>
          </p:cNvSpPr>
          <p:nvPr/>
        </p:nvSpPr>
        <p:spPr bwMode="auto">
          <a:xfrm>
            <a:off x="3968750" y="5084763"/>
            <a:ext cx="74613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4" name="Oval 64"/>
          <p:cNvSpPr>
            <a:spLocks noChangeArrowheads="1"/>
          </p:cNvSpPr>
          <p:nvPr/>
        </p:nvSpPr>
        <p:spPr bwMode="auto">
          <a:xfrm>
            <a:off x="4595813" y="510063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5" name="Oval 65"/>
          <p:cNvSpPr>
            <a:spLocks noChangeArrowheads="1"/>
          </p:cNvSpPr>
          <p:nvPr/>
        </p:nvSpPr>
        <p:spPr bwMode="auto">
          <a:xfrm>
            <a:off x="4240213" y="5116513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6" name="Oval 66"/>
          <p:cNvSpPr>
            <a:spLocks noChangeArrowheads="1"/>
          </p:cNvSpPr>
          <p:nvPr/>
        </p:nvSpPr>
        <p:spPr bwMode="auto">
          <a:xfrm>
            <a:off x="4868863" y="510063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0387" name="Oval 67"/>
          <p:cNvSpPr>
            <a:spLocks noChangeArrowheads="1"/>
          </p:cNvSpPr>
          <p:nvPr/>
        </p:nvSpPr>
        <p:spPr bwMode="auto">
          <a:xfrm>
            <a:off x="5132388" y="5100638"/>
            <a:ext cx="74612" cy="74612"/>
          </a:xfrm>
          <a:prstGeom prst="ellipse">
            <a:avLst/>
          </a:prstGeom>
          <a:solidFill>
            <a:srgbClr val="FFFF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40389" name="Group 69"/>
          <p:cNvGrpSpPr>
            <a:grpSpLocks/>
          </p:cNvGrpSpPr>
          <p:nvPr/>
        </p:nvGrpSpPr>
        <p:grpSpPr bwMode="auto">
          <a:xfrm>
            <a:off x="8166100" y="3811588"/>
            <a:ext cx="647700" cy="892175"/>
            <a:chOff x="3611" y="3293"/>
            <a:chExt cx="408" cy="562"/>
          </a:xfrm>
        </p:grpSpPr>
        <p:sp>
          <p:nvSpPr>
            <p:cNvPr id="48170" name="AutoShape 70"/>
            <p:cNvSpPr>
              <a:spLocks noChangeArrowheads="1"/>
            </p:cNvSpPr>
            <p:nvPr/>
          </p:nvSpPr>
          <p:spPr bwMode="auto">
            <a:xfrm rot="10800000">
              <a:off x="3823" y="3293"/>
              <a:ext cx="179" cy="453"/>
            </a:xfrm>
            <a:prstGeom prst="upArrow">
              <a:avLst>
                <a:gd name="adj1" fmla="val 50000"/>
                <a:gd name="adj2" fmla="val 63268"/>
              </a:avLst>
            </a:prstGeom>
            <a:solidFill>
              <a:srgbClr val="FFCC99"/>
            </a:solidFill>
            <a:ln w="381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48171" name="Text Box 71"/>
            <p:cNvSpPr txBox="1">
              <a:spLocks noChangeArrowheads="1"/>
            </p:cNvSpPr>
            <p:nvPr/>
          </p:nvSpPr>
          <p:spPr bwMode="auto">
            <a:xfrm>
              <a:off x="3611" y="3605"/>
              <a:ext cx="408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altLang="fr-FR" sz="2000"/>
                <a:t>Id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6 6.2963E-6 L 0.12413 -0.00647 L 0.12742 -0.25601 L 0.37899 -0.25601 L 0.38055 0.13103 L -0.39046 0.13103 L -0.38872 -0.16342 L -0.21303 -0.16573 L -0.20817 6.2963E-6 L -5.55556E-6 6.2963E-6 Z " pathEditMode="relative" ptsTypes="AAAAAAAAAA">
                                      <p:cBhvr>
                                        <p:cTn id="11" dur="5000" fill="hold"/>
                                        <p:tgtEl>
                                          <p:spTgt spid="4403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44444E-6 6.2963E-6 L 0.15313 -0.00439 L 0.15 -0.25601 L 0.40643 -0.25601 L 0.40799 0.13542 L -0.36302 0.12894 L -0.35972 -0.16573 L -0.18385 -0.16573 L -0.18385 -0.00647 L -4.44444E-6 6.2963E-6 Z " pathEditMode="relative" ptsTypes="AAAAAAAAAA">
                                      <p:cBhvr>
                                        <p:cTn id="13" dur="5000" fill="hold"/>
                                        <p:tgtEl>
                                          <p:spTgt spid="4403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6.38889E-6 1.11111E-6 L 0.18229 -0.00648 L 0.18229 -0.25578 L 0.43715 -0.2537 L 0.43871 0.13334 L -0.3323 0.13125 L -0.3323 -0.16342 L -0.15313 -0.16551 L -0.15313 -0.00648 L -6.38889E-6 1.11111E-6 Z " pathEditMode="relative" ptsTypes="AAAAAAAAAA">
                                      <p:cBhvr>
                                        <p:cTn id="15" dur="5000" fill="hold"/>
                                        <p:tgtEl>
                                          <p:spTgt spid="4403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5E-6 1.11111E-6 L 0.22413 -0.0044 L 0.221 -0.25602 L 0.47899 -0.25602 L 0.48055 0.13541 L -0.29358 0.12685 L -0.29202 -0.16574 L -0.11285 -0.16574 L -0.11285 -0.00232 L 2.5E-6 1.11111E-6 Z " pathEditMode="relative" ptsTypes="AAAAAAAAAA">
                                      <p:cBhvr>
                                        <p:cTn id="17" dur="5000" fill="hold"/>
                                        <p:tgtEl>
                                          <p:spTgt spid="4403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04 -0.00463 L 0.25208 -0.00255 L 0.24722 -0.25208 L 0.50695 -0.25208 L 0.50695 0.13518 L -0.26406 0.13079 L -0.26406 -0.16157 L -0.08489 -0.16389 L -0.08489 -0.00046 L -0.00104 -0.00463 Z " pathEditMode="relative" rAng="0" ptsTypes="AAAAAAAAAA">
                                      <p:cBhvr>
                                        <p:cTn id="19" dur="5000" fill="hold"/>
                                        <p:tgtEl>
                                          <p:spTgt spid="4403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-5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repeatCount="indefinite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5.55556E-6 3.33333E-6 L 0.27742 0.00648 L 0.27742 -0.24746 L 0.53541 -0.24514 L 0.53697 0.14189 L -0.23716 0.1375 L -0.2356 -0.15695 L -0.05817 -0.15695 L -0.05487 0.01064 L -5.55556E-6 3.33333E-6 Z " pathEditMode="relative" ptsTypes="AAAAAAAAAA">
                                      <p:cBhvr>
                                        <p:cTn id="21" dur="5000" fill="hold"/>
                                        <p:tgtEl>
                                          <p:spTgt spid="4403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4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8" grpId="0" animBg="1"/>
      <p:bldP spid="440382" grpId="0" animBg="1"/>
      <p:bldP spid="440383" grpId="0" animBg="1"/>
      <p:bldP spid="440384" grpId="0" animBg="1"/>
      <p:bldP spid="440385" grpId="0" animBg="1"/>
      <p:bldP spid="440386" grpId="0" animBg="1"/>
      <p:bldP spid="44038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3711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Caractéristiques</a:t>
            </a:r>
            <a:endParaRPr lang="fr-FR" altLang="fr-FR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1116013" y="1792288"/>
            <a:ext cx="7581900" cy="638175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116013" y="1882775"/>
            <a:ext cx="751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Caractéristiques </a:t>
            </a:r>
            <a:r>
              <a:rPr lang="fr-FR" altLang="fr-FR" sz="2400">
                <a:solidFill>
                  <a:srgbClr val="FF0000"/>
                </a:solidFill>
              </a:rPr>
              <a:t>similaires</a:t>
            </a:r>
            <a:r>
              <a:rPr lang="fr-FR" altLang="fr-FR" sz="2000"/>
              <a:t> à celle d’un transistor JFET</a:t>
            </a:r>
            <a:endParaRPr lang="fr-FR" altLang="fr-FR" sz="2400">
              <a:solidFill>
                <a:srgbClr val="FF0000"/>
              </a:solidFill>
            </a:endParaRP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2770188" y="5557838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Vds (V)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1212850" y="29845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Id (mA)</a:t>
            </a:r>
          </a:p>
        </p:txBody>
      </p:sp>
      <p:sp>
        <p:nvSpPr>
          <p:cNvPr id="49159" name="Line 7"/>
          <p:cNvSpPr>
            <a:spLocks noChangeShapeType="1"/>
          </p:cNvSpPr>
          <p:nvPr/>
        </p:nvSpPr>
        <p:spPr bwMode="auto">
          <a:xfrm>
            <a:off x="1235075" y="3378200"/>
            <a:ext cx="2071688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 flipV="1">
            <a:off x="1220788" y="3900488"/>
            <a:ext cx="2127250" cy="158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>
            <a:off x="1235075" y="4425950"/>
            <a:ext cx="2116138" cy="1270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1223963" y="4943475"/>
            <a:ext cx="2165350" cy="476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 flipH="1" flipV="1">
            <a:off x="1847850" y="3167063"/>
            <a:ext cx="15875" cy="2289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 flipH="1" flipV="1">
            <a:off x="2468563" y="3167063"/>
            <a:ext cx="4762" cy="23034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 flipH="1" flipV="1">
            <a:off x="3087688" y="3167063"/>
            <a:ext cx="6350" cy="23145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1358" name="Text Box 14"/>
          <p:cNvSpPr txBox="1">
            <a:spLocks noChangeArrowheads="1"/>
          </p:cNvSpPr>
          <p:nvPr/>
        </p:nvSpPr>
        <p:spPr bwMode="auto">
          <a:xfrm>
            <a:off x="2397125" y="3362325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8 V</a:t>
            </a:r>
          </a:p>
        </p:txBody>
      </p:sp>
      <p:grpSp>
        <p:nvGrpSpPr>
          <p:cNvPr id="441382" name="Group 38"/>
          <p:cNvGrpSpPr>
            <a:grpSpLocks/>
          </p:cNvGrpSpPr>
          <p:nvPr/>
        </p:nvGrpSpPr>
        <p:grpSpPr bwMode="auto">
          <a:xfrm>
            <a:off x="4138613" y="3300413"/>
            <a:ext cx="4559300" cy="1409700"/>
            <a:chOff x="2607" y="2079"/>
            <a:chExt cx="2872" cy="888"/>
          </a:xfrm>
        </p:grpSpPr>
        <p:sp>
          <p:nvSpPr>
            <p:cNvPr id="49187" name="Rectangle 16"/>
            <p:cNvSpPr>
              <a:spLocks noChangeArrowheads="1"/>
            </p:cNvSpPr>
            <p:nvPr/>
          </p:nvSpPr>
          <p:spPr bwMode="auto">
            <a:xfrm>
              <a:off x="2607" y="2079"/>
              <a:ext cx="2872" cy="888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9188" name="Text Box 17"/>
            <p:cNvSpPr txBox="1">
              <a:spLocks noChangeArrowheads="1"/>
            </p:cNvSpPr>
            <p:nvPr/>
          </p:nvSpPr>
          <p:spPr bwMode="auto">
            <a:xfrm>
              <a:off x="2617" y="2090"/>
              <a:ext cx="2846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La valeur de</a:t>
              </a:r>
              <a:r>
                <a:rPr lang="fr-FR" altLang="fr-FR" sz="2400">
                  <a:solidFill>
                    <a:srgbClr val="FF0000"/>
                  </a:solidFill>
                </a:rPr>
                <a:t> Vgs &gt; 0 </a:t>
              </a:r>
              <a:r>
                <a:rPr lang="fr-FR" altLang="fr-FR" sz="2000"/>
                <a:t>influence</a:t>
              </a:r>
              <a:r>
                <a:rPr lang="fr-FR" altLang="fr-FR" sz="2400">
                  <a:solidFill>
                    <a:srgbClr val="FF0000"/>
                  </a:solidFill>
                </a:rPr>
                <a:t> </a:t>
              </a:r>
              <a:r>
                <a:rPr lang="fr-FR" altLang="fr-FR" sz="2000"/>
                <a:t>directement la densité de porteurs minoritaires attirés sous la capacité MOS</a:t>
              </a:r>
            </a:p>
          </p:txBody>
        </p:sp>
      </p:grpSp>
      <p:grpSp>
        <p:nvGrpSpPr>
          <p:cNvPr id="441362" name="Group 18"/>
          <p:cNvGrpSpPr>
            <a:grpSpLocks/>
          </p:cNvGrpSpPr>
          <p:nvPr/>
        </p:nvGrpSpPr>
        <p:grpSpPr bwMode="auto">
          <a:xfrm>
            <a:off x="1249363" y="3687763"/>
            <a:ext cx="1957387" cy="1776412"/>
            <a:chOff x="787" y="2323"/>
            <a:chExt cx="1233" cy="1119"/>
          </a:xfrm>
        </p:grpSpPr>
        <p:sp>
          <p:nvSpPr>
            <p:cNvPr id="49184" name="Line 19"/>
            <p:cNvSpPr>
              <a:spLocks noChangeShapeType="1"/>
            </p:cNvSpPr>
            <p:nvPr/>
          </p:nvSpPr>
          <p:spPr bwMode="auto">
            <a:xfrm flipV="1">
              <a:off x="787" y="2462"/>
              <a:ext cx="513" cy="98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85" name="Freeform 20"/>
            <p:cNvSpPr>
              <a:spLocks/>
            </p:cNvSpPr>
            <p:nvPr/>
          </p:nvSpPr>
          <p:spPr bwMode="auto">
            <a:xfrm>
              <a:off x="1291" y="2326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9186" name="Line 21"/>
            <p:cNvSpPr>
              <a:spLocks noChangeShapeType="1"/>
            </p:cNvSpPr>
            <p:nvPr/>
          </p:nvSpPr>
          <p:spPr bwMode="auto">
            <a:xfrm>
              <a:off x="1610" y="2323"/>
              <a:ext cx="41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9169" name="Line 22"/>
          <p:cNvSpPr>
            <a:spLocks noChangeShapeType="1"/>
          </p:cNvSpPr>
          <p:nvPr/>
        </p:nvSpPr>
        <p:spPr bwMode="auto">
          <a:xfrm flipH="1" flipV="1">
            <a:off x="1228725" y="3167063"/>
            <a:ext cx="4763" cy="230822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9170" name="Line 23"/>
          <p:cNvSpPr>
            <a:spLocks noChangeShapeType="1"/>
          </p:cNvSpPr>
          <p:nvPr/>
        </p:nvSpPr>
        <p:spPr bwMode="auto">
          <a:xfrm flipV="1">
            <a:off x="1230313" y="5470525"/>
            <a:ext cx="2203450" cy="158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41368" name="Group 24"/>
          <p:cNvGrpSpPr>
            <a:grpSpLocks/>
          </p:cNvGrpSpPr>
          <p:nvPr/>
        </p:nvGrpSpPr>
        <p:grpSpPr bwMode="auto">
          <a:xfrm>
            <a:off x="1244600" y="4205288"/>
            <a:ext cx="1947863" cy="1266825"/>
            <a:chOff x="784" y="2649"/>
            <a:chExt cx="1227" cy="798"/>
          </a:xfrm>
        </p:grpSpPr>
        <p:sp>
          <p:nvSpPr>
            <p:cNvPr id="49181" name="Line 25"/>
            <p:cNvSpPr>
              <a:spLocks noChangeShapeType="1"/>
            </p:cNvSpPr>
            <p:nvPr/>
          </p:nvSpPr>
          <p:spPr bwMode="auto">
            <a:xfrm flipV="1">
              <a:off x="784" y="2796"/>
              <a:ext cx="411" cy="65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82" name="Freeform 26"/>
            <p:cNvSpPr>
              <a:spLocks/>
            </p:cNvSpPr>
            <p:nvPr/>
          </p:nvSpPr>
          <p:spPr bwMode="auto">
            <a:xfrm>
              <a:off x="1197" y="2650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9183" name="Line 27"/>
            <p:cNvSpPr>
              <a:spLocks noChangeShapeType="1"/>
            </p:cNvSpPr>
            <p:nvPr/>
          </p:nvSpPr>
          <p:spPr bwMode="auto">
            <a:xfrm flipV="1">
              <a:off x="1519" y="2649"/>
              <a:ext cx="492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41372" name="Group 28"/>
          <p:cNvGrpSpPr>
            <a:grpSpLocks/>
          </p:cNvGrpSpPr>
          <p:nvPr/>
        </p:nvGrpSpPr>
        <p:grpSpPr bwMode="auto">
          <a:xfrm>
            <a:off x="1239838" y="4549775"/>
            <a:ext cx="1936750" cy="930275"/>
            <a:chOff x="781" y="2866"/>
            <a:chExt cx="1220" cy="586"/>
          </a:xfrm>
        </p:grpSpPr>
        <p:sp>
          <p:nvSpPr>
            <p:cNvPr id="49178" name="Line 29"/>
            <p:cNvSpPr>
              <a:spLocks noChangeShapeType="1"/>
            </p:cNvSpPr>
            <p:nvPr/>
          </p:nvSpPr>
          <p:spPr bwMode="auto">
            <a:xfrm flipV="1">
              <a:off x="781" y="3008"/>
              <a:ext cx="334" cy="4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79" name="Freeform 30"/>
            <p:cNvSpPr>
              <a:spLocks/>
            </p:cNvSpPr>
            <p:nvPr/>
          </p:nvSpPr>
          <p:spPr bwMode="auto">
            <a:xfrm>
              <a:off x="1113" y="2866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49180" name="Line 31"/>
            <p:cNvSpPr>
              <a:spLocks noChangeShapeType="1"/>
            </p:cNvSpPr>
            <p:nvPr/>
          </p:nvSpPr>
          <p:spPr bwMode="auto">
            <a:xfrm>
              <a:off x="1442" y="2866"/>
              <a:ext cx="559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41376" name="Text Box 32"/>
          <p:cNvSpPr txBox="1">
            <a:spLocks noChangeArrowheads="1"/>
          </p:cNvSpPr>
          <p:nvPr/>
        </p:nvSpPr>
        <p:spPr bwMode="auto">
          <a:xfrm>
            <a:off x="2397125" y="3890963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6 V</a:t>
            </a:r>
          </a:p>
        </p:txBody>
      </p:sp>
      <p:sp>
        <p:nvSpPr>
          <p:cNvPr id="441377" name="Text Box 33"/>
          <p:cNvSpPr txBox="1">
            <a:spLocks noChangeArrowheads="1"/>
          </p:cNvSpPr>
          <p:nvPr/>
        </p:nvSpPr>
        <p:spPr bwMode="auto">
          <a:xfrm>
            <a:off x="2397125" y="4524375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2 V</a:t>
            </a:r>
          </a:p>
        </p:txBody>
      </p:sp>
      <p:grpSp>
        <p:nvGrpSpPr>
          <p:cNvPr id="441383" name="Group 39"/>
          <p:cNvGrpSpPr>
            <a:grpSpLocks/>
          </p:cNvGrpSpPr>
          <p:nvPr/>
        </p:nvGrpSpPr>
        <p:grpSpPr bwMode="auto">
          <a:xfrm>
            <a:off x="4138613" y="5045075"/>
            <a:ext cx="4559300" cy="1187450"/>
            <a:chOff x="2607" y="3178"/>
            <a:chExt cx="2872" cy="748"/>
          </a:xfrm>
        </p:grpSpPr>
        <p:sp>
          <p:nvSpPr>
            <p:cNvPr id="49176" name="Rectangle 34"/>
            <p:cNvSpPr>
              <a:spLocks noChangeArrowheads="1"/>
            </p:cNvSpPr>
            <p:nvPr/>
          </p:nvSpPr>
          <p:spPr bwMode="auto">
            <a:xfrm>
              <a:off x="2607" y="3206"/>
              <a:ext cx="2872" cy="693"/>
            </a:xfrm>
            <a:prstGeom prst="rect">
              <a:avLst/>
            </a:prstGeom>
            <a:solidFill>
              <a:srgbClr val="FFCC99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49177" name="Text Box 35"/>
            <p:cNvSpPr txBox="1">
              <a:spLocks noChangeArrowheads="1"/>
            </p:cNvSpPr>
            <p:nvPr/>
          </p:nvSpPr>
          <p:spPr bwMode="auto">
            <a:xfrm>
              <a:off x="2617" y="3178"/>
              <a:ext cx="2846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La valeur de</a:t>
              </a:r>
              <a:r>
                <a:rPr lang="fr-FR" altLang="fr-FR" sz="2400">
                  <a:solidFill>
                    <a:srgbClr val="FF0000"/>
                  </a:solidFill>
                </a:rPr>
                <a:t> Vds &gt; 0 </a:t>
              </a:r>
              <a:r>
                <a:rPr lang="fr-FR" altLang="fr-FR" sz="2000"/>
                <a:t>influence</a:t>
              </a:r>
              <a:r>
                <a:rPr lang="fr-FR" altLang="fr-FR" sz="2400">
                  <a:solidFill>
                    <a:srgbClr val="FF0000"/>
                  </a:solidFill>
                </a:rPr>
                <a:t> </a:t>
              </a:r>
              <a:r>
                <a:rPr lang="fr-FR" altLang="fr-FR" sz="2000"/>
                <a:t>directement la valeur du </a:t>
              </a:r>
              <a:r>
                <a:rPr lang="fr-FR" altLang="fr-FR" sz="2400">
                  <a:solidFill>
                    <a:srgbClr val="FF0000"/>
                  </a:solidFill>
                </a:rPr>
                <a:t>champ E</a:t>
              </a:r>
              <a:r>
                <a:rPr lang="fr-FR" altLang="fr-FR" sz="2000"/>
                <a:t> et donc de la </a:t>
              </a:r>
              <a:r>
                <a:rPr lang="fr-FR" altLang="fr-FR" sz="2400">
                  <a:solidFill>
                    <a:srgbClr val="FF0000"/>
                  </a:solidFill>
                </a:rPr>
                <a:t>saturation de Id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4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4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44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4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44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4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4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8" grpId="0"/>
      <p:bldP spid="441376" grpId="0"/>
      <p:bldP spid="44137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1406525" y="717550"/>
            <a:ext cx="68087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 sz="3600"/>
              <a:t>Cas du MOS à appauvrissement</a:t>
            </a:r>
            <a:endParaRPr lang="fr-FR" altLang="fr-FR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1116013" y="1792288"/>
            <a:ext cx="7581900" cy="889000"/>
          </a:xfrm>
          <a:prstGeom prst="rect">
            <a:avLst/>
          </a:prstGeom>
          <a:solidFill>
            <a:srgbClr val="FFCC99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endParaRPr lang="fr-FR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116013" y="1855788"/>
            <a:ext cx="7518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2000"/>
              <a:t>Pour </a:t>
            </a:r>
            <a:r>
              <a:rPr lang="fr-FR" altLang="fr-FR" sz="2400">
                <a:solidFill>
                  <a:srgbClr val="FF0000"/>
                </a:solidFill>
              </a:rPr>
              <a:t>Vgs = 0, existence du canal N</a:t>
            </a:r>
            <a:r>
              <a:rPr lang="fr-FR" altLang="fr-FR" sz="2000"/>
              <a:t> entre la source et le drain</a:t>
            </a:r>
            <a:endParaRPr lang="fr-FR" altLang="fr-FR" sz="2400">
              <a:solidFill>
                <a:srgbClr val="FF0000"/>
              </a:solidFill>
            </a:endParaRP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770188" y="5557838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Vds (V)</a:t>
            </a: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1212850" y="2984500"/>
            <a:ext cx="104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fr-FR" altLang="fr-FR"/>
              <a:t>Id (mA)</a:t>
            </a: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1235075" y="3378200"/>
            <a:ext cx="2071688" cy="3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 flipV="1">
            <a:off x="1220788" y="3900488"/>
            <a:ext cx="2127250" cy="1587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>
            <a:off x="1235075" y="4425950"/>
            <a:ext cx="2116138" cy="12700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1223963" y="4943475"/>
            <a:ext cx="2165350" cy="4763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87" name="Line 11"/>
          <p:cNvSpPr>
            <a:spLocks noChangeShapeType="1"/>
          </p:cNvSpPr>
          <p:nvPr/>
        </p:nvSpPr>
        <p:spPr bwMode="auto">
          <a:xfrm flipH="1" flipV="1">
            <a:off x="1847850" y="3167063"/>
            <a:ext cx="15875" cy="22891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88" name="Line 12"/>
          <p:cNvSpPr>
            <a:spLocks noChangeShapeType="1"/>
          </p:cNvSpPr>
          <p:nvPr/>
        </p:nvSpPr>
        <p:spPr bwMode="auto">
          <a:xfrm flipH="1" flipV="1">
            <a:off x="2468563" y="3167063"/>
            <a:ext cx="4762" cy="2303462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 flipH="1" flipV="1">
            <a:off x="3087688" y="3167063"/>
            <a:ext cx="6350" cy="2314575"/>
          </a:xfrm>
          <a:prstGeom prst="line">
            <a:avLst/>
          </a:prstGeom>
          <a:noFill/>
          <a:ln w="19050" cap="rnd">
            <a:solidFill>
              <a:srgbClr val="B2B2B2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43406" name="Text Box 14"/>
          <p:cNvSpPr txBox="1">
            <a:spLocks noChangeArrowheads="1"/>
          </p:cNvSpPr>
          <p:nvPr/>
        </p:nvSpPr>
        <p:spPr bwMode="auto">
          <a:xfrm>
            <a:off x="2397125" y="3362325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4 V</a:t>
            </a:r>
          </a:p>
        </p:txBody>
      </p:sp>
      <p:grpSp>
        <p:nvGrpSpPr>
          <p:cNvPr id="443440" name="Group 48"/>
          <p:cNvGrpSpPr>
            <a:grpSpLocks/>
          </p:cNvGrpSpPr>
          <p:nvPr/>
        </p:nvGrpSpPr>
        <p:grpSpPr bwMode="auto">
          <a:xfrm>
            <a:off x="4064000" y="3784600"/>
            <a:ext cx="4559300" cy="1595438"/>
            <a:chOff x="2607" y="2079"/>
            <a:chExt cx="2872" cy="1005"/>
          </a:xfrm>
        </p:grpSpPr>
        <p:sp>
          <p:nvSpPr>
            <p:cNvPr id="50218" name="Rectangle 16"/>
            <p:cNvSpPr>
              <a:spLocks noChangeArrowheads="1"/>
            </p:cNvSpPr>
            <p:nvPr/>
          </p:nvSpPr>
          <p:spPr bwMode="auto">
            <a:xfrm>
              <a:off x="2607" y="2079"/>
              <a:ext cx="2872" cy="1005"/>
            </a:xfrm>
            <a:prstGeom prst="rect">
              <a:avLst/>
            </a:prstGeom>
            <a:solidFill>
              <a:srgbClr val="CCFFCC"/>
            </a:solidFill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  <p:sp>
          <p:nvSpPr>
            <p:cNvPr id="50219" name="Text Box 17"/>
            <p:cNvSpPr txBox="1">
              <a:spLocks noChangeArrowheads="1"/>
            </p:cNvSpPr>
            <p:nvPr/>
          </p:nvSpPr>
          <p:spPr bwMode="auto">
            <a:xfrm>
              <a:off x="2617" y="2111"/>
              <a:ext cx="2846" cy="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fr-FR" altLang="fr-FR" sz="2000"/>
                <a:t>L’existence du canal garantit une </a:t>
              </a:r>
              <a:r>
                <a:rPr lang="fr-FR" altLang="fr-FR" sz="2400">
                  <a:solidFill>
                    <a:srgbClr val="FF0000"/>
                  </a:solidFill>
                </a:rPr>
                <a:t>conduction</a:t>
              </a:r>
              <a:r>
                <a:rPr lang="fr-FR" altLang="fr-FR" sz="2000"/>
                <a:t> du transistor pour des valeurs </a:t>
              </a:r>
              <a:r>
                <a:rPr lang="fr-FR" altLang="fr-FR" sz="2400">
                  <a:solidFill>
                    <a:srgbClr val="FF0000"/>
                  </a:solidFill>
                </a:rPr>
                <a:t>négatives et positives</a:t>
              </a:r>
              <a:r>
                <a:rPr lang="fr-FR" altLang="fr-FR" sz="2000"/>
                <a:t> de </a:t>
              </a:r>
              <a:r>
                <a:rPr lang="fr-FR" altLang="fr-FR" sz="2400">
                  <a:solidFill>
                    <a:srgbClr val="FF0000"/>
                  </a:solidFill>
                </a:rPr>
                <a:t>Vgs</a:t>
              </a:r>
            </a:p>
          </p:txBody>
        </p:sp>
      </p:grpSp>
      <p:grpSp>
        <p:nvGrpSpPr>
          <p:cNvPr id="443410" name="Group 18"/>
          <p:cNvGrpSpPr>
            <a:grpSpLocks/>
          </p:cNvGrpSpPr>
          <p:nvPr/>
        </p:nvGrpSpPr>
        <p:grpSpPr bwMode="auto">
          <a:xfrm>
            <a:off x="1249363" y="3687763"/>
            <a:ext cx="1957387" cy="1776412"/>
            <a:chOff x="787" y="2323"/>
            <a:chExt cx="1233" cy="1119"/>
          </a:xfrm>
        </p:grpSpPr>
        <p:sp>
          <p:nvSpPr>
            <p:cNvPr id="50215" name="Line 19"/>
            <p:cNvSpPr>
              <a:spLocks noChangeShapeType="1"/>
            </p:cNvSpPr>
            <p:nvPr/>
          </p:nvSpPr>
          <p:spPr bwMode="auto">
            <a:xfrm flipV="1">
              <a:off x="787" y="2462"/>
              <a:ext cx="513" cy="98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216" name="Freeform 20"/>
            <p:cNvSpPr>
              <a:spLocks/>
            </p:cNvSpPr>
            <p:nvPr/>
          </p:nvSpPr>
          <p:spPr bwMode="auto">
            <a:xfrm>
              <a:off x="1291" y="2326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50217" name="Line 21"/>
            <p:cNvSpPr>
              <a:spLocks noChangeShapeType="1"/>
            </p:cNvSpPr>
            <p:nvPr/>
          </p:nvSpPr>
          <p:spPr bwMode="auto">
            <a:xfrm>
              <a:off x="1610" y="2323"/>
              <a:ext cx="41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50193" name="Line 22"/>
          <p:cNvSpPr>
            <a:spLocks noChangeShapeType="1"/>
          </p:cNvSpPr>
          <p:nvPr/>
        </p:nvSpPr>
        <p:spPr bwMode="auto">
          <a:xfrm flipH="1" flipV="1">
            <a:off x="1228725" y="3167063"/>
            <a:ext cx="4763" cy="2308225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0194" name="Line 23"/>
          <p:cNvSpPr>
            <a:spLocks noChangeShapeType="1"/>
          </p:cNvSpPr>
          <p:nvPr/>
        </p:nvSpPr>
        <p:spPr bwMode="auto">
          <a:xfrm flipV="1">
            <a:off x="1230313" y="5470525"/>
            <a:ext cx="2203450" cy="1588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43416" name="Group 24"/>
          <p:cNvGrpSpPr>
            <a:grpSpLocks/>
          </p:cNvGrpSpPr>
          <p:nvPr/>
        </p:nvGrpSpPr>
        <p:grpSpPr bwMode="auto">
          <a:xfrm>
            <a:off x="1244600" y="4205288"/>
            <a:ext cx="1947863" cy="1266825"/>
            <a:chOff x="784" y="2649"/>
            <a:chExt cx="1227" cy="798"/>
          </a:xfrm>
        </p:grpSpPr>
        <p:sp>
          <p:nvSpPr>
            <p:cNvPr id="50212" name="Line 25"/>
            <p:cNvSpPr>
              <a:spLocks noChangeShapeType="1"/>
            </p:cNvSpPr>
            <p:nvPr/>
          </p:nvSpPr>
          <p:spPr bwMode="auto">
            <a:xfrm flipV="1">
              <a:off x="784" y="2796"/>
              <a:ext cx="411" cy="65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213" name="Freeform 26"/>
            <p:cNvSpPr>
              <a:spLocks/>
            </p:cNvSpPr>
            <p:nvPr/>
          </p:nvSpPr>
          <p:spPr bwMode="auto">
            <a:xfrm>
              <a:off x="1197" y="2650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50214" name="Line 27"/>
            <p:cNvSpPr>
              <a:spLocks noChangeShapeType="1"/>
            </p:cNvSpPr>
            <p:nvPr/>
          </p:nvSpPr>
          <p:spPr bwMode="auto">
            <a:xfrm flipV="1">
              <a:off x="1519" y="2649"/>
              <a:ext cx="492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grpSp>
        <p:nvGrpSpPr>
          <p:cNvPr id="443420" name="Group 28"/>
          <p:cNvGrpSpPr>
            <a:grpSpLocks/>
          </p:cNvGrpSpPr>
          <p:nvPr/>
        </p:nvGrpSpPr>
        <p:grpSpPr bwMode="auto">
          <a:xfrm>
            <a:off x="1239838" y="4549775"/>
            <a:ext cx="1936750" cy="930275"/>
            <a:chOff x="781" y="2866"/>
            <a:chExt cx="1220" cy="586"/>
          </a:xfrm>
        </p:grpSpPr>
        <p:sp>
          <p:nvSpPr>
            <p:cNvPr id="50209" name="Line 29"/>
            <p:cNvSpPr>
              <a:spLocks noChangeShapeType="1"/>
            </p:cNvSpPr>
            <p:nvPr/>
          </p:nvSpPr>
          <p:spPr bwMode="auto">
            <a:xfrm flipV="1">
              <a:off x="781" y="3008"/>
              <a:ext cx="334" cy="4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210" name="Freeform 30"/>
            <p:cNvSpPr>
              <a:spLocks/>
            </p:cNvSpPr>
            <p:nvPr/>
          </p:nvSpPr>
          <p:spPr bwMode="auto">
            <a:xfrm>
              <a:off x="1113" y="2866"/>
              <a:ext cx="336" cy="147"/>
            </a:xfrm>
            <a:custGeom>
              <a:avLst/>
              <a:gdLst>
                <a:gd name="T0" fmla="*/ 0 w 336"/>
                <a:gd name="T1" fmla="*/ 147 h 147"/>
                <a:gd name="T2" fmla="*/ 89 w 336"/>
                <a:gd name="T3" fmla="*/ 64 h 147"/>
                <a:gd name="T4" fmla="*/ 204 w 336"/>
                <a:gd name="T5" fmla="*/ 14 h 147"/>
                <a:gd name="T6" fmla="*/ 336 w 336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47">
                  <a:moveTo>
                    <a:pt x="0" y="147"/>
                  </a:moveTo>
                  <a:cubicBezTo>
                    <a:pt x="15" y="133"/>
                    <a:pt x="55" y="86"/>
                    <a:pt x="89" y="64"/>
                  </a:cubicBezTo>
                  <a:cubicBezTo>
                    <a:pt x="123" y="42"/>
                    <a:pt x="163" y="25"/>
                    <a:pt x="204" y="14"/>
                  </a:cubicBezTo>
                  <a:cubicBezTo>
                    <a:pt x="245" y="3"/>
                    <a:pt x="309" y="3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50211" name="Line 31"/>
            <p:cNvSpPr>
              <a:spLocks noChangeShapeType="1"/>
            </p:cNvSpPr>
            <p:nvPr/>
          </p:nvSpPr>
          <p:spPr bwMode="auto">
            <a:xfrm>
              <a:off x="1442" y="2866"/>
              <a:ext cx="559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43424" name="Text Box 32"/>
          <p:cNvSpPr txBox="1">
            <a:spLocks noChangeArrowheads="1"/>
          </p:cNvSpPr>
          <p:nvPr/>
        </p:nvSpPr>
        <p:spPr bwMode="auto">
          <a:xfrm>
            <a:off x="2397125" y="3890963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2 V</a:t>
            </a:r>
          </a:p>
        </p:txBody>
      </p:sp>
      <p:sp>
        <p:nvSpPr>
          <p:cNvPr id="443425" name="Text Box 33"/>
          <p:cNvSpPr txBox="1">
            <a:spLocks noChangeArrowheads="1"/>
          </p:cNvSpPr>
          <p:nvPr/>
        </p:nvSpPr>
        <p:spPr bwMode="auto">
          <a:xfrm>
            <a:off x="2397125" y="4244975"/>
            <a:ext cx="10620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0 V</a:t>
            </a:r>
          </a:p>
        </p:txBody>
      </p:sp>
      <p:grpSp>
        <p:nvGrpSpPr>
          <p:cNvPr id="443438" name="Group 46"/>
          <p:cNvGrpSpPr>
            <a:grpSpLocks/>
          </p:cNvGrpSpPr>
          <p:nvPr/>
        </p:nvGrpSpPr>
        <p:grpSpPr bwMode="auto">
          <a:xfrm>
            <a:off x="1247775" y="4876800"/>
            <a:ext cx="1935163" cy="601663"/>
            <a:chOff x="786" y="3072"/>
            <a:chExt cx="1219" cy="379"/>
          </a:xfrm>
        </p:grpSpPr>
        <p:sp>
          <p:nvSpPr>
            <p:cNvPr id="50206" name="Line 38"/>
            <p:cNvSpPr>
              <a:spLocks noChangeShapeType="1"/>
            </p:cNvSpPr>
            <p:nvPr/>
          </p:nvSpPr>
          <p:spPr bwMode="auto">
            <a:xfrm flipV="1">
              <a:off x="786" y="3143"/>
              <a:ext cx="300" cy="308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207" name="Freeform 39"/>
            <p:cNvSpPr>
              <a:spLocks/>
            </p:cNvSpPr>
            <p:nvPr/>
          </p:nvSpPr>
          <p:spPr bwMode="auto">
            <a:xfrm>
              <a:off x="1063" y="3074"/>
              <a:ext cx="322" cy="87"/>
            </a:xfrm>
            <a:custGeom>
              <a:avLst/>
              <a:gdLst>
                <a:gd name="T0" fmla="*/ 0 w 322"/>
                <a:gd name="T1" fmla="*/ 87 h 87"/>
                <a:gd name="T2" fmla="*/ 103 w 322"/>
                <a:gd name="T3" fmla="*/ 32 h 87"/>
                <a:gd name="T4" fmla="*/ 226 w 322"/>
                <a:gd name="T5" fmla="*/ 7 h 87"/>
                <a:gd name="T6" fmla="*/ 322 w 322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2" h="87">
                  <a:moveTo>
                    <a:pt x="0" y="87"/>
                  </a:moveTo>
                  <a:cubicBezTo>
                    <a:pt x="17" y="78"/>
                    <a:pt x="65" y="45"/>
                    <a:pt x="103" y="32"/>
                  </a:cubicBezTo>
                  <a:cubicBezTo>
                    <a:pt x="141" y="19"/>
                    <a:pt x="190" y="12"/>
                    <a:pt x="226" y="7"/>
                  </a:cubicBezTo>
                  <a:cubicBezTo>
                    <a:pt x="262" y="2"/>
                    <a:pt x="302" y="2"/>
                    <a:pt x="322" y="0"/>
                  </a:cubicBezTo>
                </a:path>
              </a:pathLst>
            </a:cu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50208" name="Line 40"/>
            <p:cNvSpPr>
              <a:spLocks noChangeShapeType="1"/>
            </p:cNvSpPr>
            <p:nvPr/>
          </p:nvSpPr>
          <p:spPr bwMode="auto">
            <a:xfrm flipV="1">
              <a:off x="1381" y="3072"/>
              <a:ext cx="624" cy="3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43433" name="Text Box 41"/>
          <p:cNvSpPr txBox="1">
            <a:spLocks noChangeArrowheads="1"/>
          </p:cNvSpPr>
          <p:nvPr/>
        </p:nvSpPr>
        <p:spPr bwMode="auto">
          <a:xfrm>
            <a:off x="2397125" y="4535488"/>
            <a:ext cx="1146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-2 V</a:t>
            </a:r>
          </a:p>
        </p:txBody>
      </p:sp>
      <p:grpSp>
        <p:nvGrpSpPr>
          <p:cNvPr id="443439" name="Group 47"/>
          <p:cNvGrpSpPr>
            <a:grpSpLocks/>
          </p:cNvGrpSpPr>
          <p:nvPr/>
        </p:nvGrpSpPr>
        <p:grpSpPr bwMode="auto">
          <a:xfrm>
            <a:off x="1258888" y="5178425"/>
            <a:ext cx="1905000" cy="287338"/>
            <a:chOff x="793" y="3262"/>
            <a:chExt cx="1200" cy="181"/>
          </a:xfrm>
        </p:grpSpPr>
        <p:sp>
          <p:nvSpPr>
            <p:cNvPr id="50203" name="Freeform 42"/>
            <p:cNvSpPr>
              <a:spLocks/>
            </p:cNvSpPr>
            <p:nvPr/>
          </p:nvSpPr>
          <p:spPr bwMode="auto">
            <a:xfrm>
              <a:off x="793" y="3322"/>
              <a:ext cx="153" cy="121"/>
            </a:xfrm>
            <a:custGeom>
              <a:avLst/>
              <a:gdLst>
                <a:gd name="T0" fmla="*/ 0 w 153"/>
                <a:gd name="T1" fmla="*/ 121 h 121"/>
                <a:gd name="T2" fmla="*/ 153 w 153"/>
                <a:gd name="T3" fmla="*/ 0 h 1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121">
                  <a:moveTo>
                    <a:pt x="0" y="121"/>
                  </a:moveTo>
                  <a:lnTo>
                    <a:pt x="153" y="0"/>
                  </a:lnTo>
                </a:path>
              </a:pathLst>
            </a:custGeom>
            <a:noFill/>
            <a:ln w="38100">
              <a:solidFill>
                <a:srgbClr val="99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204" name="Freeform 43"/>
            <p:cNvSpPr>
              <a:spLocks/>
            </p:cNvSpPr>
            <p:nvPr/>
          </p:nvSpPr>
          <p:spPr bwMode="auto">
            <a:xfrm>
              <a:off x="943" y="3262"/>
              <a:ext cx="360" cy="62"/>
            </a:xfrm>
            <a:custGeom>
              <a:avLst/>
              <a:gdLst>
                <a:gd name="T0" fmla="*/ 0 w 360"/>
                <a:gd name="T1" fmla="*/ 62 h 62"/>
                <a:gd name="T2" fmla="*/ 113 w 360"/>
                <a:gd name="T3" fmla="*/ 12 h 62"/>
                <a:gd name="T4" fmla="*/ 257 w 360"/>
                <a:gd name="T5" fmla="*/ 2 h 62"/>
                <a:gd name="T6" fmla="*/ 360 w 360"/>
                <a:gd name="T7" fmla="*/ 2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0" h="62">
                  <a:moveTo>
                    <a:pt x="0" y="62"/>
                  </a:moveTo>
                  <a:cubicBezTo>
                    <a:pt x="19" y="54"/>
                    <a:pt x="70" y="22"/>
                    <a:pt x="113" y="12"/>
                  </a:cubicBezTo>
                  <a:cubicBezTo>
                    <a:pt x="156" y="2"/>
                    <a:pt x="216" y="4"/>
                    <a:pt x="257" y="2"/>
                  </a:cubicBezTo>
                  <a:cubicBezTo>
                    <a:pt x="298" y="0"/>
                    <a:pt x="339" y="2"/>
                    <a:pt x="360" y="2"/>
                  </a:cubicBezTo>
                </a:path>
              </a:pathLst>
            </a:custGeom>
            <a:noFill/>
            <a:ln w="38100" cap="flat" cmpd="sng">
              <a:solidFill>
                <a:srgbClr val="99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  <p:sp>
          <p:nvSpPr>
            <p:cNvPr id="50205" name="Line 44"/>
            <p:cNvSpPr>
              <a:spLocks noChangeShapeType="1"/>
            </p:cNvSpPr>
            <p:nvPr/>
          </p:nvSpPr>
          <p:spPr bwMode="auto">
            <a:xfrm>
              <a:off x="1302" y="3264"/>
              <a:ext cx="691" cy="5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  <p:sp>
        <p:nvSpPr>
          <p:cNvPr id="443437" name="Text Box 45"/>
          <p:cNvSpPr txBox="1">
            <a:spLocks noChangeArrowheads="1"/>
          </p:cNvSpPr>
          <p:nvPr/>
        </p:nvSpPr>
        <p:spPr bwMode="auto">
          <a:xfrm>
            <a:off x="2397125" y="4864100"/>
            <a:ext cx="1146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fr-FR" altLang="fr-FR" sz="1600"/>
              <a:t>Vgs = -4 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4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4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4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4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4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4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4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4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406" grpId="0"/>
      <p:bldP spid="443424" grpId="0"/>
      <p:bldP spid="443425" grpId="0"/>
      <p:bldP spid="443433" grpId="0"/>
      <p:bldP spid="443437" grpId="0"/>
    </p:bldLst>
  </p:timing>
</p:sld>
</file>

<file path=ppt/theme/theme1.xml><?xml version="1.0" encoding="utf-8"?>
<a:theme xmlns:a="http://schemas.openxmlformats.org/drawingml/2006/main" name="Blocnote">
  <a:themeElements>
    <a:clrScheme name="Blocnote 1">
      <a:dk1>
        <a:srgbClr val="402000"/>
      </a:dk1>
      <a:lt1>
        <a:srgbClr val="FBFAE2"/>
      </a:lt1>
      <a:dk2>
        <a:srgbClr val="996633"/>
      </a:dk2>
      <a:lt2>
        <a:srgbClr val="A08366"/>
      </a:lt2>
      <a:accent1>
        <a:srgbClr val="CE9964"/>
      </a:accent1>
      <a:accent2>
        <a:srgbClr val="CD3333"/>
      </a:accent2>
      <a:accent3>
        <a:srgbClr val="FDFCEE"/>
      </a:accent3>
      <a:accent4>
        <a:srgbClr val="351A00"/>
      </a:accent4>
      <a:accent5>
        <a:srgbClr val="E3CAB8"/>
      </a:accent5>
      <a:accent6>
        <a:srgbClr val="BA2D2D"/>
      </a:accent6>
      <a:hlink>
        <a:srgbClr val="9A7F32"/>
      </a:hlink>
      <a:folHlink>
        <a:srgbClr val="ECA07A"/>
      </a:folHlink>
    </a:clrScheme>
    <a:fontScheme name="Blocno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dist="107763" dir="2700000" algn="ctr" rotWithShape="0">
                  <a:srgbClr val="000000">
                    <a:alpha val="50000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Blocnote 1">
        <a:dk1>
          <a:srgbClr val="402000"/>
        </a:dk1>
        <a:lt1>
          <a:srgbClr val="FBFAE2"/>
        </a:lt1>
        <a:dk2>
          <a:srgbClr val="996633"/>
        </a:dk2>
        <a:lt2>
          <a:srgbClr val="A08366"/>
        </a:lt2>
        <a:accent1>
          <a:srgbClr val="CE9964"/>
        </a:accent1>
        <a:accent2>
          <a:srgbClr val="CD3333"/>
        </a:accent2>
        <a:accent3>
          <a:srgbClr val="FDFCEE"/>
        </a:accent3>
        <a:accent4>
          <a:srgbClr val="351A00"/>
        </a:accent4>
        <a:accent5>
          <a:srgbClr val="E3CAB8"/>
        </a:accent5>
        <a:accent6>
          <a:srgbClr val="BA2D2D"/>
        </a:accent6>
        <a:hlink>
          <a:srgbClr val="9A7F32"/>
        </a:hlink>
        <a:folHlink>
          <a:srgbClr val="ECA0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ocnote 2">
        <a:dk1>
          <a:srgbClr val="402000"/>
        </a:dk1>
        <a:lt1>
          <a:srgbClr val="FFFFFF"/>
        </a:lt1>
        <a:dk2>
          <a:srgbClr val="996633"/>
        </a:dk2>
        <a:lt2>
          <a:srgbClr val="A08366"/>
        </a:lt2>
        <a:accent1>
          <a:srgbClr val="CE9964"/>
        </a:accent1>
        <a:accent2>
          <a:srgbClr val="CD3333"/>
        </a:accent2>
        <a:accent3>
          <a:srgbClr val="FFFFFF"/>
        </a:accent3>
        <a:accent4>
          <a:srgbClr val="351A00"/>
        </a:accent4>
        <a:accent5>
          <a:srgbClr val="E3CAB8"/>
        </a:accent5>
        <a:accent6>
          <a:srgbClr val="BA2D2D"/>
        </a:accent6>
        <a:hlink>
          <a:srgbClr val="9A7F32"/>
        </a:hlink>
        <a:folHlink>
          <a:srgbClr val="ECA0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ocno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ocnote 4">
        <a:dk1>
          <a:srgbClr val="1C1C1C"/>
        </a:dk1>
        <a:lt1>
          <a:srgbClr val="FFFFFF"/>
        </a:lt1>
        <a:dk2>
          <a:srgbClr val="000066"/>
        </a:dk2>
        <a:lt2>
          <a:srgbClr val="666699"/>
        </a:lt2>
        <a:accent1>
          <a:srgbClr val="FF5050"/>
        </a:accent1>
        <a:accent2>
          <a:srgbClr val="009999"/>
        </a:accent2>
        <a:accent3>
          <a:srgbClr val="FFFFFF"/>
        </a:accent3>
        <a:accent4>
          <a:srgbClr val="161616"/>
        </a:accent4>
        <a:accent5>
          <a:srgbClr val="FFB3B3"/>
        </a:accent5>
        <a:accent6>
          <a:srgbClr val="008A8A"/>
        </a:accent6>
        <a:hlink>
          <a:srgbClr val="3366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Office\Modèles\Modèles de présentation\BLOCNOTE.POT</Template>
  <TotalTime>13124</TotalTime>
  <Words>2054</Words>
  <Application>Microsoft Office PowerPoint</Application>
  <PresentationFormat>Affichage à l'écran (4:3)</PresentationFormat>
  <Paragraphs>774</Paragraphs>
  <Slides>47</Slides>
  <Notes>11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49" baseType="lpstr">
      <vt:lpstr>Blocnote</vt:lpstr>
      <vt:lpstr>Equation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Technologie des composants électroniques</dc:title>
  <dc:creator>-</dc:creator>
  <cp:lastModifiedBy>dell</cp:lastModifiedBy>
  <cp:revision>152</cp:revision>
  <dcterms:created xsi:type="dcterms:W3CDTF">1999-11-24T02:36:57Z</dcterms:created>
  <dcterms:modified xsi:type="dcterms:W3CDTF">2020-06-29T14:26:47Z</dcterms:modified>
</cp:coreProperties>
</file>